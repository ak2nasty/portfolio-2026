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 id="2147483764" r:id="rId5"/>
  </p:sldMasterIdLst>
  <p:notesMasterIdLst>
    <p:notesMasterId r:id="rId35"/>
  </p:notesMasterIdLst>
  <p:sldIdLst>
    <p:sldId id="5681" r:id="rId6"/>
    <p:sldId id="3283" r:id="rId7"/>
    <p:sldId id="3267" r:id="rId8"/>
    <p:sldId id="5853" r:id="rId9"/>
    <p:sldId id="5835" r:id="rId10"/>
    <p:sldId id="5831" r:id="rId11"/>
    <p:sldId id="5836" r:id="rId12"/>
    <p:sldId id="5829" r:id="rId13"/>
    <p:sldId id="5837" r:id="rId14"/>
    <p:sldId id="5840" r:id="rId15"/>
    <p:sldId id="5839" r:id="rId16"/>
    <p:sldId id="5841" r:id="rId17"/>
    <p:sldId id="5842" r:id="rId18"/>
    <p:sldId id="5843" r:id="rId19"/>
    <p:sldId id="5844" r:id="rId20"/>
    <p:sldId id="5845" r:id="rId21"/>
    <p:sldId id="5846" r:id="rId22"/>
    <p:sldId id="5834" r:id="rId23"/>
    <p:sldId id="5847" r:id="rId24"/>
    <p:sldId id="5848" r:id="rId25"/>
    <p:sldId id="5849" r:id="rId26"/>
    <p:sldId id="5850" r:id="rId27"/>
    <p:sldId id="5851" r:id="rId28"/>
    <p:sldId id="5852" r:id="rId29"/>
    <p:sldId id="5858" r:id="rId30"/>
    <p:sldId id="5854" r:id="rId31"/>
    <p:sldId id="5855" r:id="rId32"/>
    <p:sldId id="5856" r:id="rId33"/>
    <p:sldId id="585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A7AE0B-98DE-5EF8-C02D-6B2881C167CA}" name="Michael Rutkowski" initials="MR" userId="S::mrutkowski@desire2learn.com::44efd6eb-fe92-4b95-8fe0-8e546457db6c" providerId="AD"/>
  <p188:author id="{C4FD153C-B3F9-C3B5-FAD1-72A9AE378EDC}" name="Adam Burrell" initials="AB" userId="S::aburrell@desire2learn.com::ae9b8fd4-0639-494a-b864-7b589607341c" providerId="AD"/>
  <p188:author id="{3503CB8A-8D4C-9919-5010-67C38E0E5A0D}" name="Mirissa Kampf" initials="MK" userId="S::mkampf@desire2learn.com::20c8c4aa-a70c-44b4-a61e-14daac680b10" providerId="AD"/>
  <p188:author id="{66C66498-7160-F639-AD86-20250F161E3C}" name="Puneet Arora" initials="PA" userId="S::parora@desire2learn.com::6854c6ee-15b3-45f4-a67b-da32fcf1a42f" providerId="AD"/>
  <p188:author id="{491C9CB2-0271-C71F-4F96-CD5BDFF1EA7A}" name="Mudit Garg" initials="MG" userId="S::mgarg@desire2learn.com::566ba9b0-346f-4dba-8f59-49888976439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eremy Auger" initials="JA" lastIdx="6" clrIdx="0">
    <p:extLst>
      <p:ext uri="{19B8F6BF-5375-455C-9EA6-DF929625EA0E}">
        <p15:presenceInfo xmlns:p15="http://schemas.microsoft.com/office/powerpoint/2012/main" userId="S::jauger@desire2learn.com::af7ac2c0-e8ec-4969-97da-0bb6867a83d6" providerId="AD"/>
      </p:ext>
    </p:extLst>
  </p:cmAuthor>
  <p:cmAuthor id="2" name="Emilee Irwin" initials="EI" lastIdx="1" clrIdx="1">
    <p:extLst>
      <p:ext uri="{19B8F6BF-5375-455C-9EA6-DF929625EA0E}">
        <p15:presenceInfo xmlns:p15="http://schemas.microsoft.com/office/powerpoint/2012/main" userId="S::eirwin@desire2learn.com::2256ad3c-6381-471a-8a1c-67b30704058c" providerId="AD"/>
      </p:ext>
    </p:extLst>
  </p:cmAuthor>
  <p:cmAuthor id="3" name="Mandy Lam" initials="ML" lastIdx="1" clrIdx="2">
    <p:extLst>
      <p:ext uri="{19B8F6BF-5375-455C-9EA6-DF929625EA0E}">
        <p15:presenceInfo xmlns:p15="http://schemas.microsoft.com/office/powerpoint/2012/main" userId="S::mlam@desire2learn.com::ebec17c4-e63d-4ed1-8855-aaf31ce3dd0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6F12C"/>
    <a:srgbClr val="3CC02E"/>
    <a:srgbClr val="5D209F"/>
    <a:srgbClr val="2B3057"/>
    <a:srgbClr val="FF00FF"/>
    <a:srgbClr val="1F1F1F"/>
    <a:srgbClr val="EB4E37"/>
    <a:srgbClr val="3577D3"/>
    <a:srgbClr val="E94A44"/>
    <a:srgbClr val="F4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4FCB44-B65B-444B-8B69-51048344110F}" v="8" dt="2023-10-31T17:47:00.7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12" autoAdjust="0"/>
    <p:restoredTop sz="80190" autoAdjust="0"/>
  </p:normalViewPr>
  <p:slideViewPr>
    <p:cSldViewPr snapToGrid="0">
      <p:cViewPr varScale="1">
        <p:scale>
          <a:sx n="100" d="100"/>
          <a:sy n="100" d="100"/>
        </p:scale>
        <p:origin x="144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43" Type="http://schemas.microsoft.com/office/2018/10/relationships/authors" Targe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th Dayan Suresh" userId="313039ad-c533-4e8f-9757-9fd20468290d" providerId="ADAL" clId="{0E4FCB44-B65B-444B-8B69-51048344110F}"/>
    <pc:docChg chg="custSel modSld">
      <pc:chgData name="Akshath Dayan Suresh" userId="313039ad-c533-4e8f-9757-9fd20468290d" providerId="ADAL" clId="{0E4FCB44-B65B-444B-8B69-51048344110F}" dt="2023-11-06T18:06:11.771" v="21" actId="1076"/>
      <pc:docMkLst>
        <pc:docMk/>
      </pc:docMkLst>
      <pc:sldChg chg="modSp mod">
        <pc:chgData name="Akshath Dayan Suresh" userId="313039ad-c533-4e8f-9757-9fd20468290d" providerId="ADAL" clId="{0E4FCB44-B65B-444B-8B69-51048344110F}" dt="2023-10-31T17:47:37.170" v="9" actId="1076"/>
        <pc:sldMkLst>
          <pc:docMk/>
          <pc:sldMk cId="3128153731" sldId="5846"/>
        </pc:sldMkLst>
        <pc:picChg chg="mod">
          <ac:chgData name="Akshath Dayan Suresh" userId="313039ad-c533-4e8f-9757-9fd20468290d" providerId="ADAL" clId="{0E4FCB44-B65B-444B-8B69-51048344110F}" dt="2023-10-31T17:47:37.170" v="9" actId="1076"/>
          <ac:picMkLst>
            <pc:docMk/>
            <pc:sldMk cId="3128153731" sldId="5846"/>
            <ac:picMk id="9" creationId="{3DCBAC6E-B86E-C032-9C58-2B490332070F}"/>
          </ac:picMkLst>
        </pc:picChg>
        <pc:picChg chg="mod">
          <ac:chgData name="Akshath Dayan Suresh" userId="313039ad-c533-4e8f-9757-9fd20468290d" providerId="ADAL" clId="{0E4FCB44-B65B-444B-8B69-51048344110F}" dt="2023-10-31T17:47:35.652" v="8" actId="1076"/>
          <ac:picMkLst>
            <pc:docMk/>
            <pc:sldMk cId="3128153731" sldId="5846"/>
            <ac:picMk id="11" creationId="{29782059-502E-BCD3-555A-14761FDE8AD2}"/>
          </ac:picMkLst>
        </pc:picChg>
      </pc:sldChg>
      <pc:sldChg chg="modSp">
        <pc:chgData name="Akshath Dayan Suresh" userId="313039ad-c533-4e8f-9757-9fd20468290d" providerId="ADAL" clId="{0E4FCB44-B65B-444B-8B69-51048344110F}" dt="2023-10-31T17:47:00.746" v="7" actId="1076"/>
        <pc:sldMkLst>
          <pc:docMk/>
          <pc:sldMk cId="221761588" sldId="5848"/>
        </pc:sldMkLst>
        <pc:picChg chg="mod">
          <ac:chgData name="Akshath Dayan Suresh" userId="313039ad-c533-4e8f-9757-9fd20468290d" providerId="ADAL" clId="{0E4FCB44-B65B-444B-8B69-51048344110F}" dt="2023-10-31T17:46:59.379" v="6" actId="1076"/>
          <ac:picMkLst>
            <pc:docMk/>
            <pc:sldMk cId="221761588" sldId="5848"/>
            <ac:picMk id="1028" creationId="{A03B8B9D-47BC-A0D5-0A6E-23E50E51DBE6}"/>
          </ac:picMkLst>
        </pc:picChg>
        <pc:picChg chg="mod">
          <ac:chgData name="Akshath Dayan Suresh" userId="313039ad-c533-4e8f-9757-9fd20468290d" providerId="ADAL" clId="{0E4FCB44-B65B-444B-8B69-51048344110F}" dt="2023-10-31T17:47:00.746" v="7" actId="1076"/>
          <ac:picMkLst>
            <pc:docMk/>
            <pc:sldMk cId="221761588" sldId="5848"/>
            <ac:picMk id="1030" creationId="{7992AD5B-3A0A-E7C6-4FA9-6E8E4523AF1E}"/>
          </ac:picMkLst>
        </pc:picChg>
      </pc:sldChg>
      <pc:sldChg chg="modSp mod">
        <pc:chgData name="Akshath Dayan Suresh" userId="313039ad-c533-4e8f-9757-9fd20468290d" providerId="ADAL" clId="{0E4FCB44-B65B-444B-8B69-51048344110F}" dt="2023-11-06T18:06:11.771" v="21" actId="1076"/>
        <pc:sldMkLst>
          <pc:docMk/>
          <pc:sldMk cId="3482958121" sldId="5851"/>
        </pc:sldMkLst>
        <pc:picChg chg="mod">
          <ac:chgData name="Akshath Dayan Suresh" userId="313039ad-c533-4e8f-9757-9fd20468290d" providerId="ADAL" clId="{0E4FCB44-B65B-444B-8B69-51048344110F}" dt="2023-11-06T18:06:11.771" v="21" actId="1076"/>
          <ac:picMkLst>
            <pc:docMk/>
            <pc:sldMk cId="3482958121" sldId="5851"/>
            <ac:picMk id="4" creationId="{228F7C0D-491F-B81B-AD1D-64EE69000A7D}"/>
          </ac:picMkLst>
        </pc:picChg>
      </pc:sldChg>
      <pc:sldChg chg="delSp modSp mod delAnim">
        <pc:chgData name="Akshath Dayan Suresh" userId="313039ad-c533-4e8f-9757-9fd20468290d" providerId="ADAL" clId="{0E4FCB44-B65B-444B-8B69-51048344110F}" dt="2023-10-31T17:49:27.652" v="20" actId="478"/>
        <pc:sldMkLst>
          <pc:docMk/>
          <pc:sldMk cId="3728538015" sldId="5852"/>
        </pc:sldMkLst>
        <pc:spChg chg="mod">
          <ac:chgData name="Akshath Dayan Suresh" userId="313039ad-c533-4e8f-9757-9fd20468290d" providerId="ADAL" clId="{0E4FCB44-B65B-444B-8B69-51048344110F}" dt="2023-10-31T17:49:24.648" v="19" actId="1037"/>
          <ac:spMkLst>
            <pc:docMk/>
            <pc:sldMk cId="3728538015" sldId="5852"/>
            <ac:spMk id="3131" creationId="{A0F699D7-A68E-C212-9C19-ADD11E679750}"/>
          </ac:spMkLst>
        </pc:spChg>
        <pc:spChg chg="del">
          <ac:chgData name="Akshath Dayan Suresh" userId="313039ad-c533-4e8f-9757-9fd20468290d" providerId="ADAL" clId="{0E4FCB44-B65B-444B-8B69-51048344110F}" dt="2023-10-31T17:49:27.652" v="20" actId="478"/>
          <ac:spMkLst>
            <pc:docMk/>
            <pc:sldMk cId="3728538015" sldId="5852"/>
            <ac:spMk id="3134" creationId="{84FC28D0-5C5B-DE55-A51E-C03067A775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636C13-A2C2-544B-8410-D89D3C2E1C9D}" type="datetimeFigureOut">
              <a:rPr lang="en-US" smtClean="0"/>
              <a:t>11/6/2023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4164EF-C536-3145-A5E8-B44217DCCF34}" type="slidenum">
              <a:rPr lang="en-US" smtClean="0"/>
              <a:t>‹#›</a:t>
            </a:fld>
            <a:endParaRPr lang="en-US" dirty="0"/>
          </a:p>
        </p:txBody>
      </p:sp>
    </p:spTree>
    <p:extLst>
      <p:ext uri="{BB962C8B-B14F-4D97-AF65-F5344CB8AC3E}">
        <p14:creationId xmlns:p14="http://schemas.microsoft.com/office/powerpoint/2010/main" val="2154607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3A1E1B2-9C38-694C-8492-A6E943773C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7375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CA" sz="1300" dirty="0">
              <a:solidFill>
                <a:schemeClr val="bg1"/>
              </a:solidFill>
              <a:cs typeface="Times New Roman"/>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3512A12-5F80-4094-9674-E96368B0DCA9}"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6578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4164EF-C536-3145-A5E8-B44217DCCF3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562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4164EF-C536-3145-A5E8-B44217DCCF3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8575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out of New York City</a:t>
            </a:r>
          </a:p>
          <a:p>
            <a:endParaRPr lang="en-US" dirty="0"/>
          </a:p>
          <a:p>
            <a:r>
              <a:rPr lang="en-US" dirty="0"/>
              <a:t>First Company I spoke to and introduced to Alyssa</a:t>
            </a:r>
          </a:p>
          <a:p>
            <a:endParaRPr lang="en-US" dirty="0"/>
          </a:p>
          <a:p>
            <a:r>
              <a:rPr lang="en-US" dirty="0"/>
              <a:t>Swag Bulk Ordering : Ability to order swag in bulk as they have multiple vendor sourcing</a:t>
            </a:r>
          </a:p>
          <a:p>
            <a:endParaRPr lang="en-US" dirty="0"/>
          </a:p>
          <a:p>
            <a:r>
              <a:rPr lang="en-US" dirty="0"/>
              <a:t>Swag Distribution : Send swag to one or multiple locations at once – 3 Warehouses, 2 in Pennsylvania and 1 in Ohio</a:t>
            </a:r>
          </a:p>
          <a:p>
            <a:endParaRPr lang="en-US" dirty="0"/>
          </a:p>
          <a:p>
            <a:r>
              <a:rPr lang="en-CA" dirty="0"/>
              <a:t>Swag in a Box : Send people swag items in a box i.e. gifting</a:t>
            </a:r>
          </a:p>
          <a:p>
            <a:endParaRPr lang="en-CA" dirty="0"/>
          </a:p>
          <a:p>
            <a:r>
              <a:rPr lang="en-CA" dirty="0"/>
              <a:t>Corporate gifting: Ability to capture and follow up with potential leads to more secure pipeline and enhance engagement.</a:t>
            </a:r>
            <a:endParaRPr lang="en-US" dirty="0"/>
          </a:p>
          <a:p>
            <a:endParaRPr lang="en-US" dirty="0"/>
          </a:p>
          <a:p>
            <a:r>
              <a:rPr lang="en-US" dirty="0"/>
              <a:t>Custom Landing page creation post lead collection via email</a:t>
            </a:r>
            <a:endParaRPr lang="en-CA" dirty="0"/>
          </a:p>
          <a:p>
            <a:endParaRPr lang="en-CA" dirty="0"/>
          </a:p>
          <a:p>
            <a:r>
              <a:rPr lang="en-CA" dirty="0"/>
              <a:t>Company Stores:  </a:t>
            </a:r>
            <a:r>
              <a:rPr lang="en-US" dirty="0"/>
              <a:t>Create a fully custom digital storefront to sell our branded goods using the Swag.com Shopify integration. </a:t>
            </a:r>
          </a:p>
          <a:p>
            <a:endParaRPr lang="en-US" dirty="0"/>
          </a:p>
          <a:p>
            <a:r>
              <a:rPr lang="en-US" dirty="0"/>
              <a:t>Swag Automation: </a:t>
            </a:r>
            <a:r>
              <a:rPr lang="en-US" b="0" i="0" dirty="0">
                <a:solidFill>
                  <a:srgbClr val="FFFFFF"/>
                </a:solidFill>
                <a:effectLst/>
                <a:latin typeface="avertaregular"/>
              </a:rPr>
              <a:t>Custom API that automates swag distribution - Never miss another birthday, lead follow-up or thank you gift again.</a:t>
            </a:r>
            <a:endParaRPr lang="en-US" dirty="0"/>
          </a:p>
          <a:p>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5</a:t>
            </a:fld>
            <a:endParaRPr lang="en-US" dirty="0"/>
          </a:p>
        </p:txBody>
      </p:sp>
    </p:spTree>
    <p:extLst>
      <p:ext uri="{BB962C8B-B14F-4D97-AF65-F5344CB8AC3E}">
        <p14:creationId xmlns:p14="http://schemas.microsoft.com/office/powerpoint/2010/main" val="332428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Swag creation/ sourcing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Swag distribution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Gift giveaway landing page creation is possible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They have a "my inventory swag closet" to sort items, give priority, check stock, and people access management - can distribute to one/ multiple addresses. </a:t>
            </a:r>
          </a:p>
          <a:p>
            <a:endParaRPr lang="en-US" dirty="0"/>
          </a:p>
          <a:p>
            <a:r>
              <a:rPr lang="en-US" dirty="0"/>
              <a:t>Platform used – Zapier – Salesforce integration possible (order trigger only) </a:t>
            </a:r>
          </a:p>
          <a:p>
            <a:endParaRPr lang="en-US" dirty="0"/>
          </a:p>
          <a:p>
            <a:r>
              <a:rPr lang="en-US" dirty="0"/>
              <a:t>Domestic and International Shipping available – USPS, UPS, Fed-x, DHL </a:t>
            </a:r>
          </a:p>
          <a:p>
            <a:endParaRPr lang="en-US" dirty="0"/>
          </a:p>
          <a:p>
            <a:r>
              <a:rPr lang="en-US" dirty="0"/>
              <a:t>POC: CS Rep and Account Manager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Unfortunately, they do not do returns i.e., send backs to warehouse, return labels and hold D2L inventory – banners, tablecloths, supplies, etc.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Eco-friendly products</a:t>
            </a:r>
          </a:p>
          <a:p>
            <a:endParaRPr lang="en-US" dirty="0"/>
          </a:p>
        </p:txBody>
      </p:sp>
      <p:sp>
        <p:nvSpPr>
          <p:cNvPr id="4" name="Slide Number Placeholder 3"/>
          <p:cNvSpPr>
            <a:spLocks noGrp="1"/>
          </p:cNvSpPr>
          <p:nvPr>
            <p:ph type="sldNum" sz="quarter" idx="5"/>
          </p:nvPr>
        </p:nvSpPr>
        <p:spPr/>
        <p:txBody>
          <a:bodyPr/>
          <a:lstStyle/>
          <a:p>
            <a:fld id="{2B4164EF-C536-3145-A5E8-B44217DCCF34}" type="slidenum">
              <a:rPr lang="en-US" smtClean="0"/>
              <a:t>6</a:t>
            </a:fld>
            <a:endParaRPr lang="en-US" dirty="0"/>
          </a:p>
        </p:txBody>
      </p:sp>
    </p:spTree>
    <p:extLst>
      <p:ext uri="{BB962C8B-B14F-4D97-AF65-F5344CB8AC3E}">
        <p14:creationId xmlns:p14="http://schemas.microsoft.com/office/powerpoint/2010/main" val="1741164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in California</a:t>
            </a:r>
          </a:p>
          <a:p>
            <a:endParaRPr lang="en-US" dirty="0"/>
          </a:p>
          <a:p>
            <a:r>
              <a:rPr lang="en-US" dirty="0"/>
              <a:t>Postal engage: Ability to </a:t>
            </a:r>
            <a:r>
              <a:rPr lang="en-US" b="0" i="0" dirty="0">
                <a:solidFill>
                  <a:srgbClr val="222222"/>
                </a:solidFill>
                <a:effectLst/>
                <a:latin typeface="Lexend"/>
              </a:rPr>
              <a:t>scale, execute, and track offline campaigns to grow our business. With Postal’s global online gifting platform, we can start sending the perfect item faster and easier.  </a:t>
            </a:r>
          </a:p>
          <a:p>
            <a:endParaRPr lang="en-US" b="0" i="0" dirty="0">
              <a:solidFill>
                <a:srgbClr val="222222"/>
              </a:solidFill>
              <a:effectLst/>
              <a:latin typeface="Lexend"/>
            </a:endParaRPr>
          </a:p>
          <a:p>
            <a:r>
              <a:rPr lang="en-US" b="0" i="0" dirty="0">
                <a:solidFill>
                  <a:srgbClr val="222222"/>
                </a:solidFill>
                <a:effectLst/>
                <a:latin typeface="Lexend"/>
              </a:rPr>
              <a:t>Postal Brand:  Swag storefront with our swag items to be purchased by customers/ people within org – ecommerce store - custom employee purchases – Giftcards </a:t>
            </a:r>
          </a:p>
          <a:p>
            <a:endParaRPr lang="en-US" b="0" i="0" dirty="0">
              <a:solidFill>
                <a:srgbClr val="222222"/>
              </a:solidFill>
              <a:effectLst/>
              <a:latin typeface="Lexend"/>
            </a:endParaRPr>
          </a:p>
          <a:p>
            <a:r>
              <a:rPr lang="en-US" b="0" i="0" dirty="0">
                <a:solidFill>
                  <a:srgbClr val="222222"/>
                </a:solidFill>
                <a:effectLst/>
                <a:latin typeface="Lexend"/>
              </a:rPr>
              <a:t>Postal ABM: Account Based Marketing - Build, execute, and manage targeted, data-driven campaigns – essentially tracking the lead’s journey and sending them down the funnel – Reporting &amp; ROI</a:t>
            </a:r>
          </a:p>
          <a:p>
            <a:endParaRPr lang="en-US" b="0" i="0" dirty="0">
              <a:solidFill>
                <a:srgbClr val="222222"/>
              </a:solidFill>
              <a:effectLst/>
              <a:latin typeface="Lexend"/>
            </a:endParaRPr>
          </a:p>
          <a:p>
            <a:r>
              <a:rPr lang="en-US" b="0" i="0" dirty="0">
                <a:solidFill>
                  <a:srgbClr val="222222"/>
                </a:solidFill>
                <a:effectLst/>
                <a:latin typeface="Lexend"/>
              </a:rPr>
              <a:t>Paper plane: is a creative services agency focused on offline marketing design including direct mail, promotional materials, branded swag, and custom kits. – network of distributors, mock-ups, quick items, samples, drop shipping, warehousing. NO MARKUPS</a:t>
            </a:r>
          </a:p>
          <a:p>
            <a:r>
              <a:rPr lang="en-US" b="0" i="0" dirty="0">
                <a:solidFill>
                  <a:srgbClr val="222222"/>
                </a:solidFill>
                <a:effectLst/>
                <a:latin typeface="Lexend"/>
              </a:rPr>
              <a:t> </a:t>
            </a:r>
          </a:p>
          <a:p>
            <a:endParaRPr lang="en-US" b="0" i="0" dirty="0">
              <a:solidFill>
                <a:srgbClr val="222222"/>
              </a:solidFill>
              <a:effectLst/>
              <a:latin typeface="Lexend"/>
            </a:endParaRPr>
          </a:p>
          <a:p>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8</a:t>
            </a:fld>
            <a:endParaRPr lang="en-US" dirty="0"/>
          </a:p>
        </p:txBody>
      </p:sp>
    </p:spTree>
    <p:extLst>
      <p:ext uri="{BB962C8B-B14F-4D97-AF65-F5344CB8AC3E}">
        <p14:creationId xmlns:p14="http://schemas.microsoft.com/office/powerpoint/2010/main" val="3740151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Had about 3-4 calls with them -  very responsive and engaging</a:t>
            </a:r>
          </a:p>
          <a:p>
            <a:endParaRPr lang="en-US" dirty="0"/>
          </a:p>
          <a:p>
            <a:r>
              <a:rPr lang="en-US" dirty="0"/>
              <a:t>More focus on gifting</a:t>
            </a:r>
          </a:p>
          <a:p>
            <a:endParaRPr lang="en-US" dirty="0"/>
          </a:p>
          <a:p>
            <a:r>
              <a:rPr lang="en-US" dirty="0"/>
              <a:t>Different sending options – Send one or multiple items directly, Email giftings to capture leads, magiclink (on-site QR code gifting, lead gathering, able to book meeting – book meetings, bulk send for events, returns and warehousing – international shipping - </a:t>
            </a:r>
            <a:r>
              <a:rPr lang="en-CA" sz="1800" b="0" i="0" dirty="0">
                <a:solidFill>
                  <a:srgbClr val="000000"/>
                </a:solidFill>
                <a:effectLst/>
                <a:latin typeface="Calibri" panose="020F0502020204030204" pitchFamily="34" charset="0"/>
              </a:rPr>
              <a:t>UPS, USPS </a:t>
            </a:r>
          </a:p>
          <a:p>
            <a:endParaRPr lang="en-CA" sz="1800" b="0" i="0" dirty="0">
              <a:solidFill>
                <a:srgbClr val="000000"/>
              </a:solidFill>
              <a:effectLst/>
              <a:latin typeface="Calibri" panose="020F0502020204030204" pitchFamily="34" charset="0"/>
            </a:endParaRPr>
          </a:p>
          <a:p>
            <a:r>
              <a:rPr lang="en-US" sz="1800" b="0" i="0" dirty="0">
                <a:solidFill>
                  <a:srgbClr val="000000"/>
                </a:solidFill>
                <a:effectLst/>
                <a:latin typeface="Calibri" panose="020F0502020204030204" pitchFamily="34" charset="0"/>
              </a:rPr>
              <a:t>Warehousing available in US, Canada, Europe, Australia, and UK, </a:t>
            </a:r>
            <a:r>
              <a:rPr lang="en-CA" b="0" i="0" dirty="0">
                <a:solidFill>
                  <a:srgbClr val="222222"/>
                </a:solidFill>
                <a:effectLst/>
                <a:latin typeface="Lexend" pitchFamily="2" charset="0"/>
              </a:rPr>
              <a:t>Delivery duty paid – shipping times – 3-5 days domestic, 8-24 international</a:t>
            </a:r>
          </a:p>
          <a:p>
            <a:endParaRPr lang="en-US" dirty="0"/>
          </a:p>
          <a:p>
            <a:r>
              <a:rPr lang="en-US" dirty="0"/>
              <a:t>Buy Out Program if not happy with STAR service – will take effect immediately if pursued with no cost</a:t>
            </a:r>
          </a:p>
          <a:p>
            <a:endParaRPr lang="en-US" dirty="0"/>
          </a:p>
          <a:p>
            <a:r>
              <a:rPr lang="en-US" dirty="0"/>
              <a:t>Inventory management - Live inventory counts, monthly reports, access management, swag categorization - Inventory Segmentation – Team Access, Budget Allocation </a:t>
            </a:r>
          </a:p>
          <a:p>
            <a:r>
              <a:rPr lang="en-US" dirty="0"/>
              <a:t> </a:t>
            </a:r>
          </a:p>
          <a:p>
            <a:r>
              <a:rPr lang="en-US" dirty="0"/>
              <a:t>Integrations – Marketo, Salesforce, slack</a:t>
            </a:r>
          </a:p>
          <a:p>
            <a:endParaRPr lang="en-US" dirty="0"/>
          </a:p>
          <a:p>
            <a:r>
              <a:rPr lang="en-US" dirty="0"/>
              <a:t>Ability to host virtual events – landing page, registration and swag sends </a:t>
            </a:r>
          </a:p>
          <a:p>
            <a:endParaRPr lang="en-US" dirty="0"/>
          </a:p>
          <a:p>
            <a:r>
              <a:rPr lang="en-US" dirty="0"/>
              <a:t>POC – CSM, Project manager, warehouse associate </a:t>
            </a:r>
          </a:p>
          <a:p>
            <a:endParaRPr lang="en-US" u="sng" dirty="0"/>
          </a:p>
          <a:p>
            <a:r>
              <a:rPr lang="en-CA" sz="1800" b="0" i="0" dirty="0">
                <a:solidFill>
                  <a:srgbClr val="000000"/>
                </a:solidFill>
                <a:effectLst/>
                <a:latin typeface="Calibri" panose="020F0502020204030204" pitchFamily="34" charset="0"/>
              </a:rPr>
              <a:t>Low Inventory count alerts but </a:t>
            </a:r>
            <a:r>
              <a:rPr lang="en-US" sz="1800" b="0" i="0" dirty="0">
                <a:solidFill>
                  <a:srgbClr val="000000"/>
                </a:solidFill>
                <a:effectLst/>
                <a:latin typeface="Calibri" panose="020F0502020204030204" pitchFamily="34" charset="0"/>
              </a:rPr>
              <a:t>no notifications for damaged items/ replacements YET</a:t>
            </a:r>
          </a:p>
          <a:p>
            <a:endParaRPr lang="en-US" sz="1800" b="0" i="0" dirty="0">
              <a:solidFill>
                <a:srgbClr val="000000"/>
              </a:solidFill>
              <a:effectLst/>
              <a:latin typeface="Calibri" panose="020F0502020204030204" pitchFamily="34" charset="0"/>
            </a:endParaRPr>
          </a:p>
          <a:p>
            <a:r>
              <a:rPr lang="en-US" dirty="0"/>
              <a:t>No Budget code payment method, balance based</a:t>
            </a:r>
          </a:p>
          <a:p>
            <a:endParaRPr lang="en-US" dirty="0"/>
          </a:p>
          <a:p>
            <a:r>
              <a:rPr lang="en-US" dirty="0"/>
              <a:t>Complex pricing structure – Platform fee + Warehousing (Skus etc)</a:t>
            </a:r>
          </a:p>
          <a:p>
            <a:endParaRPr lang="en-US" dirty="0"/>
          </a:p>
          <a:p>
            <a:r>
              <a:rPr lang="en-US" dirty="0"/>
              <a:t>1% Pledge equity, product, time, profit</a:t>
            </a:r>
          </a:p>
          <a:p>
            <a:endParaRPr lang="en-US" dirty="0"/>
          </a:p>
          <a:p>
            <a:r>
              <a:rPr lang="en-US" dirty="0"/>
              <a:t>, CA Certified green, </a:t>
            </a:r>
          </a:p>
        </p:txBody>
      </p:sp>
      <p:sp>
        <p:nvSpPr>
          <p:cNvPr id="4" name="Slide Number Placeholder 3"/>
          <p:cNvSpPr>
            <a:spLocks noGrp="1"/>
          </p:cNvSpPr>
          <p:nvPr>
            <p:ph type="sldNum" sz="quarter" idx="5"/>
          </p:nvPr>
        </p:nvSpPr>
        <p:spPr/>
        <p:txBody>
          <a:bodyPr/>
          <a:lstStyle/>
          <a:p>
            <a:fld id="{2B4164EF-C536-3145-A5E8-B44217DCCF34}" type="slidenum">
              <a:rPr lang="en-US" smtClean="0"/>
              <a:t>9</a:t>
            </a:fld>
            <a:endParaRPr lang="en-US" dirty="0"/>
          </a:p>
        </p:txBody>
      </p:sp>
    </p:spTree>
    <p:extLst>
      <p:ext uri="{BB962C8B-B14F-4D97-AF65-F5344CB8AC3E}">
        <p14:creationId xmlns:p14="http://schemas.microsoft.com/office/powerpoint/2010/main" val="1189753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platform is free – charge on subscription basis if you want access to more within the platform</a:t>
            </a:r>
          </a:p>
          <a:p>
            <a:endParaRPr lang="en-US" dirty="0"/>
          </a:p>
          <a:p>
            <a:r>
              <a:rPr lang="en-US" dirty="0"/>
              <a:t>Design: helps design the swag for or can collaborate. Just send them brand guide and logos and they take care of the rest</a:t>
            </a:r>
          </a:p>
          <a:p>
            <a:endParaRPr lang="en-CA" dirty="0"/>
          </a:p>
          <a:p>
            <a:r>
              <a:rPr lang="en-US" dirty="0"/>
              <a:t>Storage We offer simple storage fees and a Dashboard to manage it all!</a:t>
            </a:r>
          </a:p>
          <a:p>
            <a:endParaRPr lang="en-US" dirty="0"/>
          </a:p>
          <a:p>
            <a:r>
              <a:rPr lang="en-US" dirty="0"/>
              <a:t>Assemble: They assemble everything , special packing requests</a:t>
            </a:r>
          </a:p>
          <a:p>
            <a:endParaRPr lang="en-CA" dirty="0"/>
          </a:p>
          <a:p>
            <a:r>
              <a:rPr lang="en-CA" dirty="0"/>
              <a:t>International Shipping – 3 warehouses</a:t>
            </a:r>
          </a:p>
          <a:p>
            <a:endParaRPr lang="en-CA" dirty="0"/>
          </a:p>
          <a:p>
            <a:r>
              <a:rPr lang="en-CA" dirty="0"/>
              <a:t>Swag Storefront</a:t>
            </a:r>
          </a:p>
          <a:p>
            <a:endParaRPr lang="en-CA" dirty="0"/>
          </a:p>
          <a:p>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12</a:t>
            </a:fld>
            <a:endParaRPr lang="en-US" dirty="0"/>
          </a:p>
        </p:txBody>
      </p:sp>
    </p:spTree>
    <p:extLst>
      <p:ext uri="{BB962C8B-B14F-4D97-AF65-F5344CB8AC3E}">
        <p14:creationId xmlns:p14="http://schemas.microsoft.com/office/powerpoint/2010/main" val="2514843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Sustainability: Ecofriendly packaging and products</a:t>
            </a:r>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13</a:t>
            </a:fld>
            <a:endParaRPr lang="en-US" dirty="0"/>
          </a:p>
        </p:txBody>
      </p:sp>
    </p:spTree>
    <p:extLst>
      <p:ext uri="{BB962C8B-B14F-4D97-AF65-F5344CB8AC3E}">
        <p14:creationId xmlns:p14="http://schemas.microsoft.com/office/powerpoint/2010/main" val="2411049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14</a:t>
            </a:fld>
            <a:endParaRPr lang="en-US" dirty="0"/>
          </a:p>
        </p:txBody>
      </p:sp>
    </p:spTree>
    <p:extLst>
      <p:ext uri="{BB962C8B-B14F-4D97-AF65-F5344CB8AC3E}">
        <p14:creationId xmlns:p14="http://schemas.microsoft.com/office/powerpoint/2010/main" val="3983622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Ability to source swag, get designs made and buy swag items</a:t>
            </a:r>
          </a:p>
          <a:p>
            <a:endParaRPr lang="en-US" dirty="0"/>
          </a:p>
          <a:p>
            <a:r>
              <a:rPr lang="en-US" dirty="0"/>
              <a:t>Warehousing our products and bought products and shipping fulfillment</a:t>
            </a:r>
          </a:p>
          <a:p>
            <a:endParaRPr lang="en-US" dirty="0"/>
          </a:p>
          <a:p>
            <a:r>
              <a:rPr lang="en-US" dirty="0"/>
              <a:t>Swag storefront, to sell our swag </a:t>
            </a:r>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15</a:t>
            </a:fld>
            <a:endParaRPr lang="en-US" dirty="0"/>
          </a:p>
        </p:txBody>
      </p:sp>
    </p:spTree>
    <p:extLst>
      <p:ext uri="{BB962C8B-B14F-4D97-AF65-F5344CB8AC3E}">
        <p14:creationId xmlns:p14="http://schemas.microsoft.com/office/powerpoint/2010/main" val="2034320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warehousing with premium service – 3 point accuracy counts, Swag Closet – Virtual Warehouse – RETURN LABELS AND SENDBACKS, Kotis Customer Service for front end and back-end support, Quality Assurance for damaged swag, Flagging of swag for low inventory and damages for replacement</a:t>
            </a:r>
          </a:p>
          <a:p>
            <a:endParaRPr lang="en-US" dirty="0"/>
          </a:p>
          <a:p>
            <a:r>
              <a:rPr lang="en-US" dirty="0"/>
              <a:t>2 Facilities in Ohio/ Utah - </a:t>
            </a:r>
            <a:r>
              <a:rPr lang="en-CA" b="0" i="0" dirty="0">
                <a:solidFill>
                  <a:srgbClr val="666666"/>
                </a:solidFill>
                <a:effectLst/>
                <a:latin typeface="Hind" panose="02000000000000000000" pitchFamily="2" charset="0"/>
              </a:rPr>
              <a:t>(UPS, FedEx, USPS, DHL, LTL), 2 day ship – fastest method</a:t>
            </a:r>
            <a:endParaRPr lang="en-US" dirty="0"/>
          </a:p>
          <a:p>
            <a:endParaRPr lang="en-US" dirty="0"/>
          </a:p>
          <a:p>
            <a:r>
              <a:rPr lang="en-US" dirty="0"/>
              <a:t>All their stores and portals are tied together with a single inventory management system that feeds the listings on each portal. You choose access levels, products displayed and pricing for each portal</a:t>
            </a:r>
          </a:p>
          <a:p>
            <a:endParaRPr lang="en-US" dirty="0"/>
          </a:p>
          <a:p>
            <a:r>
              <a:rPr lang="en-US" dirty="0"/>
              <a:t>Salesforce Integration</a:t>
            </a:r>
          </a:p>
          <a:p>
            <a:endParaRPr lang="en-US" dirty="0"/>
          </a:p>
          <a:p>
            <a:r>
              <a:rPr lang="en-US" dirty="0"/>
              <a:t>Redeem Page – for events, unique swag/ link </a:t>
            </a:r>
          </a:p>
          <a:p>
            <a:endParaRPr lang="en-US" dirty="0"/>
          </a:p>
          <a:p>
            <a:r>
              <a:rPr lang="en-US" dirty="0"/>
              <a:t>Full cost transparency </a:t>
            </a:r>
          </a:p>
          <a:p>
            <a:endParaRPr lang="en-US" dirty="0"/>
          </a:p>
          <a:p>
            <a:r>
              <a:rPr lang="en-US" dirty="0"/>
              <a:t>Access management for all departments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POC – Account Manager, Program manager and CSM Exec </a:t>
            </a:r>
          </a:p>
          <a:p>
            <a:endParaRPr lang="en-US" dirty="0"/>
          </a:p>
          <a:p>
            <a:r>
              <a:rPr lang="en-US" dirty="0"/>
              <a:t>seems very cost effective however UI does not seem categorized and user friendly.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Eco-packaging, biodegradable materials – tape, mailers, </a:t>
            </a:r>
            <a:endParaRPr lang="en-US" dirty="0"/>
          </a:p>
          <a:p>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16</a:t>
            </a:fld>
            <a:endParaRPr lang="en-US" dirty="0"/>
          </a:p>
        </p:txBody>
      </p:sp>
    </p:spTree>
    <p:extLst>
      <p:ext uri="{BB962C8B-B14F-4D97-AF65-F5344CB8AC3E}">
        <p14:creationId xmlns:p14="http://schemas.microsoft.com/office/powerpoint/2010/main" val="2459005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17</a:t>
            </a:fld>
            <a:endParaRPr lang="en-US" dirty="0"/>
          </a:p>
        </p:txBody>
      </p:sp>
    </p:spTree>
    <p:extLst>
      <p:ext uri="{BB962C8B-B14F-4D97-AF65-F5344CB8AC3E}">
        <p14:creationId xmlns:p14="http://schemas.microsoft.com/office/powerpoint/2010/main" val="1520108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Dropshipping and events: Shipping services with vetted vendors</a:t>
            </a:r>
          </a:p>
          <a:p>
            <a:endParaRPr lang="en-US" dirty="0"/>
          </a:p>
          <a:p>
            <a:r>
              <a:rPr lang="en-US" dirty="0"/>
              <a:t>On demand printing – Ability to print merch/ source different merch for our needs</a:t>
            </a:r>
          </a:p>
          <a:p>
            <a:endParaRPr lang="en-US" dirty="0"/>
          </a:p>
          <a:p>
            <a:r>
              <a:rPr lang="en-US" dirty="0"/>
              <a:t>Giveaways and kitting: Gifting – customers, potential leads, custom made swag kits – across all departments – trade shows, leads, new employee (onboarding), landing page services</a:t>
            </a:r>
          </a:p>
          <a:p>
            <a:endParaRPr lang="en-US" dirty="0"/>
          </a:p>
          <a:p>
            <a:r>
              <a:rPr lang="en-US" dirty="0"/>
              <a:t>Swag storefront – integrate shopify to sell our company merch</a:t>
            </a:r>
          </a:p>
          <a:p>
            <a:endParaRPr lang="en-US" dirty="0"/>
          </a:p>
          <a:p>
            <a:r>
              <a:rPr lang="en-US" dirty="0"/>
              <a:t>Warehousing: Own warehouse 1 warehouses, full control in Colorado, ships with UPS</a:t>
            </a:r>
          </a:p>
          <a:p>
            <a:endParaRPr lang="en-CA" dirty="0"/>
          </a:p>
          <a:p>
            <a:endParaRPr lang="en-US" dirty="0"/>
          </a:p>
        </p:txBody>
      </p:sp>
      <p:sp>
        <p:nvSpPr>
          <p:cNvPr id="4" name="Slide Number Placeholder 3"/>
          <p:cNvSpPr>
            <a:spLocks noGrp="1"/>
          </p:cNvSpPr>
          <p:nvPr>
            <p:ph type="sldNum" sz="quarter" idx="5"/>
          </p:nvPr>
        </p:nvSpPr>
        <p:spPr/>
        <p:txBody>
          <a:bodyPr/>
          <a:lstStyle/>
          <a:p>
            <a:fld id="{2B4164EF-C536-3145-A5E8-B44217DCCF34}" type="slidenum">
              <a:rPr lang="en-US" smtClean="0"/>
              <a:t>18</a:t>
            </a:fld>
            <a:endParaRPr lang="en-US" dirty="0"/>
          </a:p>
        </p:txBody>
      </p:sp>
    </p:spTree>
    <p:extLst>
      <p:ext uri="{BB962C8B-B14F-4D97-AF65-F5344CB8AC3E}">
        <p14:creationId xmlns:p14="http://schemas.microsoft.com/office/powerpoint/2010/main" val="2269809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 show experience</a:t>
            </a:r>
          </a:p>
          <a:p>
            <a:endParaRPr lang="en-US" dirty="0"/>
          </a:p>
          <a:p>
            <a:r>
              <a:rPr lang="en-US" dirty="0"/>
              <a:t>Full scale inventory management support with access management, sophisticated back end and cost breakdowns – Account manager, merchandise specialist and CSM, accept 3</a:t>
            </a:r>
            <a:r>
              <a:rPr lang="en-US" baseline="30000" dirty="0"/>
              <a:t>rd</a:t>
            </a:r>
            <a:r>
              <a:rPr lang="en-US" dirty="0"/>
              <a:t> party items, archive items, inventory alerts</a:t>
            </a:r>
          </a:p>
          <a:p>
            <a:endParaRPr lang="en-CA" dirty="0"/>
          </a:p>
          <a:p>
            <a:r>
              <a:rPr lang="en-CA" dirty="0"/>
              <a:t>Printing on demand for events – free samples, sourcing different vendors for best price/ products, mockups, etc.</a:t>
            </a:r>
          </a:p>
          <a:p>
            <a:endParaRPr lang="en-CA" dirty="0"/>
          </a:p>
          <a:p>
            <a:r>
              <a:rPr lang="en-CA" dirty="0"/>
              <a:t>Shipping fulfillment – international shipping – they take care of  </a:t>
            </a:r>
            <a:r>
              <a:rPr lang="en-US" dirty="0"/>
              <a:t>taxes, customs fees, forms, use UPS, event packing, exact date delivery – organized and sorted according to size, labelled etc</a:t>
            </a:r>
          </a:p>
          <a:p>
            <a:endParaRPr lang="en-US" dirty="0"/>
          </a:p>
          <a:p>
            <a:r>
              <a:rPr lang="en-US" dirty="0"/>
              <a:t>Reporting – Budget setting, budget codes, campaign summary and spend, full reports on orders, campaigns, item usage, accounting – full visibility</a:t>
            </a:r>
          </a:p>
          <a:p>
            <a:endParaRPr lang="en-US" dirty="0"/>
          </a:p>
          <a:p>
            <a:r>
              <a:rPr lang="en-US" dirty="0"/>
              <a:t>Integrations – Salesforce, marketo, budget code integration</a:t>
            </a:r>
          </a:p>
          <a:p>
            <a:endParaRPr lang="en-US" dirty="0"/>
          </a:p>
          <a:p>
            <a:r>
              <a:rPr lang="en-CA" dirty="0"/>
              <a:t>Sent the most information – full pdf, video, resources</a:t>
            </a:r>
          </a:p>
          <a:p>
            <a:endParaRPr lang="en-CA" dirty="0"/>
          </a:p>
          <a:p>
            <a:r>
              <a:rPr lang="en-CA" dirty="0"/>
              <a:t>Ecofriendly packaging, charity givebacks, recycled items, one tree</a:t>
            </a:r>
          </a:p>
        </p:txBody>
      </p:sp>
      <p:sp>
        <p:nvSpPr>
          <p:cNvPr id="4" name="Slide Number Placeholder 3"/>
          <p:cNvSpPr>
            <a:spLocks noGrp="1"/>
          </p:cNvSpPr>
          <p:nvPr>
            <p:ph type="sldNum" sz="quarter" idx="5"/>
          </p:nvPr>
        </p:nvSpPr>
        <p:spPr/>
        <p:txBody>
          <a:bodyPr/>
          <a:lstStyle/>
          <a:p>
            <a:fld id="{2B4164EF-C536-3145-A5E8-B44217DCCF34}" type="slidenum">
              <a:rPr lang="en-US" smtClean="0"/>
              <a:t>19</a:t>
            </a:fld>
            <a:endParaRPr lang="en-US" dirty="0"/>
          </a:p>
        </p:txBody>
      </p:sp>
    </p:spTree>
    <p:extLst>
      <p:ext uri="{BB962C8B-B14F-4D97-AF65-F5344CB8AC3E}">
        <p14:creationId xmlns:p14="http://schemas.microsoft.com/office/powerpoint/2010/main" val="3229706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20</a:t>
            </a:fld>
            <a:endParaRPr lang="en-US" dirty="0"/>
          </a:p>
        </p:txBody>
      </p:sp>
    </p:spTree>
    <p:extLst>
      <p:ext uri="{BB962C8B-B14F-4D97-AF65-F5344CB8AC3E}">
        <p14:creationId xmlns:p14="http://schemas.microsoft.com/office/powerpoint/2010/main" val="10452102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scale inventory management: Access management, </a:t>
            </a:r>
          </a:p>
          <a:p>
            <a:endParaRPr lang="en-US" dirty="0"/>
          </a:p>
          <a:p>
            <a:r>
              <a:rPr lang="en-US" dirty="0"/>
              <a:t>Gifting and Bundles: Event bundles, customer bundles, landing page, egifts</a:t>
            </a:r>
          </a:p>
          <a:p>
            <a:endParaRPr lang="en-US" dirty="0"/>
          </a:p>
          <a:p>
            <a:r>
              <a:rPr lang="en-US" b="0" i="0" dirty="0">
                <a:solidFill>
                  <a:srgbClr val="000000"/>
                </a:solidFill>
                <a:effectLst/>
                <a:latin typeface="Arial" panose="020B0604020202020204" pitchFamily="34" charset="0"/>
              </a:rPr>
              <a:t>Storage and shipping: Store your swag with us and ship from a dedicated global network of 5 global warehouses, US, Canada, 2 in </a:t>
            </a:r>
            <a:r>
              <a:rPr lang="en-US" b="0" i="0" dirty="0" err="1">
                <a:solidFill>
                  <a:srgbClr val="000000"/>
                </a:solidFill>
                <a:effectLst/>
                <a:latin typeface="Arial" panose="020B0604020202020204" pitchFamily="34" charset="0"/>
              </a:rPr>
              <a:t>Uk</a:t>
            </a:r>
            <a:r>
              <a:rPr lang="en-US" b="0" i="0" dirty="0">
                <a:solidFill>
                  <a:srgbClr val="000000"/>
                </a:solidFill>
                <a:effectLst/>
                <a:latin typeface="Arial" panose="020B0604020202020204" pitchFamily="34" charset="0"/>
              </a:rPr>
              <a:t>, 1 in </a:t>
            </a:r>
            <a:r>
              <a:rPr lang="en-US" b="0" i="0" dirty="0" err="1">
                <a:solidFill>
                  <a:srgbClr val="000000"/>
                </a:solidFill>
                <a:effectLst/>
                <a:latin typeface="Arial" panose="020B0604020202020204" pitchFamily="34" charset="0"/>
              </a:rPr>
              <a:t>australia</a:t>
            </a:r>
            <a:r>
              <a:rPr lang="en-US" b="0" i="0" dirty="0">
                <a:solidFill>
                  <a:srgbClr val="000000"/>
                </a:solidFill>
                <a:effectLst/>
                <a:latin typeface="Arial" panose="020B0604020202020204" pitchFamily="34" charset="0"/>
              </a:rPr>
              <a:t> -  Bulk Send</a:t>
            </a:r>
          </a:p>
          <a:p>
            <a:endParaRPr lang="en-US" b="0" i="0" dirty="0">
              <a:solidFill>
                <a:srgbClr val="000000"/>
              </a:solidFill>
              <a:effectLst/>
              <a:latin typeface="Arial" panose="020B0604020202020204" pitchFamily="34" charset="0"/>
            </a:endParaRPr>
          </a:p>
          <a:p>
            <a:r>
              <a:rPr lang="en-US" b="0" i="0" dirty="0">
                <a:solidFill>
                  <a:srgbClr val="000000"/>
                </a:solidFill>
                <a:effectLst/>
                <a:latin typeface="Arial" panose="020B0604020202020204" pitchFamily="34" charset="0"/>
              </a:rPr>
              <a:t>Merchandise builder: 5000 vendor network </a:t>
            </a:r>
          </a:p>
          <a:p>
            <a:endParaRPr lang="en-US" b="0" i="0" dirty="0">
              <a:solidFill>
                <a:srgbClr val="000000"/>
              </a:solidFill>
              <a:effectLst/>
              <a:latin typeface="Arial" panose="020B0604020202020204" pitchFamily="34" charset="0"/>
            </a:endParaRPr>
          </a:p>
          <a:p>
            <a:r>
              <a:rPr lang="en-US" b="0" i="0" dirty="0">
                <a:solidFill>
                  <a:srgbClr val="000000"/>
                </a:solidFill>
                <a:effectLst/>
                <a:latin typeface="Arial" panose="020B0604020202020204" pitchFamily="34" charset="0"/>
              </a:rPr>
              <a:t>ABX/ ABM: Account based marketing/ experience -. ABM strategies are most often used to locate, engage and grow high-level or key accounts – full visibility into tracking leads and sending them down the funnel</a:t>
            </a:r>
          </a:p>
          <a:p>
            <a:endParaRPr lang="en-US" b="0" i="0" dirty="0">
              <a:solidFill>
                <a:srgbClr val="000000"/>
              </a:solidFill>
              <a:effectLst/>
              <a:latin typeface="Arial" panose="020B0604020202020204" pitchFamily="34" charset="0"/>
            </a:endParaRPr>
          </a:p>
          <a:p>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21</a:t>
            </a:fld>
            <a:endParaRPr lang="en-US" dirty="0"/>
          </a:p>
        </p:txBody>
      </p:sp>
    </p:spTree>
    <p:extLst>
      <p:ext uri="{BB962C8B-B14F-4D97-AF65-F5344CB8AC3E}">
        <p14:creationId xmlns:p14="http://schemas.microsoft.com/office/powerpoint/2010/main" val="1846326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Spoke more about gifting, bundles, landing pages, ties into ABM/ABX marketing </a:t>
            </a:r>
          </a:p>
          <a:p>
            <a:endParaRPr lang="en-US" dirty="0"/>
          </a:p>
          <a:p>
            <a:r>
              <a:rPr lang="en-US" dirty="0"/>
              <a:t>Premium logistics support: full scale reporting, CSM, Account manager, ABX team, trainings, taking on tasks, handling shipping and shipping back</a:t>
            </a:r>
          </a:p>
          <a:p>
            <a:endParaRPr lang="en-US" dirty="0"/>
          </a:p>
          <a:p>
            <a:r>
              <a:rPr lang="en-CA" dirty="0"/>
              <a:t>Inventory management continued: Automatic stock update, alerts, live chat, access management</a:t>
            </a:r>
          </a:p>
          <a:p>
            <a:endParaRPr lang="en-CA" dirty="0"/>
          </a:p>
          <a:p>
            <a:r>
              <a:rPr lang="en-CA" dirty="0"/>
              <a:t>Integrations: Salesforce, marketo, okta</a:t>
            </a:r>
          </a:p>
          <a:p>
            <a:endParaRPr lang="en-CA" dirty="0"/>
          </a:p>
          <a:p>
            <a:r>
              <a:rPr lang="en-CA" dirty="0"/>
              <a:t>Stood out: Spoke about competition and how they are better – better customer service</a:t>
            </a:r>
          </a:p>
          <a:p>
            <a:endParaRPr lang="en-CA" dirty="0"/>
          </a:p>
          <a:p>
            <a:r>
              <a:rPr lang="en-CA" dirty="0"/>
              <a:t>Cost effectiveness: Wallets but, annual sign up fee, warehousing included, no margins on sourced items, metrics oriented</a:t>
            </a:r>
          </a:p>
          <a:p>
            <a:endParaRPr lang="en-CA" dirty="0"/>
          </a:p>
          <a:p>
            <a:r>
              <a:rPr lang="en-CA" dirty="0"/>
              <a:t>Backend is not as sophisticated</a:t>
            </a:r>
          </a:p>
          <a:p>
            <a:endParaRPr lang="en-CA" dirty="0"/>
          </a:p>
          <a:p>
            <a:r>
              <a:rPr lang="en-CA" b="1" i="0" dirty="0">
                <a:effectLst/>
                <a:latin typeface="Lexend" pitchFamily="2" charset="0"/>
              </a:rPr>
              <a:t>minimize shipping emissions, </a:t>
            </a:r>
            <a:r>
              <a:rPr lang="en-CA" b="1" i="0" dirty="0">
                <a:solidFill>
                  <a:srgbClr val="002554"/>
                </a:solidFill>
                <a:effectLst/>
                <a:latin typeface="Lexend" pitchFamily="2" charset="0"/>
              </a:rPr>
              <a:t>work with sustainable vendors, limit waste - </a:t>
            </a:r>
            <a:br>
              <a:rPr lang="en-CA" dirty="0"/>
            </a:br>
            <a:r>
              <a:rPr lang="en-CA" dirty="0"/>
              <a:t>Featured partner: </a:t>
            </a:r>
            <a:r>
              <a:rPr lang="en-CA" dirty="0" err="1"/>
              <a:t>Rewards.Earth</a:t>
            </a:r>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22</a:t>
            </a:fld>
            <a:endParaRPr lang="en-US" dirty="0"/>
          </a:p>
        </p:txBody>
      </p:sp>
    </p:spTree>
    <p:extLst>
      <p:ext uri="{BB962C8B-B14F-4D97-AF65-F5344CB8AC3E}">
        <p14:creationId xmlns:p14="http://schemas.microsoft.com/office/powerpoint/2010/main" val="24097819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Swag.com : No return labels/ </a:t>
            </a:r>
            <a:r>
              <a:rPr lang="en-US" dirty="0" err="1"/>
              <a:t>sendbacks</a:t>
            </a:r>
            <a:r>
              <a:rPr lang="en-US" dirty="0"/>
              <a:t> to warehouse</a:t>
            </a:r>
          </a:p>
          <a:p>
            <a:r>
              <a:rPr lang="en-US" dirty="0"/>
              <a:t>Do not hold third party items</a:t>
            </a:r>
          </a:p>
          <a:p>
            <a:r>
              <a:rPr lang="en-CA" dirty="0"/>
              <a:t>Use Zapier – only salesforce trigger, no </a:t>
            </a:r>
            <a:r>
              <a:rPr lang="en-CA" dirty="0" err="1"/>
              <a:t>marketo</a:t>
            </a:r>
            <a:endParaRPr lang="en-CA" dirty="0"/>
          </a:p>
          <a:p>
            <a:endParaRPr lang="en-CA" dirty="0"/>
          </a:p>
          <a:p>
            <a:r>
              <a:rPr lang="en-CA" dirty="0"/>
              <a:t>Postal: </a:t>
            </a:r>
            <a:r>
              <a:rPr lang="en-US" dirty="0"/>
              <a:t>No notifications for damaged items/ replacements YET</a:t>
            </a:r>
          </a:p>
          <a:p>
            <a:r>
              <a:rPr lang="en-US" dirty="0"/>
              <a:t>No Budget code payment method, balance based – open to change this </a:t>
            </a:r>
            <a:r>
              <a:rPr lang="en-US" dirty="0" err="1"/>
              <a:t>kinda</a:t>
            </a:r>
            <a:endParaRPr lang="en-US" dirty="0"/>
          </a:p>
          <a:p>
            <a:r>
              <a:rPr lang="en-US" dirty="0"/>
              <a:t>Complex pricing structure</a:t>
            </a:r>
          </a:p>
          <a:p>
            <a:endParaRPr lang="en-US" dirty="0"/>
          </a:p>
          <a:p>
            <a:r>
              <a:rPr lang="en-CA" dirty="0" err="1"/>
              <a:t>Swagup</a:t>
            </a:r>
            <a:r>
              <a:rPr lang="en-CA" dirty="0"/>
              <a:t> : </a:t>
            </a:r>
            <a:r>
              <a:rPr lang="en-US" dirty="0"/>
              <a:t>No access management </a:t>
            </a:r>
          </a:p>
          <a:p>
            <a:r>
              <a:rPr lang="en-US" dirty="0"/>
              <a:t>Not much information shared on sales call/ post call email</a:t>
            </a:r>
          </a:p>
          <a:p>
            <a:r>
              <a:rPr lang="en-US" dirty="0"/>
              <a:t>Not a lot of services offered backend – as free platform</a:t>
            </a:r>
          </a:p>
          <a:p>
            <a:endParaRPr lang="en-US" dirty="0"/>
          </a:p>
          <a:p>
            <a:r>
              <a:rPr lang="en-US" dirty="0" err="1"/>
              <a:t>Kotis</a:t>
            </a:r>
            <a:r>
              <a:rPr lang="en-US" dirty="0"/>
              <a:t> Design: Poor and outdated UI</a:t>
            </a:r>
          </a:p>
          <a:p>
            <a:endParaRPr lang="en-US" dirty="0"/>
          </a:p>
          <a:p>
            <a:r>
              <a:rPr lang="en-US" dirty="0" err="1"/>
              <a:t>Printfection</a:t>
            </a:r>
            <a:r>
              <a:rPr lang="en-US" dirty="0"/>
              <a:t>: </a:t>
            </a:r>
          </a:p>
          <a:p>
            <a:endParaRPr lang="en-US" dirty="0"/>
          </a:p>
          <a:p>
            <a:r>
              <a:rPr lang="en-US" dirty="0" err="1"/>
              <a:t>Reachdesk</a:t>
            </a:r>
            <a:r>
              <a:rPr lang="en-US" dirty="0"/>
              <a:t>: Credit/ Wallet Based – Open to negotiate</a:t>
            </a:r>
          </a:p>
          <a:p>
            <a:endParaRPr lang="en-US" dirty="0"/>
          </a:p>
          <a:p>
            <a:endParaRPr lang="en-CA" dirty="0"/>
          </a:p>
          <a:p>
            <a:endParaRPr lang="en-CA" dirty="0"/>
          </a:p>
        </p:txBody>
      </p:sp>
      <p:sp>
        <p:nvSpPr>
          <p:cNvPr id="4" name="Slide Number Placeholder 3"/>
          <p:cNvSpPr>
            <a:spLocks noGrp="1"/>
          </p:cNvSpPr>
          <p:nvPr>
            <p:ph type="sldNum" sz="quarter" idx="5"/>
          </p:nvPr>
        </p:nvSpPr>
        <p:spPr/>
        <p:txBody>
          <a:bodyPr/>
          <a:lstStyle/>
          <a:p>
            <a:fld id="{2B4164EF-C536-3145-A5E8-B44217DCCF34}" type="slidenum">
              <a:rPr lang="en-US" smtClean="0"/>
              <a:t>24</a:t>
            </a:fld>
            <a:endParaRPr lang="en-US" dirty="0"/>
          </a:p>
        </p:txBody>
      </p:sp>
    </p:spTree>
    <p:extLst>
      <p:ext uri="{BB962C8B-B14F-4D97-AF65-F5344CB8AC3E}">
        <p14:creationId xmlns:p14="http://schemas.microsoft.com/office/powerpoint/2010/main" val="3389615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a:t>
            </a:r>
          </a:p>
          <a:p>
            <a:endParaRPr lang="en-US" dirty="0"/>
          </a:p>
          <a:p>
            <a:r>
              <a:rPr lang="en-US" dirty="0"/>
              <a:t>Best fit</a:t>
            </a:r>
          </a:p>
          <a:p>
            <a:endParaRPr lang="en-US" dirty="0"/>
          </a:p>
          <a:p>
            <a:r>
              <a:rPr lang="en-US" dirty="0"/>
              <a:t>Other companies are good, postal and reachdesk but they focus more on gifting experiences</a:t>
            </a:r>
          </a:p>
          <a:p>
            <a:endParaRPr lang="en-US" dirty="0"/>
          </a:p>
          <a:p>
            <a:r>
              <a:rPr lang="en-US" dirty="0"/>
              <a:t>In our case we need a sophisticated backend portal to make EIAB requests specifically for tradeshows and events, everything else is an addon bonus </a:t>
            </a:r>
          </a:p>
          <a:p>
            <a:endParaRPr lang="en-US" dirty="0"/>
          </a:p>
          <a:p>
            <a:r>
              <a:rPr lang="en-US" dirty="0"/>
              <a:t>They have the right integrations, right reporting and full transparent cost breakdowns for our services. They also do invoice budget code based payments as we were already used to it, other companies require credit/balance upfront</a:t>
            </a:r>
          </a:p>
          <a:p>
            <a:endParaRPr lang="en-US" dirty="0"/>
          </a:p>
          <a:p>
            <a:r>
              <a:rPr lang="en-US" dirty="0" err="1"/>
              <a:t>Kotis</a:t>
            </a:r>
            <a:r>
              <a:rPr lang="en-US" dirty="0"/>
              <a:t> design was also a great choice, however their user portal lacked options and things we can do within</a:t>
            </a:r>
          </a:p>
          <a:p>
            <a:endParaRPr lang="en-US" dirty="0"/>
          </a:p>
          <a:p>
            <a:r>
              <a:rPr lang="en-US" dirty="0"/>
              <a:t>This I feel is the best possible choice for us across the 3 companies that came on top.</a:t>
            </a:r>
          </a:p>
          <a:p>
            <a:endParaRPr lang="en-US" dirty="0"/>
          </a:p>
          <a:p>
            <a:r>
              <a:rPr lang="en-US" dirty="0"/>
              <a:t>Moreover they also provided me with the best resources such as training video, </a:t>
            </a:r>
          </a:p>
          <a:p>
            <a:endParaRPr lang="en-US" dirty="0"/>
          </a:p>
          <a:p>
            <a:r>
              <a:rPr lang="en-US" dirty="0"/>
              <a:t>Drawbacks and limitations: Only me on the sales calls more than criteria – they were clearly trying to upsell me, first time doing this, cost structure of STAR, how much we can save with alternative</a:t>
            </a:r>
          </a:p>
          <a:p>
            <a:endParaRPr lang="en-US" dirty="0"/>
          </a:p>
          <a:p>
            <a:r>
              <a:rPr lang="en-US" dirty="0"/>
              <a:t>That being said, I still think we can negotiate certain term with other companies if they can fit our requirements better – we can schedule further calls and go from there</a:t>
            </a:r>
          </a:p>
          <a:p>
            <a:endParaRPr lang="en-US" dirty="0"/>
          </a:p>
          <a:p>
            <a:r>
              <a:rPr lang="en-US" dirty="0"/>
              <a:t>If we are considering international shipping as well, then reach desk would be a better option</a:t>
            </a:r>
          </a:p>
          <a:p>
            <a:endParaRPr lang="en-US" dirty="0"/>
          </a:p>
        </p:txBody>
      </p:sp>
      <p:sp>
        <p:nvSpPr>
          <p:cNvPr id="4" name="Slide Number Placeholder 3"/>
          <p:cNvSpPr>
            <a:spLocks noGrp="1"/>
          </p:cNvSpPr>
          <p:nvPr>
            <p:ph type="sldNum" sz="quarter" idx="5"/>
          </p:nvPr>
        </p:nvSpPr>
        <p:spPr/>
        <p:txBody>
          <a:bodyPr/>
          <a:lstStyle/>
          <a:p>
            <a:fld id="{2B4164EF-C536-3145-A5E8-B44217DCCF34}" type="slidenum">
              <a:rPr lang="en-US" smtClean="0"/>
              <a:t>26</a:t>
            </a:fld>
            <a:endParaRPr lang="en-US" dirty="0"/>
          </a:p>
        </p:txBody>
      </p:sp>
    </p:spTree>
    <p:extLst>
      <p:ext uri="{BB962C8B-B14F-4D97-AF65-F5344CB8AC3E}">
        <p14:creationId xmlns:p14="http://schemas.microsoft.com/office/powerpoint/2010/main" val="12123693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A picture containing tiled&#10;&#10;Description automatically generated">
            <a:extLst>
              <a:ext uri="{FF2B5EF4-FFF2-40B4-BE49-F238E27FC236}">
                <a16:creationId xmlns:a16="http://schemas.microsoft.com/office/drawing/2014/main" id="{B3A40266-B806-6C4B-A7DE-4A943484594A}"/>
              </a:ext>
            </a:extLst>
          </p:cNvPr>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a:stretch/>
        </p:blipFill>
        <p:spPr>
          <a:xfrm rot="5400000">
            <a:off x="2679276" y="-2667000"/>
            <a:ext cx="6857997" cy="12192003"/>
          </a:xfrm>
          <a:prstGeom prst="rect">
            <a:avLst/>
          </a:prstGeom>
        </p:spPr>
      </p:pic>
      <p:sp>
        <p:nvSpPr>
          <p:cNvPr id="12" name="Rectangle 11">
            <a:extLst>
              <a:ext uri="{FF2B5EF4-FFF2-40B4-BE49-F238E27FC236}">
                <a16:creationId xmlns:a16="http://schemas.microsoft.com/office/drawing/2014/main" id="{84902B72-6333-3446-B635-3A1F00A33669}"/>
              </a:ext>
            </a:extLst>
          </p:cNvPr>
          <p:cNvSpPr/>
          <p:nvPr userDrawn="1"/>
        </p:nvSpPr>
        <p:spPr>
          <a:xfrm>
            <a:off x="0" y="-1"/>
            <a:ext cx="12192000" cy="188913"/>
          </a:xfrm>
          <a:prstGeom prst="rect">
            <a:avLst/>
          </a:prstGeom>
          <a:solidFill>
            <a:srgbClr val="34E82A"/>
          </a:solidFill>
          <a:ln>
            <a:solidFill>
              <a:srgbClr val="34E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A5E12"/>
              </a:solidFill>
            </a:endParaRPr>
          </a:p>
        </p:txBody>
      </p:sp>
      <p:sp>
        <p:nvSpPr>
          <p:cNvPr id="40" name="Text Placeholder 39">
            <a:extLst>
              <a:ext uri="{FF2B5EF4-FFF2-40B4-BE49-F238E27FC236}">
                <a16:creationId xmlns:a16="http://schemas.microsoft.com/office/drawing/2014/main" id="{643E22E8-0D81-EB48-92AC-DDA0338CEE96}"/>
              </a:ext>
            </a:extLst>
          </p:cNvPr>
          <p:cNvSpPr>
            <a:spLocks noGrp="1"/>
          </p:cNvSpPr>
          <p:nvPr>
            <p:ph type="body" sz="quarter" idx="13" hasCustomPrompt="1"/>
          </p:nvPr>
        </p:nvSpPr>
        <p:spPr>
          <a:xfrm>
            <a:off x="623392" y="3929343"/>
            <a:ext cx="7920037" cy="1712912"/>
          </a:xfrm>
          <a:prstGeom prst="rect">
            <a:avLst/>
          </a:prstGeom>
        </p:spPr>
        <p:txBody>
          <a:bodyPr lIns="0" anchor="b">
            <a:normAutofit/>
          </a:bodyPr>
          <a:lstStyle>
            <a:lvl1pPr marL="0" indent="0">
              <a:buNone/>
              <a:defRPr sz="6000" b="0" spc="0">
                <a:latin typeface="Times" pitchFamily="2" charset="0"/>
              </a:defRPr>
            </a:lvl1pPr>
          </a:lstStyle>
          <a:p>
            <a:pPr lvl="0"/>
            <a:r>
              <a:rPr lang="en-US"/>
              <a:t>Title Goes Here</a:t>
            </a:r>
          </a:p>
        </p:txBody>
      </p:sp>
      <p:sp>
        <p:nvSpPr>
          <p:cNvPr id="41" name="Text Placeholder 39">
            <a:extLst>
              <a:ext uri="{FF2B5EF4-FFF2-40B4-BE49-F238E27FC236}">
                <a16:creationId xmlns:a16="http://schemas.microsoft.com/office/drawing/2014/main" id="{67BD84A6-AFD5-834F-AC37-C79DAEF6DA12}"/>
              </a:ext>
            </a:extLst>
          </p:cNvPr>
          <p:cNvSpPr>
            <a:spLocks noGrp="1"/>
          </p:cNvSpPr>
          <p:nvPr>
            <p:ph type="body" sz="quarter" idx="14" hasCustomPrompt="1"/>
          </p:nvPr>
        </p:nvSpPr>
        <p:spPr>
          <a:xfrm>
            <a:off x="623392" y="6089662"/>
            <a:ext cx="2016224" cy="291666"/>
          </a:xfrm>
          <a:prstGeom prst="rect">
            <a:avLst/>
          </a:prstGeom>
        </p:spPr>
        <p:txBody>
          <a:bodyPr lIns="0" anchor="t">
            <a:normAutofit/>
          </a:bodyPr>
          <a:lstStyle>
            <a:lvl1pPr marL="0" indent="0">
              <a:buNone/>
              <a:defRPr sz="1800" b="0">
                <a:latin typeface="Satoshi" pitchFamily="2" charset="77"/>
              </a:defRPr>
            </a:lvl1pPr>
          </a:lstStyle>
          <a:p>
            <a:pPr lvl="0"/>
            <a:r>
              <a:rPr lang="en-US"/>
              <a:t>Client</a:t>
            </a:r>
          </a:p>
        </p:txBody>
      </p:sp>
      <p:sp>
        <p:nvSpPr>
          <p:cNvPr id="42" name="Text Placeholder 39">
            <a:extLst>
              <a:ext uri="{FF2B5EF4-FFF2-40B4-BE49-F238E27FC236}">
                <a16:creationId xmlns:a16="http://schemas.microsoft.com/office/drawing/2014/main" id="{47BAC72D-EA42-504A-AC9B-A65772B3B0DB}"/>
              </a:ext>
            </a:extLst>
          </p:cNvPr>
          <p:cNvSpPr>
            <a:spLocks noGrp="1"/>
          </p:cNvSpPr>
          <p:nvPr>
            <p:ph type="body" sz="quarter" idx="15" hasCustomPrompt="1"/>
          </p:nvPr>
        </p:nvSpPr>
        <p:spPr>
          <a:xfrm>
            <a:off x="2783632" y="6089662"/>
            <a:ext cx="2016224" cy="291666"/>
          </a:xfrm>
          <a:prstGeom prst="rect">
            <a:avLst/>
          </a:prstGeom>
        </p:spPr>
        <p:txBody>
          <a:bodyPr lIns="0" anchor="t">
            <a:normAutofit/>
          </a:bodyPr>
          <a:lstStyle>
            <a:lvl1pPr marL="0" indent="0">
              <a:buNone/>
              <a:defRPr sz="1800" b="0">
                <a:latin typeface="Satoshi" pitchFamily="2" charset="77"/>
              </a:defRPr>
            </a:lvl1pPr>
          </a:lstStyle>
          <a:p>
            <a:pPr lvl="0"/>
            <a:r>
              <a:rPr lang="en-US"/>
              <a:t>Date</a:t>
            </a:r>
          </a:p>
        </p:txBody>
      </p:sp>
      <p:pic>
        <p:nvPicPr>
          <p:cNvPr id="61" name="Picture 60">
            <a:extLst>
              <a:ext uri="{FF2B5EF4-FFF2-40B4-BE49-F238E27FC236}">
                <a16:creationId xmlns:a16="http://schemas.microsoft.com/office/drawing/2014/main" id="{CAB79F8C-C230-3A43-A472-99D66EB813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29362" y="907306"/>
            <a:ext cx="1611936" cy="649486"/>
          </a:xfrm>
          <a:prstGeom prst="rect">
            <a:avLst/>
          </a:prstGeom>
        </p:spPr>
      </p:pic>
    </p:spTree>
    <p:extLst>
      <p:ext uri="{BB962C8B-B14F-4D97-AF65-F5344CB8AC3E}">
        <p14:creationId xmlns:p14="http://schemas.microsoft.com/office/powerpoint/2010/main" val="815601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9F492651-54BF-7046-89AC-F9FF22A85021}"/>
              </a:ext>
            </a:extLst>
          </p:cNvPr>
          <p:cNvPicPr>
            <a:picLocks noChangeAspect="1"/>
          </p:cNvPicPr>
          <p:nvPr userDrawn="1"/>
        </p:nvPicPr>
        <p:blipFill rotWithShape="1">
          <a:blip r:embed="rId2" cstate="screen">
            <a:alphaModFix amt="41000"/>
            <a:extLst>
              <a:ext uri="{28A0092B-C50C-407E-A947-70E740481C1C}">
                <a14:useLocalDpi xmlns:a14="http://schemas.microsoft.com/office/drawing/2010/main"/>
              </a:ext>
            </a:extLst>
          </a:blip>
          <a:srcRect/>
          <a:stretch/>
        </p:blipFill>
        <p:spPr>
          <a:xfrm>
            <a:off x="0" y="0"/>
            <a:ext cx="12192000" cy="2349500"/>
          </a:xfrm>
          <a:prstGeom prst="rect">
            <a:avLst/>
          </a:prstGeom>
          <a:solidFill>
            <a:schemeClr val="tx1"/>
          </a:solidFill>
        </p:spPr>
      </p:pic>
      <p:sp>
        <p:nvSpPr>
          <p:cNvPr id="7" name="TextBox 6">
            <a:extLst>
              <a:ext uri="{FF2B5EF4-FFF2-40B4-BE49-F238E27FC236}">
                <a16:creationId xmlns:a16="http://schemas.microsoft.com/office/drawing/2014/main" id="{16F44537-FFD7-204D-B52D-3397556B057D}"/>
              </a:ext>
            </a:extLst>
          </p:cNvPr>
          <p:cNvSpPr txBox="1"/>
          <p:nvPr userDrawn="1"/>
        </p:nvSpPr>
        <p:spPr>
          <a:xfrm>
            <a:off x="695325" y="818128"/>
            <a:ext cx="3888507" cy="738664"/>
          </a:xfrm>
          <a:prstGeom prst="rect">
            <a:avLst/>
          </a:prstGeom>
          <a:noFill/>
        </p:spPr>
        <p:txBody>
          <a:bodyPr wrap="square" lIns="0" tIns="0" rIns="0" bIns="0" rtlCol="0">
            <a:spAutoFit/>
          </a:bodyPr>
          <a:lstStyle/>
          <a:p>
            <a:r>
              <a:rPr lang="en-US" sz="4800" spc="0" dirty="0">
                <a:solidFill>
                  <a:schemeClr val="bg1"/>
                </a:solidFill>
                <a:latin typeface="Times" pitchFamily="2" charset="0"/>
              </a:rPr>
              <a:t>Agenda</a:t>
            </a:r>
          </a:p>
        </p:txBody>
      </p:sp>
      <p:sp>
        <p:nvSpPr>
          <p:cNvPr id="11" name="TextBox 10">
            <a:extLst>
              <a:ext uri="{FF2B5EF4-FFF2-40B4-BE49-F238E27FC236}">
                <a16:creationId xmlns:a16="http://schemas.microsoft.com/office/drawing/2014/main" id="{0C64B2B5-5F9E-F04C-BAB1-518B6920A1E5}"/>
              </a:ext>
            </a:extLst>
          </p:cNvPr>
          <p:cNvSpPr txBox="1"/>
          <p:nvPr userDrawn="1"/>
        </p:nvSpPr>
        <p:spPr>
          <a:xfrm>
            <a:off x="717504" y="3081734"/>
            <a:ext cx="1778047" cy="923330"/>
          </a:xfrm>
          <a:prstGeom prst="rect">
            <a:avLst/>
          </a:prstGeom>
          <a:noFill/>
        </p:spPr>
        <p:txBody>
          <a:bodyPr wrap="square" lIns="0" tIns="0" rIns="0" bIns="0" rtlCol="0">
            <a:spAutoFit/>
          </a:bodyPr>
          <a:lstStyle/>
          <a:p>
            <a:r>
              <a:rPr lang="en-US" sz="6000" b="0" dirty="0">
                <a:solidFill>
                  <a:srgbClr val="207E16"/>
                </a:solidFill>
                <a:latin typeface="Times" pitchFamily="2" charset="0"/>
              </a:rPr>
              <a:t>1</a:t>
            </a:r>
          </a:p>
        </p:txBody>
      </p:sp>
      <p:cxnSp>
        <p:nvCxnSpPr>
          <p:cNvPr id="12" name="Straight Connector 11">
            <a:extLst>
              <a:ext uri="{FF2B5EF4-FFF2-40B4-BE49-F238E27FC236}">
                <a16:creationId xmlns:a16="http://schemas.microsoft.com/office/drawing/2014/main" id="{1E6EB64E-84D5-3F4F-BF44-4CD4E2124393}"/>
              </a:ext>
            </a:extLst>
          </p:cNvPr>
          <p:cNvCxnSpPr>
            <a:cxnSpLocks/>
          </p:cNvCxnSpPr>
          <p:nvPr userDrawn="1"/>
        </p:nvCxnSpPr>
        <p:spPr>
          <a:xfrm>
            <a:off x="2855913" y="3068638"/>
            <a:ext cx="0" cy="2881312"/>
          </a:xfrm>
          <a:prstGeom prst="line">
            <a:avLst/>
          </a:prstGeom>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0E1AFACD-4A51-4743-A75F-FD7E4448BB45}"/>
              </a:ext>
            </a:extLst>
          </p:cNvPr>
          <p:cNvSpPr txBox="1"/>
          <p:nvPr userDrawn="1"/>
        </p:nvSpPr>
        <p:spPr>
          <a:xfrm>
            <a:off x="3238453" y="3081734"/>
            <a:ext cx="1778047" cy="923330"/>
          </a:xfrm>
          <a:prstGeom prst="rect">
            <a:avLst/>
          </a:prstGeom>
          <a:noFill/>
        </p:spPr>
        <p:txBody>
          <a:bodyPr wrap="square" lIns="0" tIns="0" rIns="0" bIns="0" rtlCol="0">
            <a:spAutoFit/>
          </a:bodyPr>
          <a:lstStyle/>
          <a:p>
            <a:r>
              <a:rPr lang="en-US" sz="6000" b="0" dirty="0">
                <a:solidFill>
                  <a:srgbClr val="207E16"/>
                </a:solidFill>
                <a:latin typeface="Times" pitchFamily="2" charset="0"/>
              </a:rPr>
              <a:t>2</a:t>
            </a:r>
          </a:p>
        </p:txBody>
      </p:sp>
      <p:cxnSp>
        <p:nvCxnSpPr>
          <p:cNvPr id="14" name="Straight Connector 13">
            <a:extLst>
              <a:ext uri="{FF2B5EF4-FFF2-40B4-BE49-F238E27FC236}">
                <a16:creationId xmlns:a16="http://schemas.microsoft.com/office/drawing/2014/main" id="{57133658-1964-FB42-9A35-D3699301135B}"/>
              </a:ext>
            </a:extLst>
          </p:cNvPr>
          <p:cNvCxnSpPr>
            <a:cxnSpLocks/>
          </p:cNvCxnSpPr>
          <p:nvPr userDrawn="1"/>
        </p:nvCxnSpPr>
        <p:spPr>
          <a:xfrm flipH="1">
            <a:off x="5375275" y="3068638"/>
            <a:ext cx="1792" cy="2881312"/>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BCFEF61B-B090-6C40-A4A9-D761C18D5B2F}"/>
              </a:ext>
            </a:extLst>
          </p:cNvPr>
          <p:cNvSpPr txBox="1"/>
          <p:nvPr userDrawn="1"/>
        </p:nvSpPr>
        <p:spPr>
          <a:xfrm>
            <a:off x="5735638" y="3081734"/>
            <a:ext cx="1800225" cy="923330"/>
          </a:xfrm>
          <a:prstGeom prst="rect">
            <a:avLst/>
          </a:prstGeom>
          <a:noFill/>
        </p:spPr>
        <p:txBody>
          <a:bodyPr wrap="square" lIns="0" tIns="0" rIns="0" bIns="0" rtlCol="0">
            <a:spAutoFit/>
          </a:bodyPr>
          <a:lstStyle/>
          <a:p>
            <a:r>
              <a:rPr lang="en-US" sz="6000" b="0" dirty="0">
                <a:solidFill>
                  <a:srgbClr val="207E16"/>
                </a:solidFill>
                <a:latin typeface="Times" pitchFamily="2" charset="0"/>
              </a:rPr>
              <a:t>3</a:t>
            </a:r>
          </a:p>
        </p:txBody>
      </p:sp>
      <p:cxnSp>
        <p:nvCxnSpPr>
          <p:cNvPr id="16" name="Straight Connector 15">
            <a:extLst>
              <a:ext uri="{FF2B5EF4-FFF2-40B4-BE49-F238E27FC236}">
                <a16:creationId xmlns:a16="http://schemas.microsoft.com/office/drawing/2014/main" id="{3BAC76A5-28B4-1941-A34E-3D88809DECE1}"/>
              </a:ext>
            </a:extLst>
          </p:cNvPr>
          <p:cNvCxnSpPr>
            <a:cxnSpLocks/>
          </p:cNvCxnSpPr>
          <p:nvPr userDrawn="1"/>
        </p:nvCxnSpPr>
        <p:spPr>
          <a:xfrm flipH="1">
            <a:off x="7896225" y="3068638"/>
            <a:ext cx="25" cy="2881312"/>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47AC2D79-C757-4F42-9960-91E23CBDE836}"/>
              </a:ext>
            </a:extLst>
          </p:cNvPr>
          <p:cNvSpPr txBox="1"/>
          <p:nvPr userDrawn="1"/>
        </p:nvSpPr>
        <p:spPr>
          <a:xfrm>
            <a:off x="8256588" y="3081734"/>
            <a:ext cx="1778047" cy="923330"/>
          </a:xfrm>
          <a:prstGeom prst="rect">
            <a:avLst/>
          </a:prstGeom>
          <a:noFill/>
        </p:spPr>
        <p:txBody>
          <a:bodyPr wrap="square" lIns="0" tIns="0" rIns="0" bIns="0" rtlCol="0">
            <a:spAutoFit/>
          </a:bodyPr>
          <a:lstStyle/>
          <a:p>
            <a:r>
              <a:rPr lang="en-US" sz="6000" b="0" dirty="0">
                <a:solidFill>
                  <a:srgbClr val="207E16"/>
                </a:solidFill>
                <a:latin typeface="Times" pitchFamily="2" charset="0"/>
              </a:rPr>
              <a:t>4</a:t>
            </a:r>
          </a:p>
        </p:txBody>
      </p:sp>
      <p:sp>
        <p:nvSpPr>
          <p:cNvPr id="30" name="Text Placeholder 29">
            <a:extLst>
              <a:ext uri="{FF2B5EF4-FFF2-40B4-BE49-F238E27FC236}">
                <a16:creationId xmlns:a16="http://schemas.microsoft.com/office/drawing/2014/main" id="{02014924-819A-1842-9A4F-EFA57C29DFD8}"/>
              </a:ext>
            </a:extLst>
          </p:cNvPr>
          <p:cNvSpPr>
            <a:spLocks noGrp="1"/>
          </p:cNvSpPr>
          <p:nvPr>
            <p:ph type="body" sz="quarter" idx="12" hasCustomPrompt="1"/>
          </p:nvPr>
        </p:nvSpPr>
        <p:spPr>
          <a:xfrm>
            <a:off x="695325" y="4653136"/>
            <a:ext cx="1798686" cy="1008062"/>
          </a:xfrm>
          <a:prstGeom prst="rect">
            <a:avLst/>
          </a:prstGeom>
        </p:spPr>
        <p:txBody>
          <a:bodyPr lIns="0">
            <a:normAutofit/>
          </a:bodyPr>
          <a:lstStyle>
            <a:lvl1pPr marL="0" indent="0">
              <a:buNone/>
              <a:defRPr sz="1800">
                <a:solidFill>
                  <a:schemeClr val="bg1"/>
                </a:solidFill>
                <a:latin typeface="Satoshi" pitchFamily="2" charset="77"/>
              </a:defRPr>
            </a:lvl1pPr>
          </a:lstStyle>
          <a:p>
            <a:pPr lvl="0"/>
            <a:r>
              <a:rPr lang="en-US"/>
              <a:t>Additional copy goes here</a:t>
            </a:r>
          </a:p>
        </p:txBody>
      </p:sp>
      <p:sp>
        <p:nvSpPr>
          <p:cNvPr id="32" name="Text Placeholder 29">
            <a:extLst>
              <a:ext uri="{FF2B5EF4-FFF2-40B4-BE49-F238E27FC236}">
                <a16:creationId xmlns:a16="http://schemas.microsoft.com/office/drawing/2014/main" id="{FA4BF887-66D8-124F-A4DF-EF23A35ADA83}"/>
              </a:ext>
            </a:extLst>
          </p:cNvPr>
          <p:cNvSpPr>
            <a:spLocks noGrp="1"/>
          </p:cNvSpPr>
          <p:nvPr>
            <p:ph type="body" sz="quarter" idx="14" hasCustomPrompt="1"/>
          </p:nvPr>
        </p:nvSpPr>
        <p:spPr>
          <a:xfrm>
            <a:off x="3212949" y="4653136"/>
            <a:ext cx="1798686" cy="1008062"/>
          </a:xfrm>
          <a:prstGeom prst="rect">
            <a:avLst/>
          </a:prstGeom>
        </p:spPr>
        <p:txBody>
          <a:bodyPr lIns="0">
            <a:normAutofit/>
          </a:bodyPr>
          <a:lstStyle>
            <a:lvl1pPr marL="0" indent="0">
              <a:buNone/>
              <a:defRPr sz="1800">
                <a:solidFill>
                  <a:schemeClr val="bg1"/>
                </a:solidFill>
                <a:latin typeface="Satoshi" pitchFamily="2" charset="77"/>
              </a:defRPr>
            </a:lvl1pPr>
          </a:lstStyle>
          <a:p>
            <a:pPr lvl="0"/>
            <a:r>
              <a:rPr lang="en-US"/>
              <a:t>Additional copy goes here</a:t>
            </a:r>
          </a:p>
        </p:txBody>
      </p:sp>
      <p:sp>
        <p:nvSpPr>
          <p:cNvPr id="34" name="Text Placeholder 29">
            <a:extLst>
              <a:ext uri="{FF2B5EF4-FFF2-40B4-BE49-F238E27FC236}">
                <a16:creationId xmlns:a16="http://schemas.microsoft.com/office/drawing/2014/main" id="{7DD2F341-9444-6C44-BC60-2BACA49AEFD6}"/>
              </a:ext>
            </a:extLst>
          </p:cNvPr>
          <p:cNvSpPr>
            <a:spLocks noGrp="1"/>
          </p:cNvSpPr>
          <p:nvPr>
            <p:ph type="body" sz="quarter" idx="16" hasCustomPrompt="1"/>
          </p:nvPr>
        </p:nvSpPr>
        <p:spPr>
          <a:xfrm>
            <a:off x="5735638" y="4653136"/>
            <a:ext cx="1798686" cy="1008062"/>
          </a:xfrm>
          <a:prstGeom prst="rect">
            <a:avLst/>
          </a:prstGeom>
        </p:spPr>
        <p:txBody>
          <a:bodyPr lIns="0">
            <a:normAutofit/>
          </a:bodyPr>
          <a:lstStyle>
            <a:lvl1pPr marL="0" indent="0">
              <a:buNone/>
              <a:defRPr sz="1800">
                <a:solidFill>
                  <a:schemeClr val="bg1"/>
                </a:solidFill>
                <a:latin typeface="Satoshi" pitchFamily="2" charset="77"/>
              </a:defRPr>
            </a:lvl1pPr>
          </a:lstStyle>
          <a:p>
            <a:pPr lvl="0"/>
            <a:r>
              <a:rPr lang="en-US"/>
              <a:t>Additional copy goes here</a:t>
            </a:r>
          </a:p>
        </p:txBody>
      </p:sp>
      <p:sp>
        <p:nvSpPr>
          <p:cNvPr id="36" name="Text Placeholder 29">
            <a:extLst>
              <a:ext uri="{FF2B5EF4-FFF2-40B4-BE49-F238E27FC236}">
                <a16:creationId xmlns:a16="http://schemas.microsoft.com/office/drawing/2014/main" id="{85F936DB-5A4A-F741-9509-B4C6C724FB98}"/>
              </a:ext>
            </a:extLst>
          </p:cNvPr>
          <p:cNvSpPr>
            <a:spLocks noGrp="1"/>
          </p:cNvSpPr>
          <p:nvPr>
            <p:ph type="body" sz="quarter" idx="18" hasCustomPrompt="1"/>
          </p:nvPr>
        </p:nvSpPr>
        <p:spPr>
          <a:xfrm>
            <a:off x="8253262" y="4653136"/>
            <a:ext cx="1798686" cy="1008062"/>
          </a:xfrm>
          <a:prstGeom prst="rect">
            <a:avLst/>
          </a:prstGeom>
        </p:spPr>
        <p:txBody>
          <a:bodyPr lIns="0">
            <a:normAutofit/>
          </a:bodyPr>
          <a:lstStyle>
            <a:lvl1pPr marL="0" indent="0">
              <a:buNone/>
              <a:defRPr sz="1800">
                <a:solidFill>
                  <a:schemeClr val="bg1"/>
                </a:solidFill>
                <a:latin typeface="Satoshi" pitchFamily="2" charset="77"/>
              </a:defRPr>
            </a:lvl1pPr>
          </a:lstStyle>
          <a:p>
            <a:pPr lvl="0"/>
            <a:r>
              <a:rPr lang="en-US"/>
              <a:t>Additional copy goes here</a:t>
            </a:r>
          </a:p>
        </p:txBody>
      </p:sp>
      <p:sp>
        <p:nvSpPr>
          <p:cNvPr id="37" name="Text Placeholder 39">
            <a:extLst>
              <a:ext uri="{FF2B5EF4-FFF2-40B4-BE49-F238E27FC236}">
                <a16:creationId xmlns:a16="http://schemas.microsoft.com/office/drawing/2014/main" id="{C2002ABE-FD3B-AE45-9535-8957AC65DA34}"/>
              </a:ext>
            </a:extLst>
          </p:cNvPr>
          <p:cNvSpPr>
            <a:spLocks noGrp="1"/>
          </p:cNvSpPr>
          <p:nvPr>
            <p:ph type="body" sz="quarter" idx="19" hasCustomPrompt="1"/>
          </p:nvPr>
        </p:nvSpPr>
        <p:spPr>
          <a:xfrm>
            <a:off x="693791" y="4217454"/>
            <a:ext cx="1805085" cy="291666"/>
          </a:xfrm>
          <a:prstGeom prst="rect">
            <a:avLst/>
          </a:prstGeom>
        </p:spPr>
        <p:txBody>
          <a:bodyPr lIns="0" anchor="t">
            <a:normAutofit/>
          </a:bodyPr>
          <a:lstStyle>
            <a:lvl1pPr marL="0" indent="0">
              <a:buNone/>
              <a:defRPr sz="1800" b="1">
                <a:solidFill>
                  <a:schemeClr val="bg1"/>
                </a:solidFill>
                <a:latin typeface="Satoshi" pitchFamily="2" charset="77"/>
              </a:defRPr>
            </a:lvl1pPr>
          </a:lstStyle>
          <a:p>
            <a:pPr lvl="0"/>
            <a:r>
              <a:rPr lang="en-US"/>
              <a:t>POINT ONE</a:t>
            </a:r>
          </a:p>
        </p:txBody>
      </p:sp>
      <p:sp>
        <p:nvSpPr>
          <p:cNvPr id="38" name="Text Placeholder 39">
            <a:extLst>
              <a:ext uri="{FF2B5EF4-FFF2-40B4-BE49-F238E27FC236}">
                <a16:creationId xmlns:a16="http://schemas.microsoft.com/office/drawing/2014/main" id="{057DFFC2-D835-4247-BDE5-CA517477F961}"/>
              </a:ext>
            </a:extLst>
          </p:cNvPr>
          <p:cNvSpPr>
            <a:spLocks noGrp="1"/>
          </p:cNvSpPr>
          <p:nvPr>
            <p:ph type="body" sz="quarter" idx="20" hasCustomPrompt="1"/>
          </p:nvPr>
        </p:nvSpPr>
        <p:spPr>
          <a:xfrm>
            <a:off x="3209749" y="4217454"/>
            <a:ext cx="1805085" cy="291666"/>
          </a:xfrm>
          <a:prstGeom prst="rect">
            <a:avLst/>
          </a:prstGeom>
        </p:spPr>
        <p:txBody>
          <a:bodyPr lIns="0" anchor="t">
            <a:normAutofit/>
          </a:bodyPr>
          <a:lstStyle>
            <a:lvl1pPr marL="0" indent="0">
              <a:buNone/>
              <a:defRPr sz="1800" b="1">
                <a:solidFill>
                  <a:schemeClr val="bg1"/>
                </a:solidFill>
                <a:latin typeface="Satoshi" pitchFamily="2" charset="77"/>
              </a:defRPr>
            </a:lvl1pPr>
          </a:lstStyle>
          <a:p>
            <a:pPr lvl="0"/>
            <a:r>
              <a:rPr lang="en-US"/>
              <a:t>POINT TWO</a:t>
            </a:r>
          </a:p>
        </p:txBody>
      </p:sp>
      <p:sp>
        <p:nvSpPr>
          <p:cNvPr id="39" name="Text Placeholder 39">
            <a:extLst>
              <a:ext uri="{FF2B5EF4-FFF2-40B4-BE49-F238E27FC236}">
                <a16:creationId xmlns:a16="http://schemas.microsoft.com/office/drawing/2014/main" id="{9F0E5492-C4B4-044C-AB3A-26E700347C7A}"/>
              </a:ext>
            </a:extLst>
          </p:cNvPr>
          <p:cNvSpPr>
            <a:spLocks noGrp="1"/>
          </p:cNvSpPr>
          <p:nvPr>
            <p:ph type="body" sz="quarter" idx="21" hasCustomPrompt="1"/>
          </p:nvPr>
        </p:nvSpPr>
        <p:spPr>
          <a:xfrm>
            <a:off x="5734103" y="4217454"/>
            <a:ext cx="1805085" cy="291666"/>
          </a:xfrm>
          <a:prstGeom prst="rect">
            <a:avLst/>
          </a:prstGeom>
        </p:spPr>
        <p:txBody>
          <a:bodyPr lIns="0" anchor="t">
            <a:normAutofit/>
          </a:bodyPr>
          <a:lstStyle>
            <a:lvl1pPr marL="0" indent="0">
              <a:buNone/>
              <a:defRPr sz="1800" b="1">
                <a:solidFill>
                  <a:schemeClr val="bg1"/>
                </a:solidFill>
                <a:latin typeface="Satoshi" pitchFamily="2" charset="77"/>
              </a:defRPr>
            </a:lvl1pPr>
          </a:lstStyle>
          <a:p>
            <a:pPr lvl="0"/>
            <a:r>
              <a:rPr lang="en-US"/>
              <a:t>POINT THREE</a:t>
            </a:r>
          </a:p>
        </p:txBody>
      </p:sp>
      <p:sp>
        <p:nvSpPr>
          <p:cNvPr id="40" name="Text Placeholder 39">
            <a:extLst>
              <a:ext uri="{FF2B5EF4-FFF2-40B4-BE49-F238E27FC236}">
                <a16:creationId xmlns:a16="http://schemas.microsoft.com/office/drawing/2014/main" id="{2F9C5268-8310-8944-9BA2-B9269CE2BCBD}"/>
              </a:ext>
            </a:extLst>
          </p:cNvPr>
          <p:cNvSpPr>
            <a:spLocks noGrp="1"/>
          </p:cNvSpPr>
          <p:nvPr>
            <p:ph type="body" sz="quarter" idx="22" hasCustomPrompt="1"/>
          </p:nvPr>
        </p:nvSpPr>
        <p:spPr>
          <a:xfrm>
            <a:off x="8250062" y="4217454"/>
            <a:ext cx="1805085" cy="291666"/>
          </a:xfrm>
          <a:prstGeom prst="rect">
            <a:avLst/>
          </a:prstGeom>
        </p:spPr>
        <p:txBody>
          <a:bodyPr lIns="0" anchor="t">
            <a:normAutofit/>
          </a:bodyPr>
          <a:lstStyle>
            <a:lvl1pPr marL="0" indent="0">
              <a:buNone/>
              <a:defRPr sz="1800" b="1">
                <a:solidFill>
                  <a:schemeClr val="bg1"/>
                </a:solidFill>
                <a:latin typeface="Satoshi" pitchFamily="2" charset="77"/>
              </a:defRPr>
            </a:lvl1pPr>
          </a:lstStyle>
          <a:p>
            <a:pPr lvl="0"/>
            <a:r>
              <a:rPr lang="en-US"/>
              <a:t>POINT FOUR</a:t>
            </a:r>
          </a:p>
        </p:txBody>
      </p:sp>
      <p:pic>
        <p:nvPicPr>
          <p:cNvPr id="42" name="Graphic 41">
            <a:extLst>
              <a:ext uri="{FF2B5EF4-FFF2-40B4-BE49-F238E27FC236}">
                <a16:creationId xmlns:a16="http://schemas.microsoft.com/office/drawing/2014/main" id="{700533D5-3BFB-9A4A-9237-028939CB68E6}"/>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1364" y="6261360"/>
            <a:ext cx="615616" cy="247956"/>
          </a:xfrm>
          <a:prstGeom prst="rect">
            <a:avLst/>
          </a:prstGeom>
        </p:spPr>
      </p:pic>
      <p:sp>
        <p:nvSpPr>
          <p:cNvPr id="43" name="Rectangle 42">
            <a:extLst>
              <a:ext uri="{FF2B5EF4-FFF2-40B4-BE49-F238E27FC236}">
                <a16:creationId xmlns:a16="http://schemas.microsoft.com/office/drawing/2014/main" id="{4964A1C9-635F-8F44-90FD-E214566C8014}"/>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
        <p:nvSpPr>
          <p:cNvPr id="44" name="Rectangle 43">
            <a:extLst>
              <a:ext uri="{FF2B5EF4-FFF2-40B4-BE49-F238E27FC236}">
                <a16:creationId xmlns:a16="http://schemas.microsoft.com/office/drawing/2014/main" id="{D4D19A5B-0C8C-6742-A133-1A8D83FDCF38}"/>
              </a:ext>
            </a:extLst>
          </p:cNvPr>
          <p:cNvSpPr/>
          <p:nvPr userDrawn="1"/>
        </p:nvSpPr>
        <p:spPr>
          <a:xfrm>
            <a:off x="0" y="-1"/>
            <a:ext cx="12192000" cy="188913"/>
          </a:xfrm>
          <a:prstGeom prst="rect">
            <a:avLst/>
          </a:prstGeom>
          <a:solidFill>
            <a:srgbClr val="34E82A"/>
          </a:solidFill>
          <a:ln>
            <a:solidFill>
              <a:srgbClr val="34E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A5E12"/>
              </a:solidFill>
            </a:endParaRPr>
          </a:p>
        </p:txBody>
      </p:sp>
    </p:spTree>
    <p:extLst>
      <p:ext uri="{BB962C8B-B14F-4D97-AF65-F5344CB8AC3E}">
        <p14:creationId xmlns:p14="http://schemas.microsoft.com/office/powerpoint/2010/main" val="1333296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2L Team">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91C860F-C6E8-3D48-892E-44025643A2A3}"/>
              </a:ext>
            </a:extLst>
          </p:cNvPr>
          <p:cNvSpPr txBox="1"/>
          <p:nvPr userDrawn="1"/>
        </p:nvSpPr>
        <p:spPr>
          <a:xfrm>
            <a:off x="695325" y="764704"/>
            <a:ext cx="2879726" cy="1231106"/>
          </a:xfrm>
          <a:prstGeom prst="rect">
            <a:avLst/>
          </a:prstGeom>
          <a:noFill/>
        </p:spPr>
        <p:txBody>
          <a:bodyPr wrap="square" lIns="0" tIns="0" rIns="0" bIns="0" rtlCol="0" anchor="t">
            <a:spAutoFit/>
          </a:bodyPr>
          <a:lstStyle/>
          <a:p>
            <a:r>
              <a:rPr lang="en-US" sz="4000" spc="0" dirty="0">
                <a:latin typeface="Times" pitchFamily="2" charset="0"/>
              </a:rPr>
              <a:t>Meet Your D2L Team</a:t>
            </a:r>
          </a:p>
        </p:txBody>
      </p:sp>
      <p:sp>
        <p:nvSpPr>
          <p:cNvPr id="9" name="Rectangle 8">
            <a:extLst>
              <a:ext uri="{FF2B5EF4-FFF2-40B4-BE49-F238E27FC236}">
                <a16:creationId xmlns:a16="http://schemas.microsoft.com/office/drawing/2014/main" id="{B4223A3C-FE19-A84A-9C6C-1A5B84FA9AD2}"/>
              </a:ext>
            </a:extLst>
          </p:cNvPr>
          <p:cNvSpPr/>
          <p:nvPr userDrawn="1"/>
        </p:nvSpPr>
        <p:spPr>
          <a:xfrm>
            <a:off x="0" y="0"/>
            <a:ext cx="12192000" cy="116632"/>
          </a:xfrm>
          <a:prstGeom prst="rect">
            <a:avLst/>
          </a:prstGeom>
          <a:solidFill>
            <a:srgbClr val="34E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80AAAC72-02B2-9B49-B4BC-7232EA715072}"/>
              </a:ext>
            </a:extLst>
          </p:cNvPr>
          <p:cNvSpPr txBox="1"/>
          <p:nvPr userDrawn="1"/>
        </p:nvSpPr>
        <p:spPr>
          <a:xfrm>
            <a:off x="4633645" y="-750013"/>
            <a:ext cx="184731" cy="369332"/>
          </a:xfrm>
          <a:prstGeom prst="rect">
            <a:avLst/>
          </a:prstGeom>
          <a:noFill/>
        </p:spPr>
        <p:txBody>
          <a:bodyPr wrap="none" rtlCol="0">
            <a:spAutoFit/>
          </a:bodyPr>
          <a:lstStyle/>
          <a:p>
            <a:endParaRPr lang="en-US" dirty="0"/>
          </a:p>
        </p:txBody>
      </p:sp>
      <p:sp>
        <p:nvSpPr>
          <p:cNvPr id="17" name="Rectangle 16">
            <a:extLst>
              <a:ext uri="{FF2B5EF4-FFF2-40B4-BE49-F238E27FC236}">
                <a16:creationId xmlns:a16="http://schemas.microsoft.com/office/drawing/2014/main" id="{4248AA07-9545-9E45-BC83-13EE5A82DF6B}"/>
              </a:ext>
            </a:extLst>
          </p:cNvPr>
          <p:cNvSpPr/>
          <p:nvPr userDrawn="1"/>
        </p:nvSpPr>
        <p:spPr>
          <a:xfrm>
            <a:off x="0" y="-1"/>
            <a:ext cx="12192000" cy="188913"/>
          </a:xfrm>
          <a:prstGeom prst="rect">
            <a:avLst/>
          </a:prstGeom>
          <a:solidFill>
            <a:srgbClr val="34E8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 Placeholder 39">
            <a:extLst>
              <a:ext uri="{FF2B5EF4-FFF2-40B4-BE49-F238E27FC236}">
                <a16:creationId xmlns:a16="http://schemas.microsoft.com/office/drawing/2014/main" id="{E9C5CB52-CA35-C140-9FC1-F037F46F33EC}"/>
              </a:ext>
            </a:extLst>
          </p:cNvPr>
          <p:cNvSpPr>
            <a:spLocks noGrp="1"/>
          </p:cNvSpPr>
          <p:nvPr>
            <p:ph type="body" sz="quarter" idx="14" hasCustomPrompt="1"/>
          </p:nvPr>
        </p:nvSpPr>
        <p:spPr>
          <a:xfrm>
            <a:off x="3938561" y="2821449"/>
            <a:ext cx="2154458" cy="247190"/>
          </a:xfrm>
          <a:prstGeom prst="rect">
            <a:avLst/>
          </a:prstGeom>
        </p:spPr>
        <p:txBody>
          <a:bodyPr lIns="0" tIns="0" anchor="t">
            <a:normAutofit/>
          </a:bodyPr>
          <a:lstStyle>
            <a:lvl1pPr marL="0" indent="0">
              <a:buNone/>
              <a:defRPr sz="1600" b="1">
                <a:solidFill>
                  <a:schemeClr val="accent1"/>
                </a:solidFill>
                <a:latin typeface="Satoshi" pitchFamily="2" charset="77"/>
              </a:defRPr>
            </a:lvl1pPr>
          </a:lstStyle>
          <a:p>
            <a:pPr lvl="0"/>
            <a:r>
              <a:rPr lang="en-US"/>
              <a:t>Name</a:t>
            </a:r>
          </a:p>
        </p:txBody>
      </p:sp>
      <p:sp>
        <p:nvSpPr>
          <p:cNvPr id="29" name="Text Placeholder 39">
            <a:extLst>
              <a:ext uri="{FF2B5EF4-FFF2-40B4-BE49-F238E27FC236}">
                <a16:creationId xmlns:a16="http://schemas.microsoft.com/office/drawing/2014/main" id="{92ABD899-FDCC-024C-856E-9743C2BAAE5C}"/>
              </a:ext>
            </a:extLst>
          </p:cNvPr>
          <p:cNvSpPr>
            <a:spLocks noGrp="1"/>
          </p:cNvSpPr>
          <p:nvPr>
            <p:ph type="body" sz="quarter" idx="15" hasCustomPrompt="1"/>
          </p:nvPr>
        </p:nvSpPr>
        <p:spPr>
          <a:xfrm>
            <a:off x="3938561" y="3110116"/>
            <a:ext cx="2157439" cy="334136"/>
          </a:xfrm>
          <a:prstGeom prst="rect">
            <a:avLst/>
          </a:prstGeom>
        </p:spPr>
        <p:txBody>
          <a:bodyPr lIns="0" tIns="0" anchor="t">
            <a:normAutofit/>
          </a:bodyPr>
          <a:lstStyle>
            <a:lvl1pPr marL="0" indent="0">
              <a:buNone/>
              <a:defRPr sz="1600" b="0">
                <a:solidFill>
                  <a:schemeClr val="tx1"/>
                </a:solidFill>
                <a:latin typeface="Satoshi" pitchFamily="2" charset="77"/>
              </a:defRPr>
            </a:lvl1pPr>
          </a:lstStyle>
          <a:p>
            <a:pPr lvl="0"/>
            <a:r>
              <a:rPr lang="en-US"/>
              <a:t>Position</a:t>
            </a:r>
          </a:p>
        </p:txBody>
      </p:sp>
      <p:sp>
        <p:nvSpPr>
          <p:cNvPr id="30" name="Text Placeholder 39">
            <a:extLst>
              <a:ext uri="{FF2B5EF4-FFF2-40B4-BE49-F238E27FC236}">
                <a16:creationId xmlns:a16="http://schemas.microsoft.com/office/drawing/2014/main" id="{4A4071A3-A5A0-AA42-89EE-677D64C60615}"/>
              </a:ext>
            </a:extLst>
          </p:cNvPr>
          <p:cNvSpPr>
            <a:spLocks noGrp="1"/>
          </p:cNvSpPr>
          <p:nvPr>
            <p:ph type="body" sz="quarter" idx="16" hasCustomPrompt="1"/>
          </p:nvPr>
        </p:nvSpPr>
        <p:spPr>
          <a:xfrm>
            <a:off x="6641206" y="2821449"/>
            <a:ext cx="2154457" cy="247190"/>
          </a:xfrm>
          <a:prstGeom prst="rect">
            <a:avLst/>
          </a:prstGeom>
        </p:spPr>
        <p:txBody>
          <a:bodyPr lIns="0" tIns="0" anchor="t">
            <a:normAutofit/>
          </a:bodyPr>
          <a:lstStyle>
            <a:lvl1pPr marL="0" indent="0">
              <a:buNone/>
              <a:defRPr sz="1600" b="1">
                <a:solidFill>
                  <a:schemeClr val="accent1"/>
                </a:solidFill>
                <a:latin typeface="Satoshi" pitchFamily="2" charset="77"/>
              </a:defRPr>
            </a:lvl1pPr>
          </a:lstStyle>
          <a:p>
            <a:pPr lvl="0"/>
            <a:r>
              <a:rPr lang="en-US"/>
              <a:t>Name</a:t>
            </a:r>
          </a:p>
        </p:txBody>
      </p:sp>
      <p:sp>
        <p:nvSpPr>
          <p:cNvPr id="31" name="Text Placeholder 39">
            <a:extLst>
              <a:ext uri="{FF2B5EF4-FFF2-40B4-BE49-F238E27FC236}">
                <a16:creationId xmlns:a16="http://schemas.microsoft.com/office/drawing/2014/main" id="{09DD890F-A183-3149-AC12-EB33C8AB44E3}"/>
              </a:ext>
            </a:extLst>
          </p:cNvPr>
          <p:cNvSpPr>
            <a:spLocks noGrp="1"/>
          </p:cNvSpPr>
          <p:nvPr>
            <p:ph type="body" sz="quarter" idx="17" hasCustomPrompt="1"/>
          </p:nvPr>
        </p:nvSpPr>
        <p:spPr>
          <a:xfrm>
            <a:off x="6641206" y="3110116"/>
            <a:ext cx="2157439" cy="334136"/>
          </a:xfrm>
          <a:prstGeom prst="rect">
            <a:avLst/>
          </a:prstGeom>
        </p:spPr>
        <p:txBody>
          <a:bodyPr lIns="0" tIns="0" anchor="t">
            <a:normAutofit/>
          </a:bodyPr>
          <a:lstStyle>
            <a:lvl1pPr marL="0" indent="0">
              <a:buNone/>
              <a:defRPr sz="1600" b="0">
                <a:solidFill>
                  <a:schemeClr val="tx1"/>
                </a:solidFill>
                <a:latin typeface="Satoshi" pitchFamily="2" charset="77"/>
              </a:defRPr>
            </a:lvl1pPr>
          </a:lstStyle>
          <a:p>
            <a:pPr lvl="0"/>
            <a:r>
              <a:rPr lang="en-US"/>
              <a:t>Position</a:t>
            </a:r>
          </a:p>
        </p:txBody>
      </p:sp>
      <p:sp>
        <p:nvSpPr>
          <p:cNvPr id="32" name="Text Placeholder 39">
            <a:extLst>
              <a:ext uri="{FF2B5EF4-FFF2-40B4-BE49-F238E27FC236}">
                <a16:creationId xmlns:a16="http://schemas.microsoft.com/office/drawing/2014/main" id="{4CCBFA9A-3A38-FF4D-AA86-F1D453CCF9F7}"/>
              </a:ext>
            </a:extLst>
          </p:cNvPr>
          <p:cNvSpPr>
            <a:spLocks noGrp="1"/>
          </p:cNvSpPr>
          <p:nvPr>
            <p:ph type="body" sz="quarter" idx="18" hasCustomPrompt="1"/>
          </p:nvPr>
        </p:nvSpPr>
        <p:spPr>
          <a:xfrm>
            <a:off x="9336360" y="2821449"/>
            <a:ext cx="2160316" cy="247190"/>
          </a:xfrm>
          <a:prstGeom prst="rect">
            <a:avLst/>
          </a:prstGeom>
        </p:spPr>
        <p:txBody>
          <a:bodyPr lIns="0" tIns="0" anchor="t">
            <a:normAutofit/>
          </a:bodyPr>
          <a:lstStyle>
            <a:lvl1pPr marL="0" indent="0">
              <a:buNone/>
              <a:defRPr sz="1600" b="1">
                <a:solidFill>
                  <a:schemeClr val="accent1"/>
                </a:solidFill>
                <a:latin typeface="Satoshi" pitchFamily="2" charset="77"/>
              </a:defRPr>
            </a:lvl1pPr>
          </a:lstStyle>
          <a:p>
            <a:pPr lvl="0"/>
            <a:r>
              <a:rPr lang="en-US"/>
              <a:t>Name</a:t>
            </a:r>
          </a:p>
        </p:txBody>
      </p:sp>
      <p:sp>
        <p:nvSpPr>
          <p:cNvPr id="33" name="Text Placeholder 39">
            <a:extLst>
              <a:ext uri="{FF2B5EF4-FFF2-40B4-BE49-F238E27FC236}">
                <a16:creationId xmlns:a16="http://schemas.microsoft.com/office/drawing/2014/main" id="{4D03B7BD-0864-0945-96F3-78940EBF2C63}"/>
              </a:ext>
            </a:extLst>
          </p:cNvPr>
          <p:cNvSpPr>
            <a:spLocks noGrp="1"/>
          </p:cNvSpPr>
          <p:nvPr>
            <p:ph type="body" sz="quarter" idx="19" hasCustomPrompt="1"/>
          </p:nvPr>
        </p:nvSpPr>
        <p:spPr>
          <a:xfrm>
            <a:off x="9336360" y="3110116"/>
            <a:ext cx="2157439" cy="334136"/>
          </a:xfrm>
          <a:prstGeom prst="rect">
            <a:avLst/>
          </a:prstGeom>
        </p:spPr>
        <p:txBody>
          <a:bodyPr lIns="0" tIns="0" anchor="t">
            <a:normAutofit/>
          </a:bodyPr>
          <a:lstStyle>
            <a:lvl1pPr marL="0" indent="0">
              <a:buNone/>
              <a:defRPr sz="1600" b="0">
                <a:solidFill>
                  <a:schemeClr val="tx1"/>
                </a:solidFill>
                <a:latin typeface="Satoshi" pitchFamily="2" charset="77"/>
              </a:defRPr>
            </a:lvl1pPr>
          </a:lstStyle>
          <a:p>
            <a:pPr lvl="0"/>
            <a:r>
              <a:rPr lang="en-US"/>
              <a:t>Position</a:t>
            </a:r>
          </a:p>
        </p:txBody>
      </p:sp>
      <p:sp>
        <p:nvSpPr>
          <p:cNvPr id="41" name="Picture Placeholder 40">
            <a:extLst>
              <a:ext uri="{FF2B5EF4-FFF2-40B4-BE49-F238E27FC236}">
                <a16:creationId xmlns:a16="http://schemas.microsoft.com/office/drawing/2014/main" id="{6C4E22DE-66C5-394B-99B7-F195522A9C82}"/>
              </a:ext>
            </a:extLst>
          </p:cNvPr>
          <p:cNvSpPr>
            <a:spLocks noGrp="1"/>
          </p:cNvSpPr>
          <p:nvPr>
            <p:ph type="pic" sz="quarter" idx="26" hasCustomPrompt="1"/>
          </p:nvPr>
        </p:nvSpPr>
        <p:spPr>
          <a:xfrm>
            <a:off x="3941541" y="536870"/>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sp>
        <p:nvSpPr>
          <p:cNvPr id="42" name="Picture Placeholder 40">
            <a:extLst>
              <a:ext uri="{FF2B5EF4-FFF2-40B4-BE49-F238E27FC236}">
                <a16:creationId xmlns:a16="http://schemas.microsoft.com/office/drawing/2014/main" id="{BA99D4BE-8076-C74F-85A3-F91CF0152C75}"/>
              </a:ext>
            </a:extLst>
          </p:cNvPr>
          <p:cNvSpPr>
            <a:spLocks noGrp="1"/>
          </p:cNvSpPr>
          <p:nvPr>
            <p:ph type="pic" sz="quarter" idx="27" hasCustomPrompt="1"/>
          </p:nvPr>
        </p:nvSpPr>
        <p:spPr>
          <a:xfrm>
            <a:off x="6641206" y="536870"/>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sp>
        <p:nvSpPr>
          <p:cNvPr id="43" name="Picture Placeholder 40">
            <a:extLst>
              <a:ext uri="{FF2B5EF4-FFF2-40B4-BE49-F238E27FC236}">
                <a16:creationId xmlns:a16="http://schemas.microsoft.com/office/drawing/2014/main" id="{EBD67392-4BFD-184E-8ECF-A7FBE578D693}"/>
              </a:ext>
            </a:extLst>
          </p:cNvPr>
          <p:cNvSpPr>
            <a:spLocks noGrp="1"/>
          </p:cNvSpPr>
          <p:nvPr>
            <p:ph type="pic" sz="quarter" idx="28" hasCustomPrompt="1"/>
          </p:nvPr>
        </p:nvSpPr>
        <p:spPr>
          <a:xfrm>
            <a:off x="9336360" y="536870"/>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sp>
        <p:nvSpPr>
          <p:cNvPr id="44" name="Text Placeholder 39">
            <a:extLst>
              <a:ext uri="{FF2B5EF4-FFF2-40B4-BE49-F238E27FC236}">
                <a16:creationId xmlns:a16="http://schemas.microsoft.com/office/drawing/2014/main" id="{BFEC3079-9E10-B244-9544-DFA1654D7F47}"/>
              </a:ext>
            </a:extLst>
          </p:cNvPr>
          <p:cNvSpPr>
            <a:spLocks noGrp="1"/>
          </p:cNvSpPr>
          <p:nvPr>
            <p:ph type="body" sz="quarter" idx="29" hasCustomPrompt="1"/>
          </p:nvPr>
        </p:nvSpPr>
        <p:spPr>
          <a:xfrm>
            <a:off x="3938561" y="5929603"/>
            <a:ext cx="2154458" cy="247190"/>
          </a:xfrm>
          <a:prstGeom prst="rect">
            <a:avLst/>
          </a:prstGeom>
        </p:spPr>
        <p:txBody>
          <a:bodyPr lIns="0" tIns="0" anchor="t">
            <a:normAutofit/>
          </a:bodyPr>
          <a:lstStyle>
            <a:lvl1pPr marL="0" indent="0">
              <a:buNone/>
              <a:defRPr sz="1600" b="1">
                <a:solidFill>
                  <a:schemeClr val="accent1"/>
                </a:solidFill>
                <a:latin typeface="Satoshi" pitchFamily="2" charset="77"/>
              </a:defRPr>
            </a:lvl1pPr>
          </a:lstStyle>
          <a:p>
            <a:pPr lvl="0"/>
            <a:r>
              <a:rPr lang="en-US"/>
              <a:t>Name</a:t>
            </a:r>
          </a:p>
        </p:txBody>
      </p:sp>
      <p:sp>
        <p:nvSpPr>
          <p:cNvPr id="45" name="Text Placeholder 39">
            <a:extLst>
              <a:ext uri="{FF2B5EF4-FFF2-40B4-BE49-F238E27FC236}">
                <a16:creationId xmlns:a16="http://schemas.microsoft.com/office/drawing/2014/main" id="{C951EE76-A914-1F49-BD2A-550B2E226348}"/>
              </a:ext>
            </a:extLst>
          </p:cNvPr>
          <p:cNvSpPr>
            <a:spLocks noGrp="1"/>
          </p:cNvSpPr>
          <p:nvPr>
            <p:ph type="body" sz="quarter" idx="30" hasCustomPrompt="1"/>
          </p:nvPr>
        </p:nvSpPr>
        <p:spPr>
          <a:xfrm>
            <a:off x="3938561" y="6218270"/>
            <a:ext cx="2157439" cy="334136"/>
          </a:xfrm>
          <a:prstGeom prst="rect">
            <a:avLst/>
          </a:prstGeom>
        </p:spPr>
        <p:txBody>
          <a:bodyPr lIns="0" tIns="0" anchor="t">
            <a:normAutofit/>
          </a:bodyPr>
          <a:lstStyle>
            <a:lvl1pPr marL="0" indent="0">
              <a:buNone/>
              <a:defRPr sz="1600" b="0">
                <a:solidFill>
                  <a:schemeClr val="tx1"/>
                </a:solidFill>
                <a:latin typeface="Satoshi" pitchFamily="2" charset="77"/>
              </a:defRPr>
            </a:lvl1pPr>
          </a:lstStyle>
          <a:p>
            <a:pPr lvl="0"/>
            <a:r>
              <a:rPr lang="en-US"/>
              <a:t>Position</a:t>
            </a:r>
          </a:p>
        </p:txBody>
      </p:sp>
      <p:sp>
        <p:nvSpPr>
          <p:cNvPr id="46" name="Text Placeholder 39">
            <a:extLst>
              <a:ext uri="{FF2B5EF4-FFF2-40B4-BE49-F238E27FC236}">
                <a16:creationId xmlns:a16="http://schemas.microsoft.com/office/drawing/2014/main" id="{D23BBFBA-A902-314E-A834-FC353F695ECB}"/>
              </a:ext>
            </a:extLst>
          </p:cNvPr>
          <p:cNvSpPr>
            <a:spLocks noGrp="1"/>
          </p:cNvSpPr>
          <p:nvPr>
            <p:ph type="body" sz="quarter" idx="31" hasCustomPrompt="1"/>
          </p:nvPr>
        </p:nvSpPr>
        <p:spPr>
          <a:xfrm>
            <a:off x="6641206" y="5929603"/>
            <a:ext cx="2154457" cy="247190"/>
          </a:xfrm>
          <a:prstGeom prst="rect">
            <a:avLst/>
          </a:prstGeom>
        </p:spPr>
        <p:txBody>
          <a:bodyPr lIns="0" tIns="0" anchor="t">
            <a:normAutofit/>
          </a:bodyPr>
          <a:lstStyle>
            <a:lvl1pPr marL="0" indent="0">
              <a:buNone/>
              <a:defRPr sz="1600" b="1">
                <a:solidFill>
                  <a:schemeClr val="accent1"/>
                </a:solidFill>
                <a:latin typeface="Satoshi" pitchFamily="2" charset="77"/>
              </a:defRPr>
            </a:lvl1pPr>
          </a:lstStyle>
          <a:p>
            <a:pPr lvl="0"/>
            <a:r>
              <a:rPr lang="en-US"/>
              <a:t>Name</a:t>
            </a:r>
          </a:p>
        </p:txBody>
      </p:sp>
      <p:sp>
        <p:nvSpPr>
          <p:cNvPr id="47" name="Text Placeholder 39">
            <a:extLst>
              <a:ext uri="{FF2B5EF4-FFF2-40B4-BE49-F238E27FC236}">
                <a16:creationId xmlns:a16="http://schemas.microsoft.com/office/drawing/2014/main" id="{C2161FE8-0E56-F946-8CDC-53B1654CC138}"/>
              </a:ext>
            </a:extLst>
          </p:cNvPr>
          <p:cNvSpPr>
            <a:spLocks noGrp="1"/>
          </p:cNvSpPr>
          <p:nvPr>
            <p:ph type="body" sz="quarter" idx="32" hasCustomPrompt="1"/>
          </p:nvPr>
        </p:nvSpPr>
        <p:spPr>
          <a:xfrm>
            <a:off x="6641206" y="6218270"/>
            <a:ext cx="2157439" cy="334136"/>
          </a:xfrm>
          <a:prstGeom prst="rect">
            <a:avLst/>
          </a:prstGeom>
        </p:spPr>
        <p:txBody>
          <a:bodyPr lIns="0" tIns="0" anchor="t">
            <a:normAutofit/>
          </a:bodyPr>
          <a:lstStyle>
            <a:lvl1pPr marL="0" indent="0">
              <a:buNone/>
              <a:defRPr sz="1600" b="0">
                <a:solidFill>
                  <a:schemeClr val="tx1"/>
                </a:solidFill>
                <a:latin typeface="Satoshi" pitchFamily="2" charset="77"/>
              </a:defRPr>
            </a:lvl1pPr>
          </a:lstStyle>
          <a:p>
            <a:pPr lvl="0"/>
            <a:r>
              <a:rPr lang="en-US"/>
              <a:t>Position</a:t>
            </a:r>
          </a:p>
        </p:txBody>
      </p:sp>
      <p:sp>
        <p:nvSpPr>
          <p:cNvPr id="48" name="Text Placeholder 39">
            <a:extLst>
              <a:ext uri="{FF2B5EF4-FFF2-40B4-BE49-F238E27FC236}">
                <a16:creationId xmlns:a16="http://schemas.microsoft.com/office/drawing/2014/main" id="{9635FF54-1C7B-D24B-854D-634F2350A657}"/>
              </a:ext>
            </a:extLst>
          </p:cNvPr>
          <p:cNvSpPr>
            <a:spLocks noGrp="1"/>
          </p:cNvSpPr>
          <p:nvPr>
            <p:ph type="body" sz="quarter" idx="33" hasCustomPrompt="1"/>
          </p:nvPr>
        </p:nvSpPr>
        <p:spPr>
          <a:xfrm>
            <a:off x="9336360" y="5929603"/>
            <a:ext cx="2160316" cy="247190"/>
          </a:xfrm>
          <a:prstGeom prst="rect">
            <a:avLst/>
          </a:prstGeom>
        </p:spPr>
        <p:txBody>
          <a:bodyPr lIns="0" tIns="0" anchor="t">
            <a:normAutofit/>
          </a:bodyPr>
          <a:lstStyle>
            <a:lvl1pPr marL="0" indent="0">
              <a:buNone/>
              <a:defRPr sz="1600" b="1">
                <a:solidFill>
                  <a:schemeClr val="accent1"/>
                </a:solidFill>
                <a:latin typeface="Satoshi" pitchFamily="2" charset="77"/>
              </a:defRPr>
            </a:lvl1pPr>
          </a:lstStyle>
          <a:p>
            <a:pPr lvl="0"/>
            <a:r>
              <a:rPr lang="en-US"/>
              <a:t>Name</a:t>
            </a:r>
          </a:p>
        </p:txBody>
      </p:sp>
      <p:sp>
        <p:nvSpPr>
          <p:cNvPr id="49" name="Text Placeholder 39">
            <a:extLst>
              <a:ext uri="{FF2B5EF4-FFF2-40B4-BE49-F238E27FC236}">
                <a16:creationId xmlns:a16="http://schemas.microsoft.com/office/drawing/2014/main" id="{69868565-7FCE-1442-8DBF-2E0DC6584F35}"/>
              </a:ext>
            </a:extLst>
          </p:cNvPr>
          <p:cNvSpPr>
            <a:spLocks noGrp="1"/>
          </p:cNvSpPr>
          <p:nvPr>
            <p:ph type="body" sz="quarter" idx="34" hasCustomPrompt="1"/>
          </p:nvPr>
        </p:nvSpPr>
        <p:spPr>
          <a:xfrm>
            <a:off x="9336360" y="6218270"/>
            <a:ext cx="2157439" cy="334136"/>
          </a:xfrm>
          <a:prstGeom prst="rect">
            <a:avLst/>
          </a:prstGeom>
        </p:spPr>
        <p:txBody>
          <a:bodyPr lIns="0" tIns="0" anchor="t">
            <a:normAutofit/>
          </a:bodyPr>
          <a:lstStyle>
            <a:lvl1pPr marL="0" indent="0">
              <a:buNone/>
              <a:defRPr sz="1600" b="0">
                <a:solidFill>
                  <a:schemeClr val="tx1"/>
                </a:solidFill>
                <a:latin typeface="Satoshi" pitchFamily="2" charset="77"/>
              </a:defRPr>
            </a:lvl1pPr>
          </a:lstStyle>
          <a:p>
            <a:pPr lvl="0"/>
            <a:r>
              <a:rPr lang="en-US"/>
              <a:t>Position</a:t>
            </a:r>
          </a:p>
        </p:txBody>
      </p:sp>
      <p:sp>
        <p:nvSpPr>
          <p:cNvPr id="50" name="Picture Placeholder 40">
            <a:extLst>
              <a:ext uri="{FF2B5EF4-FFF2-40B4-BE49-F238E27FC236}">
                <a16:creationId xmlns:a16="http://schemas.microsoft.com/office/drawing/2014/main" id="{8B92320B-FC9B-FA4C-BE78-5330359D5219}"/>
              </a:ext>
            </a:extLst>
          </p:cNvPr>
          <p:cNvSpPr>
            <a:spLocks noGrp="1"/>
          </p:cNvSpPr>
          <p:nvPr>
            <p:ph type="pic" sz="quarter" idx="35" hasCustomPrompt="1"/>
          </p:nvPr>
        </p:nvSpPr>
        <p:spPr>
          <a:xfrm>
            <a:off x="3941541" y="3645024"/>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sp>
        <p:nvSpPr>
          <p:cNvPr id="51" name="Picture Placeholder 40">
            <a:extLst>
              <a:ext uri="{FF2B5EF4-FFF2-40B4-BE49-F238E27FC236}">
                <a16:creationId xmlns:a16="http://schemas.microsoft.com/office/drawing/2014/main" id="{A6D369B6-B03E-1E46-8724-20DC3043E33D}"/>
              </a:ext>
            </a:extLst>
          </p:cNvPr>
          <p:cNvSpPr>
            <a:spLocks noGrp="1"/>
          </p:cNvSpPr>
          <p:nvPr>
            <p:ph type="pic" sz="quarter" idx="36" hasCustomPrompt="1"/>
          </p:nvPr>
        </p:nvSpPr>
        <p:spPr>
          <a:xfrm>
            <a:off x="6641206" y="3645024"/>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sp>
        <p:nvSpPr>
          <p:cNvPr id="52" name="Picture Placeholder 40">
            <a:extLst>
              <a:ext uri="{FF2B5EF4-FFF2-40B4-BE49-F238E27FC236}">
                <a16:creationId xmlns:a16="http://schemas.microsoft.com/office/drawing/2014/main" id="{4E62F62B-9804-2A4E-ADEC-A1E58607C314}"/>
              </a:ext>
            </a:extLst>
          </p:cNvPr>
          <p:cNvSpPr>
            <a:spLocks noGrp="1"/>
          </p:cNvSpPr>
          <p:nvPr>
            <p:ph type="pic" sz="quarter" idx="37" hasCustomPrompt="1"/>
          </p:nvPr>
        </p:nvSpPr>
        <p:spPr>
          <a:xfrm>
            <a:off x="9336360" y="3645024"/>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pic>
        <p:nvPicPr>
          <p:cNvPr id="53" name="Graphic 52">
            <a:extLst>
              <a:ext uri="{FF2B5EF4-FFF2-40B4-BE49-F238E27FC236}">
                <a16:creationId xmlns:a16="http://schemas.microsoft.com/office/drawing/2014/main" id="{6BE5EFB8-8C52-7341-9E91-AFE610E1000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4122348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2L Team">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91C860F-C6E8-3D48-892E-44025643A2A3}"/>
              </a:ext>
            </a:extLst>
          </p:cNvPr>
          <p:cNvSpPr txBox="1"/>
          <p:nvPr userDrawn="1"/>
        </p:nvSpPr>
        <p:spPr>
          <a:xfrm>
            <a:off x="695325" y="764704"/>
            <a:ext cx="2879726" cy="1231106"/>
          </a:xfrm>
          <a:prstGeom prst="rect">
            <a:avLst/>
          </a:prstGeom>
          <a:noFill/>
        </p:spPr>
        <p:txBody>
          <a:bodyPr wrap="square" lIns="0" tIns="0" rIns="0" bIns="0" rtlCol="0" anchor="t">
            <a:spAutoFit/>
          </a:bodyPr>
          <a:lstStyle/>
          <a:p>
            <a:r>
              <a:rPr lang="en-US" sz="4000" spc="0" dirty="0">
                <a:latin typeface="Times" pitchFamily="2" charset="0"/>
              </a:rPr>
              <a:t>Meet Your D2L Team</a:t>
            </a:r>
          </a:p>
        </p:txBody>
      </p:sp>
      <p:sp>
        <p:nvSpPr>
          <p:cNvPr id="25" name="Rectangle 24">
            <a:extLst>
              <a:ext uri="{FF2B5EF4-FFF2-40B4-BE49-F238E27FC236}">
                <a16:creationId xmlns:a16="http://schemas.microsoft.com/office/drawing/2014/main" id="{D3856F85-1CC3-B949-A32B-37ACA86EA043}"/>
              </a:ext>
            </a:extLst>
          </p:cNvPr>
          <p:cNvSpPr/>
          <p:nvPr userDrawn="1"/>
        </p:nvSpPr>
        <p:spPr>
          <a:xfrm>
            <a:off x="3431704" y="188640"/>
            <a:ext cx="8760296" cy="66693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9" name="Rectangle 8">
            <a:extLst>
              <a:ext uri="{FF2B5EF4-FFF2-40B4-BE49-F238E27FC236}">
                <a16:creationId xmlns:a16="http://schemas.microsoft.com/office/drawing/2014/main" id="{B4223A3C-FE19-A84A-9C6C-1A5B84FA9AD2}"/>
              </a:ext>
            </a:extLst>
          </p:cNvPr>
          <p:cNvSpPr/>
          <p:nvPr userDrawn="1"/>
        </p:nvSpPr>
        <p:spPr>
          <a:xfrm>
            <a:off x="0" y="0"/>
            <a:ext cx="12192000" cy="116632"/>
          </a:xfrm>
          <a:prstGeom prst="rect">
            <a:avLst/>
          </a:prstGeom>
          <a:solidFill>
            <a:srgbClr val="34E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80AAAC72-02B2-9B49-B4BC-7232EA715072}"/>
              </a:ext>
            </a:extLst>
          </p:cNvPr>
          <p:cNvSpPr txBox="1"/>
          <p:nvPr userDrawn="1"/>
        </p:nvSpPr>
        <p:spPr>
          <a:xfrm>
            <a:off x="4633645" y="-750013"/>
            <a:ext cx="184731" cy="369332"/>
          </a:xfrm>
          <a:prstGeom prst="rect">
            <a:avLst/>
          </a:prstGeom>
          <a:noFill/>
        </p:spPr>
        <p:txBody>
          <a:bodyPr wrap="none" rtlCol="0">
            <a:spAutoFit/>
          </a:bodyPr>
          <a:lstStyle/>
          <a:p>
            <a:endParaRPr lang="en-US" dirty="0"/>
          </a:p>
        </p:txBody>
      </p:sp>
      <p:sp>
        <p:nvSpPr>
          <p:cNvPr id="17" name="Rectangle 16">
            <a:extLst>
              <a:ext uri="{FF2B5EF4-FFF2-40B4-BE49-F238E27FC236}">
                <a16:creationId xmlns:a16="http://schemas.microsoft.com/office/drawing/2014/main" id="{4248AA07-9545-9E45-BC83-13EE5A82DF6B}"/>
              </a:ext>
            </a:extLst>
          </p:cNvPr>
          <p:cNvSpPr/>
          <p:nvPr userDrawn="1"/>
        </p:nvSpPr>
        <p:spPr>
          <a:xfrm>
            <a:off x="0" y="-1"/>
            <a:ext cx="12192000" cy="188913"/>
          </a:xfrm>
          <a:prstGeom prst="rect">
            <a:avLst/>
          </a:prstGeom>
          <a:solidFill>
            <a:srgbClr val="34E8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 Placeholder 39">
            <a:extLst>
              <a:ext uri="{FF2B5EF4-FFF2-40B4-BE49-F238E27FC236}">
                <a16:creationId xmlns:a16="http://schemas.microsoft.com/office/drawing/2014/main" id="{E9C5CB52-CA35-C140-9FC1-F037F46F33EC}"/>
              </a:ext>
            </a:extLst>
          </p:cNvPr>
          <p:cNvSpPr>
            <a:spLocks noGrp="1"/>
          </p:cNvSpPr>
          <p:nvPr>
            <p:ph type="body" sz="quarter" idx="14" hasCustomPrompt="1"/>
          </p:nvPr>
        </p:nvSpPr>
        <p:spPr>
          <a:xfrm>
            <a:off x="3938561" y="2821449"/>
            <a:ext cx="2154458" cy="247190"/>
          </a:xfrm>
          <a:prstGeom prst="rect">
            <a:avLst/>
          </a:prstGeom>
        </p:spPr>
        <p:txBody>
          <a:bodyPr lIns="0" tIns="0" anchor="t">
            <a:normAutofit/>
          </a:bodyPr>
          <a:lstStyle>
            <a:lvl1pPr marL="0" indent="0">
              <a:buNone/>
              <a:defRPr sz="1600" b="1">
                <a:solidFill>
                  <a:schemeClr val="bg1"/>
                </a:solidFill>
                <a:latin typeface="Satoshi" pitchFamily="2" charset="77"/>
              </a:defRPr>
            </a:lvl1pPr>
          </a:lstStyle>
          <a:p>
            <a:pPr lvl="0"/>
            <a:r>
              <a:rPr lang="en-US"/>
              <a:t>Name</a:t>
            </a:r>
          </a:p>
        </p:txBody>
      </p:sp>
      <p:sp>
        <p:nvSpPr>
          <p:cNvPr id="29" name="Text Placeholder 39">
            <a:extLst>
              <a:ext uri="{FF2B5EF4-FFF2-40B4-BE49-F238E27FC236}">
                <a16:creationId xmlns:a16="http://schemas.microsoft.com/office/drawing/2014/main" id="{92ABD899-FDCC-024C-856E-9743C2BAAE5C}"/>
              </a:ext>
            </a:extLst>
          </p:cNvPr>
          <p:cNvSpPr>
            <a:spLocks noGrp="1"/>
          </p:cNvSpPr>
          <p:nvPr>
            <p:ph type="body" sz="quarter" idx="15" hasCustomPrompt="1"/>
          </p:nvPr>
        </p:nvSpPr>
        <p:spPr>
          <a:xfrm>
            <a:off x="3938561" y="3110116"/>
            <a:ext cx="2157439" cy="334136"/>
          </a:xfrm>
          <a:prstGeom prst="rect">
            <a:avLst/>
          </a:prstGeom>
        </p:spPr>
        <p:txBody>
          <a:bodyPr lIns="0" tIns="0" anchor="t">
            <a:normAutofit/>
          </a:bodyPr>
          <a:lstStyle>
            <a:lvl1pPr marL="0" indent="0">
              <a:buNone/>
              <a:defRPr sz="1600" b="0">
                <a:solidFill>
                  <a:schemeClr val="bg1"/>
                </a:solidFill>
                <a:latin typeface="Satoshi" pitchFamily="2" charset="77"/>
              </a:defRPr>
            </a:lvl1pPr>
          </a:lstStyle>
          <a:p>
            <a:pPr lvl="0"/>
            <a:r>
              <a:rPr lang="en-US"/>
              <a:t>Position</a:t>
            </a:r>
          </a:p>
        </p:txBody>
      </p:sp>
      <p:sp>
        <p:nvSpPr>
          <p:cNvPr id="30" name="Text Placeholder 39">
            <a:extLst>
              <a:ext uri="{FF2B5EF4-FFF2-40B4-BE49-F238E27FC236}">
                <a16:creationId xmlns:a16="http://schemas.microsoft.com/office/drawing/2014/main" id="{4A4071A3-A5A0-AA42-89EE-677D64C60615}"/>
              </a:ext>
            </a:extLst>
          </p:cNvPr>
          <p:cNvSpPr>
            <a:spLocks noGrp="1"/>
          </p:cNvSpPr>
          <p:nvPr>
            <p:ph type="body" sz="quarter" idx="16" hasCustomPrompt="1"/>
          </p:nvPr>
        </p:nvSpPr>
        <p:spPr>
          <a:xfrm>
            <a:off x="6641206" y="2821449"/>
            <a:ext cx="2154457" cy="247190"/>
          </a:xfrm>
          <a:prstGeom prst="rect">
            <a:avLst/>
          </a:prstGeom>
        </p:spPr>
        <p:txBody>
          <a:bodyPr lIns="0" tIns="0" anchor="t">
            <a:normAutofit/>
          </a:bodyPr>
          <a:lstStyle>
            <a:lvl1pPr marL="0" indent="0">
              <a:buNone/>
              <a:defRPr sz="1600" b="1">
                <a:solidFill>
                  <a:schemeClr val="bg1"/>
                </a:solidFill>
                <a:latin typeface="Satoshi" pitchFamily="2" charset="77"/>
              </a:defRPr>
            </a:lvl1pPr>
          </a:lstStyle>
          <a:p>
            <a:pPr lvl="0"/>
            <a:r>
              <a:rPr lang="en-US"/>
              <a:t>Name</a:t>
            </a:r>
          </a:p>
        </p:txBody>
      </p:sp>
      <p:sp>
        <p:nvSpPr>
          <p:cNvPr id="31" name="Text Placeholder 39">
            <a:extLst>
              <a:ext uri="{FF2B5EF4-FFF2-40B4-BE49-F238E27FC236}">
                <a16:creationId xmlns:a16="http://schemas.microsoft.com/office/drawing/2014/main" id="{09DD890F-A183-3149-AC12-EB33C8AB44E3}"/>
              </a:ext>
            </a:extLst>
          </p:cNvPr>
          <p:cNvSpPr>
            <a:spLocks noGrp="1"/>
          </p:cNvSpPr>
          <p:nvPr>
            <p:ph type="body" sz="quarter" idx="17" hasCustomPrompt="1"/>
          </p:nvPr>
        </p:nvSpPr>
        <p:spPr>
          <a:xfrm>
            <a:off x="6641206" y="3110116"/>
            <a:ext cx="2157439" cy="334136"/>
          </a:xfrm>
          <a:prstGeom prst="rect">
            <a:avLst/>
          </a:prstGeom>
        </p:spPr>
        <p:txBody>
          <a:bodyPr lIns="0" tIns="0" anchor="t">
            <a:normAutofit/>
          </a:bodyPr>
          <a:lstStyle>
            <a:lvl1pPr marL="0" indent="0">
              <a:buNone/>
              <a:defRPr sz="1600" b="0">
                <a:solidFill>
                  <a:schemeClr val="bg1"/>
                </a:solidFill>
                <a:latin typeface="Satoshi" pitchFamily="2" charset="77"/>
              </a:defRPr>
            </a:lvl1pPr>
          </a:lstStyle>
          <a:p>
            <a:pPr lvl="0"/>
            <a:r>
              <a:rPr lang="en-US"/>
              <a:t>Position</a:t>
            </a:r>
          </a:p>
        </p:txBody>
      </p:sp>
      <p:sp>
        <p:nvSpPr>
          <p:cNvPr id="32" name="Text Placeholder 39">
            <a:extLst>
              <a:ext uri="{FF2B5EF4-FFF2-40B4-BE49-F238E27FC236}">
                <a16:creationId xmlns:a16="http://schemas.microsoft.com/office/drawing/2014/main" id="{4CCBFA9A-3A38-FF4D-AA86-F1D453CCF9F7}"/>
              </a:ext>
            </a:extLst>
          </p:cNvPr>
          <p:cNvSpPr>
            <a:spLocks noGrp="1"/>
          </p:cNvSpPr>
          <p:nvPr>
            <p:ph type="body" sz="quarter" idx="18" hasCustomPrompt="1"/>
          </p:nvPr>
        </p:nvSpPr>
        <p:spPr>
          <a:xfrm>
            <a:off x="9336360" y="2821449"/>
            <a:ext cx="2160316" cy="247190"/>
          </a:xfrm>
          <a:prstGeom prst="rect">
            <a:avLst/>
          </a:prstGeom>
        </p:spPr>
        <p:txBody>
          <a:bodyPr lIns="0" tIns="0" anchor="t">
            <a:normAutofit/>
          </a:bodyPr>
          <a:lstStyle>
            <a:lvl1pPr marL="0" indent="0">
              <a:buNone/>
              <a:defRPr sz="1600" b="1">
                <a:solidFill>
                  <a:schemeClr val="bg1"/>
                </a:solidFill>
                <a:latin typeface="Satoshi" pitchFamily="2" charset="77"/>
              </a:defRPr>
            </a:lvl1pPr>
          </a:lstStyle>
          <a:p>
            <a:pPr lvl="0"/>
            <a:r>
              <a:rPr lang="en-US"/>
              <a:t>Name</a:t>
            </a:r>
          </a:p>
        </p:txBody>
      </p:sp>
      <p:sp>
        <p:nvSpPr>
          <p:cNvPr id="33" name="Text Placeholder 39">
            <a:extLst>
              <a:ext uri="{FF2B5EF4-FFF2-40B4-BE49-F238E27FC236}">
                <a16:creationId xmlns:a16="http://schemas.microsoft.com/office/drawing/2014/main" id="{4D03B7BD-0864-0945-96F3-78940EBF2C63}"/>
              </a:ext>
            </a:extLst>
          </p:cNvPr>
          <p:cNvSpPr>
            <a:spLocks noGrp="1"/>
          </p:cNvSpPr>
          <p:nvPr>
            <p:ph type="body" sz="quarter" idx="19" hasCustomPrompt="1"/>
          </p:nvPr>
        </p:nvSpPr>
        <p:spPr>
          <a:xfrm>
            <a:off x="9336360" y="3110116"/>
            <a:ext cx="2157439" cy="334136"/>
          </a:xfrm>
          <a:prstGeom prst="rect">
            <a:avLst/>
          </a:prstGeom>
        </p:spPr>
        <p:txBody>
          <a:bodyPr lIns="0" tIns="0" anchor="t">
            <a:normAutofit/>
          </a:bodyPr>
          <a:lstStyle>
            <a:lvl1pPr marL="0" indent="0">
              <a:buNone/>
              <a:defRPr sz="1600" b="0">
                <a:solidFill>
                  <a:schemeClr val="bg1"/>
                </a:solidFill>
                <a:latin typeface="Satoshi" pitchFamily="2" charset="77"/>
              </a:defRPr>
            </a:lvl1pPr>
          </a:lstStyle>
          <a:p>
            <a:pPr lvl="0"/>
            <a:r>
              <a:rPr lang="en-US"/>
              <a:t>Position</a:t>
            </a:r>
          </a:p>
        </p:txBody>
      </p:sp>
      <p:sp>
        <p:nvSpPr>
          <p:cNvPr id="41" name="Picture Placeholder 40">
            <a:extLst>
              <a:ext uri="{FF2B5EF4-FFF2-40B4-BE49-F238E27FC236}">
                <a16:creationId xmlns:a16="http://schemas.microsoft.com/office/drawing/2014/main" id="{6C4E22DE-66C5-394B-99B7-F195522A9C82}"/>
              </a:ext>
            </a:extLst>
          </p:cNvPr>
          <p:cNvSpPr>
            <a:spLocks noGrp="1"/>
          </p:cNvSpPr>
          <p:nvPr>
            <p:ph type="pic" sz="quarter" idx="26" hasCustomPrompt="1"/>
          </p:nvPr>
        </p:nvSpPr>
        <p:spPr>
          <a:xfrm>
            <a:off x="3941541" y="536870"/>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sp>
        <p:nvSpPr>
          <p:cNvPr id="42" name="Picture Placeholder 40">
            <a:extLst>
              <a:ext uri="{FF2B5EF4-FFF2-40B4-BE49-F238E27FC236}">
                <a16:creationId xmlns:a16="http://schemas.microsoft.com/office/drawing/2014/main" id="{BA99D4BE-8076-C74F-85A3-F91CF0152C75}"/>
              </a:ext>
            </a:extLst>
          </p:cNvPr>
          <p:cNvSpPr>
            <a:spLocks noGrp="1"/>
          </p:cNvSpPr>
          <p:nvPr>
            <p:ph type="pic" sz="quarter" idx="27" hasCustomPrompt="1"/>
          </p:nvPr>
        </p:nvSpPr>
        <p:spPr>
          <a:xfrm>
            <a:off x="6641206" y="536870"/>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sp>
        <p:nvSpPr>
          <p:cNvPr id="43" name="Picture Placeholder 40">
            <a:extLst>
              <a:ext uri="{FF2B5EF4-FFF2-40B4-BE49-F238E27FC236}">
                <a16:creationId xmlns:a16="http://schemas.microsoft.com/office/drawing/2014/main" id="{EBD67392-4BFD-184E-8ECF-A7FBE578D693}"/>
              </a:ext>
            </a:extLst>
          </p:cNvPr>
          <p:cNvSpPr>
            <a:spLocks noGrp="1"/>
          </p:cNvSpPr>
          <p:nvPr>
            <p:ph type="pic" sz="quarter" idx="28" hasCustomPrompt="1"/>
          </p:nvPr>
        </p:nvSpPr>
        <p:spPr>
          <a:xfrm>
            <a:off x="9336360" y="536870"/>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sp>
        <p:nvSpPr>
          <p:cNvPr id="44" name="Text Placeholder 39">
            <a:extLst>
              <a:ext uri="{FF2B5EF4-FFF2-40B4-BE49-F238E27FC236}">
                <a16:creationId xmlns:a16="http://schemas.microsoft.com/office/drawing/2014/main" id="{BFEC3079-9E10-B244-9544-DFA1654D7F47}"/>
              </a:ext>
            </a:extLst>
          </p:cNvPr>
          <p:cNvSpPr>
            <a:spLocks noGrp="1"/>
          </p:cNvSpPr>
          <p:nvPr>
            <p:ph type="body" sz="quarter" idx="29" hasCustomPrompt="1"/>
          </p:nvPr>
        </p:nvSpPr>
        <p:spPr>
          <a:xfrm>
            <a:off x="3938561" y="5929603"/>
            <a:ext cx="2154458" cy="247190"/>
          </a:xfrm>
          <a:prstGeom prst="rect">
            <a:avLst/>
          </a:prstGeom>
        </p:spPr>
        <p:txBody>
          <a:bodyPr lIns="0" tIns="0" anchor="t">
            <a:normAutofit/>
          </a:bodyPr>
          <a:lstStyle>
            <a:lvl1pPr marL="0" indent="0">
              <a:buNone/>
              <a:defRPr sz="1600" b="1">
                <a:solidFill>
                  <a:schemeClr val="bg1"/>
                </a:solidFill>
                <a:latin typeface="Satoshi" pitchFamily="2" charset="77"/>
              </a:defRPr>
            </a:lvl1pPr>
          </a:lstStyle>
          <a:p>
            <a:pPr lvl="0"/>
            <a:r>
              <a:rPr lang="en-US"/>
              <a:t>Name</a:t>
            </a:r>
          </a:p>
        </p:txBody>
      </p:sp>
      <p:sp>
        <p:nvSpPr>
          <p:cNvPr id="45" name="Text Placeholder 39">
            <a:extLst>
              <a:ext uri="{FF2B5EF4-FFF2-40B4-BE49-F238E27FC236}">
                <a16:creationId xmlns:a16="http://schemas.microsoft.com/office/drawing/2014/main" id="{C951EE76-A914-1F49-BD2A-550B2E226348}"/>
              </a:ext>
            </a:extLst>
          </p:cNvPr>
          <p:cNvSpPr>
            <a:spLocks noGrp="1"/>
          </p:cNvSpPr>
          <p:nvPr>
            <p:ph type="body" sz="quarter" idx="30" hasCustomPrompt="1"/>
          </p:nvPr>
        </p:nvSpPr>
        <p:spPr>
          <a:xfrm>
            <a:off x="3938561" y="6218270"/>
            <a:ext cx="2157439" cy="334136"/>
          </a:xfrm>
          <a:prstGeom prst="rect">
            <a:avLst/>
          </a:prstGeom>
        </p:spPr>
        <p:txBody>
          <a:bodyPr lIns="0" tIns="0" anchor="t">
            <a:normAutofit/>
          </a:bodyPr>
          <a:lstStyle>
            <a:lvl1pPr marL="0" indent="0">
              <a:buNone/>
              <a:defRPr sz="1600" b="0">
                <a:solidFill>
                  <a:schemeClr val="bg1"/>
                </a:solidFill>
                <a:latin typeface="Satoshi" pitchFamily="2" charset="77"/>
              </a:defRPr>
            </a:lvl1pPr>
          </a:lstStyle>
          <a:p>
            <a:pPr lvl="0"/>
            <a:r>
              <a:rPr lang="en-US"/>
              <a:t>Position</a:t>
            </a:r>
          </a:p>
        </p:txBody>
      </p:sp>
      <p:sp>
        <p:nvSpPr>
          <p:cNvPr id="46" name="Text Placeholder 39">
            <a:extLst>
              <a:ext uri="{FF2B5EF4-FFF2-40B4-BE49-F238E27FC236}">
                <a16:creationId xmlns:a16="http://schemas.microsoft.com/office/drawing/2014/main" id="{D23BBFBA-A902-314E-A834-FC353F695ECB}"/>
              </a:ext>
            </a:extLst>
          </p:cNvPr>
          <p:cNvSpPr>
            <a:spLocks noGrp="1"/>
          </p:cNvSpPr>
          <p:nvPr>
            <p:ph type="body" sz="quarter" idx="31" hasCustomPrompt="1"/>
          </p:nvPr>
        </p:nvSpPr>
        <p:spPr>
          <a:xfrm>
            <a:off x="6641206" y="5929603"/>
            <a:ext cx="2154457" cy="247190"/>
          </a:xfrm>
          <a:prstGeom prst="rect">
            <a:avLst/>
          </a:prstGeom>
        </p:spPr>
        <p:txBody>
          <a:bodyPr lIns="0" tIns="0" anchor="t">
            <a:normAutofit/>
          </a:bodyPr>
          <a:lstStyle>
            <a:lvl1pPr marL="0" indent="0">
              <a:buNone/>
              <a:defRPr sz="1600" b="1">
                <a:solidFill>
                  <a:schemeClr val="bg1"/>
                </a:solidFill>
                <a:latin typeface="Satoshi" pitchFamily="2" charset="77"/>
              </a:defRPr>
            </a:lvl1pPr>
          </a:lstStyle>
          <a:p>
            <a:pPr lvl="0"/>
            <a:r>
              <a:rPr lang="en-US"/>
              <a:t>Name</a:t>
            </a:r>
          </a:p>
        </p:txBody>
      </p:sp>
      <p:sp>
        <p:nvSpPr>
          <p:cNvPr id="47" name="Text Placeholder 39">
            <a:extLst>
              <a:ext uri="{FF2B5EF4-FFF2-40B4-BE49-F238E27FC236}">
                <a16:creationId xmlns:a16="http://schemas.microsoft.com/office/drawing/2014/main" id="{C2161FE8-0E56-F946-8CDC-53B1654CC138}"/>
              </a:ext>
            </a:extLst>
          </p:cNvPr>
          <p:cNvSpPr>
            <a:spLocks noGrp="1"/>
          </p:cNvSpPr>
          <p:nvPr>
            <p:ph type="body" sz="quarter" idx="32" hasCustomPrompt="1"/>
          </p:nvPr>
        </p:nvSpPr>
        <p:spPr>
          <a:xfrm>
            <a:off x="6641206" y="6218270"/>
            <a:ext cx="2157439" cy="334136"/>
          </a:xfrm>
          <a:prstGeom prst="rect">
            <a:avLst/>
          </a:prstGeom>
        </p:spPr>
        <p:txBody>
          <a:bodyPr lIns="0" tIns="0" anchor="t">
            <a:normAutofit/>
          </a:bodyPr>
          <a:lstStyle>
            <a:lvl1pPr marL="0" indent="0">
              <a:buNone/>
              <a:defRPr sz="1600" b="0">
                <a:solidFill>
                  <a:schemeClr val="bg1"/>
                </a:solidFill>
                <a:latin typeface="Satoshi" pitchFamily="2" charset="77"/>
              </a:defRPr>
            </a:lvl1pPr>
          </a:lstStyle>
          <a:p>
            <a:pPr lvl="0"/>
            <a:r>
              <a:rPr lang="en-US"/>
              <a:t>Position</a:t>
            </a:r>
          </a:p>
        </p:txBody>
      </p:sp>
      <p:sp>
        <p:nvSpPr>
          <p:cNvPr id="48" name="Text Placeholder 39">
            <a:extLst>
              <a:ext uri="{FF2B5EF4-FFF2-40B4-BE49-F238E27FC236}">
                <a16:creationId xmlns:a16="http://schemas.microsoft.com/office/drawing/2014/main" id="{9635FF54-1C7B-D24B-854D-634F2350A657}"/>
              </a:ext>
            </a:extLst>
          </p:cNvPr>
          <p:cNvSpPr>
            <a:spLocks noGrp="1"/>
          </p:cNvSpPr>
          <p:nvPr>
            <p:ph type="body" sz="quarter" idx="33" hasCustomPrompt="1"/>
          </p:nvPr>
        </p:nvSpPr>
        <p:spPr>
          <a:xfrm>
            <a:off x="9336360" y="5929603"/>
            <a:ext cx="2160316" cy="247190"/>
          </a:xfrm>
          <a:prstGeom prst="rect">
            <a:avLst/>
          </a:prstGeom>
        </p:spPr>
        <p:txBody>
          <a:bodyPr lIns="0" tIns="0" anchor="t">
            <a:normAutofit/>
          </a:bodyPr>
          <a:lstStyle>
            <a:lvl1pPr marL="0" indent="0">
              <a:buNone/>
              <a:defRPr sz="1600" b="1">
                <a:solidFill>
                  <a:schemeClr val="bg1"/>
                </a:solidFill>
                <a:latin typeface="Satoshi" pitchFamily="2" charset="77"/>
              </a:defRPr>
            </a:lvl1pPr>
          </a:lstStyle>
          <a:p>
            <a:pPr lvl="0"/>
            <a:r>
              <a:rPr lang="en-US"/>
              <a:t>Name</a:t>
            </a:r>
          </a:p>
        </p:txBody>
      </p:sp>
      <p:sp>
        <p:nvSpPr>
          <p:cNvPr id="49" name="Text Placeholder 39">
            <a:extLst>
              <a:ext uri="{FF2B5EF4-FFF2-40B4-BE49-F238E27FC236}">
                <a16:creationId xmlns:a16="http://schemas.microsoft.com/office/drawing/2014/main" id="{69868565-7FCE-1442-8DBF-2E0DC6584F35}"/>
              </a:ext>
            </a:extLst>
          </p:cNvPr>
          <p:cNvSpPr>
            <a:spLocks noGrp="1"/>
          </p:cNvSpPr>
          <p:nvPr>
            <p:ph type="body" sz="quarter" idx="34" hasCustomPrompt="1"/>
          </p:nvPr>
        </p:nvSpPr>
        <p:spPr>
          <a:xfrm>
            <a:off x="9336360" y="6218270"/>
            <a:ext cx="2157439" cy="334136"/>
          </a:xfrm>
          <a:prstGeom prst="rect">
            <a:avLst/>
          </a:prstGeom>
        </p:spPr>
        <p:txBody>
          <a:bodyPr lIns="0" tIns="0" anchor="t">
            <a:normAutofit/>
          </a:bodyPr>
          <a:lstStyle>
            <a:lvl1pPr marL="0" indent="0">
              <a:buNone/>
              <a:defRPr sz="1600" b="0">
                <a:solidFill>
                  <a:schemeClr val="bg1"/>
                </a:solidFill>
                <a:latin typeface="Satoshi" pitchFamily="2" charset="77"/>
              </a:defRPr>
            </a:lvl1pPr>
          </a:lstStyle>
          <a:p>
            <a:pPr lvl="0"/>
            <a:r>
              <a:rPr lang="en-US"/>
              <a:t>Position</a:t>
            </a:r>
          </a:p>
        </p:txBody>
      </p:sp>
      <p:sp>
        <p:nvSpPr>
          <p:cNvPr id="50" name="Picture Placeholder 40">
            <a:extLst>
              <a:ext uri="{FF2B5EF4-FFF2-40B4-BE49-F238E27FC236}">
                <a16:creationId xmlns:a16="http://schemas.microsoft.com/office/drawing/2014/main" id="{8B92320B-FC9B-FA4C-BE78-5330359D5219}"/>
              </a:ext>
            </a:extLst>
          </p:cNvPr>
          <p:cNvSpPr>
            <a:spLocks noGrp="1"/>
          </p:cNvSpPr>
          <p:nvPr>
            <p:ph type="pic" sz="quarter" idx="35" hasCustomPrompt="1"/>
          </p:nvPr>
        </p:nvSpPr>
        <p:spPr>
          <a:xfrm>
            <a:off x="3941541" y="3645024"/>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sp>
        <p:nvSpPr>
          <p:cNvPr id="51" name="Picture Placeholder 40">
            <a:extLst>
              <a:ext uri="{FF2B5EF4-FFF2-40B4-BE49-F238E27FC236}">
                <a16:creationId xmlns:a16="http://schemas.microsoft.com/office/drawing/2014/main" id="{A6D369B6-B03E-1E46-8724-20DC3043E33D}"/>
              </a:ext>
            </a:extLst>
          </p:cNvPr>
          <p:cNvSpPr>
            <a:spLocks noGrp="1"/>
          </p:cNvSpPr>
          <p:nvPr>
            <p:ph type="pic" sz="quarter" idx="36" hasCustomPrompt="1"/>
          </p:nvPr>
        </p:nvSpPr>
        <p:spPr>
          <a:xfrm>
            <a:off x="6641206" y="3645024"/>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sp>
        <p:nvSpPr>
          <p:cNvPr id="52" name="Picture Placeholder 40">
            <a:extLst>
              <a:ext uri="{FF2B5EF4-FFF2-40B4-BE49-F238E27FC236}">
                <a16:creationId xmlns:a16="http://schemas.microsoft.com/office/drawing/2014/main" id="{4E62F62B-9804-2A4E-ADEC-A1E58607C314}"/>
              </a:ext>
            </a:extLst>
          </p:cNvPr>
          <p:cNvSpPr>
            <a:spLocks noGrp="1"/>
          </p:cNvSpPr>
          <p:nvPr>
            <p:ph type="pic" sz="quarter" idx="37" hasCustomPrompt="1"/>
          </p:nvPr>
        </p:nvSpPr>
        <p:spPr>
          <a:xfrm>
            <a:off x="9336360" y="3645024"/>
            <a:ext cx="2154459" cy="2183812"/>
          </a:xfrm>
          <a:prstGeom prst="rect">
            <a:avLst/>
          </a:prstGeom>
        </p:spPr>
        <p:txBody>
          <a:bodyPr tIns="612000" anchor="t">
            <a:normAutofit/>
          </a:bodyPr>
          <a:lstStyle>
            <a:lvl1pPr marL="0" indent="0" algn="ctr">
              <a:buNone/>
              <a:defRPr sz="1200">
                <a:latin typeface="Satoshi" pitchFamily="2" charset="77"/>
              </a:defRPr>
            </a:lvl1pPr>
          </a:lstStyle>
          <a:p>
            <a:r>
              <a:rPr lang="en-US" dirty="0"/>
              <a:t>Headshot</a:t>
            </a:r>
          </a:p>
        </p:txBody>
      </p:sp>
      <p:pic>
        <p:nvPicPr>
          <p:cNvPr id="53" name="Graphic 52">
            <a:extLst>
              <a:ext uri="{FF2B5EF4-FFF2-40B4-BE49-F238E27FC236}">
                <a16:creationId xmlns:a16="http://schemas.microsoft.com/office/drawing/2014/main" id="{6BE5EFB8-8C52-7341-9E91-AFE610E1000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2895161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ighlight">
    <p:spTree>
      <p:nvGrpSpPr>
        <p:cNvPr id="1" name=""/>
        <p:cNvGrpSpPr/>
        <p:nvPr/>
      </p:nvGrpSpPr>
      <p:grpSpPr>
        <a:xfrm>
          <a:off x="0" y="0"/>
          <a:ext cx="0" cy="0"/>
          <a:chOff x="0" y="0"/>
          <a:chExt cx="0" cy="0"/>
        </a:xfrm>
      </p:grpSpPr>
      <p:pic>
        <p:nvPicPr>
          <p:cNvPr id="6" name="Picture 5" descr="A person standing in front of a wall of lights&#10;&#10;Description automatically generated with low confidence">
            <a:extLst>
              <a:ext uri="{FF2B5EF4-FFF2-40B4-BE49-F238E27FC236}">
                <a16:creationId xmlns:a16="http://schemas.microsoft.com/office/drawing/2014/main" id="{7F49726D-CE28-3445-A097-4158CB3A36F0}"/>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p:blipFill>
        <p:spPr>
          <a:xfrm>
            <a:off x="0" y="0"/>
            <a:ext cx="12192001" cy="6858000"/>
          </a:xfrm>
          <a:prstGeom prst="rect">
            <a:avLst/>
          </a:prstGeom>
        </p:spPr>
      </p:pic>
      <p:sp>
        <p:nvSpPr>
          <p:cNvPr id="10" name="Rectangle 9">
            <a:extLst>
              <a:ext uri="{FF2B5EF4-FFF2-40B4-BE49-F238E27FC236}">
                <a16:creationId xmlns:a16="http://schemas.microsoft.com/office/drawing/2014/main" id="{A07BB462-65CF-B74A-946E-117B5BCB772D}"/>
              </a:ext>
            </a:extLst>
          </p:cNvPr>
          <p:cNvSpPr/>
          <p:nvPr userDrawn="1"/>
        </p:nvSpPr>
        <p:spPr>
          <a:xfrm>
            <a:off x="0" y="0"/>
            <a:ext cx="12192000" cy="116632"/>
          </a:xfrm>
          <a:prstGeom prst="rect">
            <a:avLst/>
          </a:prstGeom>
          <a:solidFill>
            <a:srgbClr val="34E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39">
            <a:extLst>
              <a:ext uri="{FF2B5EF4-FFF2-40B4-BE49-F238E27FC236}">
                <a16:creationId xmlns:a16="http://schemas.microsoft.com/office/drawing/2014/main" id="{6ED91F6B-15CA-9445-AFD2-76E774C2626C}"/>
              </a:ext>
            </a:extLst>
          </p:cNvPr>
          <p:cNvSpPr>
            <a:spLocks noGrp="1"/>
          </p:cNvSpPr>
          <p:nvPr>
            <p:ph type="body" sz="quarter" idx="14" hasCustomPrompt="1"/>
          </p:nvPr>
        </p:nvSpPr>
        <p:spPr>
          <a:xfrm>
            <a:off x="7608168" y="2313024"/>
            <a:ext cx="4032448" cy="539912"/>
          </a:xfrm>
          <a:prstGeom prst="rect">
            <a:avLst/>
          </a:prstGeom>
        </p:spPr>
        <p:txBody>
          <a:bodyPr lIns="0" anchor="t">
            <a:normAutofit/>
          </a:bodyPr>
          <a:lstStyle>
            <a:lvl1pPr marL="0" indent="0">
              <a:lnSpc>
                <a:spcPct val="100000"/>
              </a:lnSpc>
              <a:buNone/>
              <a:defRPr sz="1800" b="1">
                <a:latin typeface="Satoshi" pitchFamily="2" charset="77"/>
              </a:defRPr>
            </a:lvl1pPr>
          </a:lstStyle>
          <a:p>
            <a:pPr lvl="0"/>
            <a:r>
              <a:rPr lang="en-US"/>
              <a:t>A few things we heard in our conversations:</a:t>
            </a:r>
          </a:p>
        </p:txBody>
      </p:sp>
      <p:sp>
        <p:nvSpPr>
          <p:cNvPr id="14" name="Text Placeholder 39">
            <a:extLst>
              <a:ext uri="{FF2B5EF4-FFF2-40B4-BE49-F238E27FC236}">
                <a16:creationId xmlns:a16="http://schemas.microsoft.com/office/drawing/2014/main" id="{DF9D8EAB-861D-B64F-A735-124132FEBA6B}"/>
              </a:ext>
            </a:extLst>
          </p:cNvPr>
          <p:cNvSpPr>
            <a:spLocks noGrp="1"/>
          </p:cNvSpPr>
          <p:nvPr>
            <p:ph type="body" sz="quarter" idx="15" hasCustomPrompt="1"/>
          </p:nvPr>
        </p:nvSpPr>
        <p:spPr>
          <a:xfrm>
            <a:off x="7608168" y="3018743"/>
            <a:ext cx="4032448" cy="914313"/>
          </a:xfrm>
          <a:prstGeom prst="rect">
            <a:avLst/>
          </a:prstGeom>
        </p:spPr>
        <p:txBody>
          <a:bodyPr lIns="0" anchor="t">
            <a:normAutofit/>
          </a:bodyPr>
          <a:lstStyle>
            <a:lvl1pPr marL="0" indent="0">
              <a:buNone/>
              <a:defRPr sz="1800" b="0">
                <a:latin typeface="Satoshi" pitchFamily="2" charset="77"/>
              </a:defRPr>
            </a:lvl1pPr>
          </a:lstStyle>
          <a:p>
            <a:pPr lvl="0"/>
            <a:r>
              <a:rPr lang="en-US"/>
              <a:t>Research and additional copy</a:t>
            </a:r>
          </a:p>
        </p:txBody>
      </p:sp>
      <p:sp>
        <p:nvSpPr>
          <p:cNvPr id="16" name="Text Placeholder 39">
            <a:extLst>
              <a:ext uri="{FF2B5EF4-FFF2-40B4-BE49-F238E27FC236}">
                <a16:creationId xmlns:a16="http://schemas.microsoft.com/office/drawing/2014/main" id="{98939B78-12B2-6C4A-8C4A-A5A4CA676C9A}"/>
              </a:ext>
            </a:extLst>
          </p:cNvPr>
          <p:cNvSpPr>
            <a:spLocks noGrp="1"/>
          </p:cNvSpPr>
          <p:nvPr>
            <p:ph type="body" sz="quarter" idx="13" hasCustomPrompt="1"/>
          </p:nvPr>
        </p:nvSpPr>
        <p:spPr>
          <a:xfrm>
            <a:off x="7608168" y="838239"/>
            <a:ext cx="4019845" cy="1391882"/>
          </a:xfrm>
          <a:prstGeom prst="rect">
            <a:avLst/>
          </a:prstGeom>
        </p:spPr>
        <p:txBody>
          <a:bodyPr lIns="0" tIns="0" anchor="t">
            <a:normAutofit/>
          </a:bodyPr>
          <a:lstStyle>
            <a:lvl1pPr marL="0" indent="0">
              <a:lnSpc>
                <a:spcPct val="100000"/>
              </a:lnSpc>
              <a:buNone/>
              <a:defRPr sz="4000" b="0" spc="0">
                <a:latin typeface="Times" pitchFamily="2" charset="0"/>
              </a:defRPr>
            </a:lvl1pPr>
          </a:lstStyle>
          <a:p>
            <a:pPr lvl="0"/>
            <a:r>
              <a:rPr lang="en-US"/>
              <a:t>Your Strategic Plan Highlights</a:t>
            </a:r>
          </a:p>
        </p:txBody>
      </p:sp>
      <p:sp>
        <p:nvSpPr>
          <p:cNvPr id="18" name="Rectangle 17">
            <a:extLst>
              <a:ext uri="{FF2B5EF4-FFF2-40B4-BE49-F238E27FC236}">
                <a16:creationId xmlns:a16="http://schemas.microsoft.com/office/drawing/2014/main" id="{E68D4781-CCFC-2E4D-AE40-C09C0FE0BF58}"/>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9" name="Graphic 18">
            <a:extLst>
              <a:ext uri="{FF2B5EF4-FFF2-40B4-BE49-F238E27FC236}">
                <a16:creationId xmlns:a16="http://schemas.microsoft.com/office/drawing/2014/main" id="{A490D29A-3D98-6745-8DD2-7508D87C760E}"/>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71364" y="6261360"/>
            <a:ext cx="615616" cy="247956"/>
          </a:xfrm>
          <a:prstGeom prst="rect">
            <a:avLst/>
          </a:prstGeom>
        </p:spPr>
      </p:pic>
      <p:sp>
        <p:nvSpPr>
          <p:cNvPr id="20" name="Rectangle 19">
            <a:extLst>
              <a:ext uri="{FF2B5EF4-FFF2-40B4-BE49-F238E27FC236}">
                <a16:creationId xmlns:a16="http://schemas.microsoft.com/office/drawing/2014/main" id="{03712C83-03FB-C347-AB67-304617ADF94D}"/>
              </a:ext>
            </a:extLst>
          </p:cNvPr>
          <p:cNvSpPr/>
          <p:nvPr userDrawn="1"/>
        </p:nvSpPr>
        <p:spPr>
          <a:xfrm>
            <a:off x="0" y="-1"/>
            <a:ext cx="12192000" cy="188913"/>
          </a:xfrm>
          <a:prstGeom prst="rect">
            <a:avLst/>
          </a:prstGeom>
          <a:solidFill>
            <a:srgbClr val="34E82A"/>
          </a:solidFill>
          <a:ln>
            <a:solidFill>
              <a:srgbClr val="34E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A5E12"/>
              </a:solidFill>
            </a:endParaRPr>
          </a:p>
        </p:txBody>
      </p:sp>
    </p:spTree>
    <p:extLst>
      <p:ext uri="{BB962C8B-B14F-4D97-AF65-F5344CB8AC3E}">
        <p14:creationId xmlns:p14="http://schemas.microsoft.com/office/powerpoint/2010/main" val="2484855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ighlight with Image">
    <p:bg>
      <p:bgPr>
        <a:solidFill>
          <a:schemeClr val="tx1"/>
        </a:solidFill>
        <a:effectLst/>
      </p:bgPr>
    </p:bg>
    <p:spTree>
      <p:nvGrpSpPr>
        <p:cNvPr id="1" name=""/>
        <p:cNvGrpSpPr/>
        <p:nvPr/>
      </p:nvGrpSpPr>
      <p:grpSpPr>
        <a:xfrm>
          <a:off x="0" y="0"/>
          <a:ext cx="0" cy="0"/>
          <a:chOff x="0" y="0"/>
          <a:chExt cx="0" cy="0"/>
        </a:xfrm>
      </p:grpSpPr>
      <p:pic>
        <p:nvPicPr>
          <p:cNvPr id="24" name="Picture 23" descr="Graphical user interface, application&#10;&#10;Description automatically generated">
            <a:extLst>
              <a:ext uri="{FF2B5EF4-FFF2-40B4-BE49-F238E27FC236}">
                <a16:creationId xmlns:a16="http://schemas.microsoft.com/office/drawing/2014/main" id="{74D1ACB5-71EE-EB4F-A459-315BFCDF420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96000" y="0"/>
            <a:ext cx="6096000" cy="6858001"/>
          </a:xfrm>
          <a:prstGeom prst="rect">
            <a:avLst/>
          </a:prstGeom>
        </p:spPr>
      </p:pic>
      <p:sp>
        <p:nvSpPr>
          <p:cNvPr id="18" name="Text Placeholder 17">
            <a:extLst>
              <a:ext uri="{FF2B5EF4-FFF2-40B4-BE49-F238E27FC236}">
                <a16:creationId xmlns:a16="http://schemas.microsoft.com/office/drawing/2014/main" id="{0EC1ACD4-AD50-8F41-9195-84254F1274CC}"/>
              </a:ext>
            </a:extLst>
          </p:cNvPr>
          <p:cNvSpPr>
            <a:spLocks noGrp="1"/>
          </p:cNvSpPr>
          <p:nvPr>
            <p:ph type="body" sz="quarter" idx="10" hasCustomPrompt="1"/>
          </p:nvPr>
        </p:nvSpPr>
        <p:spPr>
          <a:xfrm>
            <a:off x="635733" y="2312876"/>
            <a:ext cx="4824535" cy="2232248"/>
          </a:xfrm>
          <a:prstGeom prst="rect">
            <a:avLst/>
          </a:prstGeom>
        </p:spPr>
        <p:txBody>
          <a:bodyPr>
            <a:normAutofit/>
          </a:bodyPr>
          <a:lstStyle>
            <a:lvl1pPr marL="0" indent="0">
              <a:buNone/>
              <a:defRPr sz="8000" b="0">
                <a:solidFill>
                  <a:schemeClr val="bg1"/>
                </a:solidFill>
                <a:latin typeface="Times" pitchFamily="2" charset="0"/>
              </a:defRPr>
            </a:lvl1pPr>
          </a:lstStyle>
          <a:p>
            <a:pPr lvl="0"/>
            <a:r>
              <a:rPr lang="en-US"/>
              <a:t>Highlight here</a:t>
            </a:r>
          </a:p>
        </p:txBody>
      </p:sp>
      <p:pic>
        <p:nvPicPr>
          <p:cNvPr id="19" name="Graphic 18">
            <a:extLst>
              <a:ext uri="{FF2B5EF4-FFF2-40B4-BE49-F238E27FC236}">
                <a16:creationId xmlns:a16="http://schemas.microsoft.com/office/drawing/2014/main" id="{A5601D09-D59D-6445-9163-030044C53AF6}"/>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1364" y="6261360"/>
            <a:ext cx="615616" cy="247956"/>
          </a:xfrm>
          <a:prstGeom prst="rect">
            <a:avLst/>
          </a:prstGeom>
        </p:spPr>
      </p:pic>
      <p:sp>
        <p:nvSpPr>
          <p:cNvPr id="22" name="Rectangle 21">
            <a:extLst>
              <a:ext uri="{FF2B5EF4-FFF2-40B4-BE49-F238E27FC236}">
                <a16:creationId xmlns:a16="http://schemas.microsoft.com/office/drawing/2014/main" id="{9AE6DE4D-730D-1D44-9609-15D7F8CCAE0A}"/>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sp>
        <p:nvSpPr>
          <p:cNvPr id="23" name="Rectangle 22">
            <a:extLst>
              <a:ext uri="{FF2B5EF4-FFF2-40B4-BE49-F238E27FC236}">
                <a16:creationId xmlns:a16="http://schemas.microsoft.com/office/drawing/2014/main" id="{8891FCEB-FEB0-B445-9E1B-B0554F1C3DBD}"/>
              </a:ext>
            </a:extLst>
          </p:cNvPr>
          <p:cNvSpPr/>
          <p:nvPr userDrawn="1"/>
        </p:nvSpPr>
        <p:spPr>
          <a:xfrm>
            <a:off x="0" y="-1"/>
            <a:ext cx="12192000" cy="188913"/>
          </a:xfrm>
          <a:prstGeom prst="rect">
            <a:avLst/>
          </a:prstGeom>
          <a:solidFill>
            <a:srgbClr val="34E82A"/>
          </a:solidFill>
          <a:ln>
            <a:solidFill>
              <a:srgbClr val="34E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A5E12"/>
              </a:solidFill>
            </a:endParaRPr>
          </a:p>
        </p:txBody>
      </p:sp>
    </p:spTree>
    <p:extLst>
      <p:ext uri="{BB962C8B-B14F-4D97-AF65-F5344CB8AC3E}">
        <p14:creationId xmlns:p14="http://schemas.microsoft.com/office/powerpoint/2010/main" val="3854905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ighlight with Image">
    <p:bg>
      <p:bgPr>
        <a:solidFill>
          <a:schemeClr val="tx1"/>
        </a:solidFill>
        <a:effectLst/>
      </p:bgPr>
    </p:bg>
    <p:spTree>
      <p:nvGrpSpPr>
        <p:cNvPr id="1" name=""/>
        <p:cNvGrpSpPr/>
        <p:nvPr/>
      </p:nvGrpSpPr>
      <p:grpSpPr>
        <a:xfrm>
          <a:off x="0" y="0"/>
          <a:ext cx="0" cy="0"/>
          <a:chOff x="0" y="0"/>
          <a:chExt cx="0" cy="0"/>
        </a:xfrm>
      </p:grpSpPr>
      <p:pic>
        <p:nvPicPr>
          <p:cNvPr id="3" name="Picture 2" descr="Graphical user interface, application&#10;&#10;Description automatically generated">
            <a:extLst>
              <a:ext uri="{FF2B5EF4-FFF2-40B4-BE49-F238E27FC236}">
                <a16:creationId xmlns:a16="http://schemas.microsoft.com/office/drawing/2014/main" id="{41CAC46D-2B78-6947-A2B7-EF8DCA4B87A5}"/>
              </a:ext>
            </a:extLst>
          </p:cNvPr>
          <p:cNvPicPr>
            <a:picLocks noChangeAspect="1"/>
          </p:cNvPicPr>
          <p:nvPr userDrawn="1"/>
        </p:nvPicPr>
        <p:blipFill rotWithShape="1">
          <a:blip r:embed="rId2"/>
          <a:srcRect t="19986" b="5013"/>
          <a:stretch/>
        </p:blipFill>
        <p:spPr>
          <a:xfrm>
            <a:off x="6096000" y="0"/>
            <a:ext cx="6096000" cy="6858000"/>
          </a:xfrm>
          <a:prstGeom prst="rect">
            <a:avLst/>
          </a:prstGeom>
        </p:spPr>
      </p:pic>
      <p:sp>
        <p:nvSpPr>
          <p:cNvPr id="18" name="Text Placeholder 17">
            <a:extLst>
              <a:ext uri="{FF2B5EF4-FFF2-40B4-BE49-F238E27FC236}">
                <a16:creationId xmlns:a16="http://schemas.microsoft.com/office/drawing/2014/main" id="{0EC1ACD4-AD50-8F41-9195-84254F1274CC}"/>
              </a:ext>
            </a:extLst>
          </p:cNvPr>
          <p:cNvSpPr>
            <a:spLocks noGrp="1"/>
          </p:cNvSpPr>
          <p:nvPr>
            <p:ph type="body" sz="quarter" idx="10" hasCustomPrompt="1"/>
          </p:nvPr>
        </p:nvSpPr>
        <p:spPr>
          <a:xfrm>
            <a:off x="635733" y="2312876"/>
            <a:ext cx="4824535" cy="2232248"/>
          </a:xfrm>
          <a:prstGeom prst="rect">
            <a:avLst/>
          </a:prstGeom>
        </p:spPr>
        <p:txBody>
          <a:bodyPr>
            <a:normAutofit/>
          </a:bodyPr>
          <a:lstStyle>
            <a:lvl1pPr marL="0" indent="0">
              <a:buNone/>
              <a:defRPr sz="8000" b="0">
                <a:solidFill>
                  <a:schemeClr val="bg1"/>
                </a:solidFill>
                <a:latin typeface="Times" pitchFamily="2" charset="0"/>
              </a:defRPr>
            </a:lvl1pPr>
          </a:lstStyle>
          <a:p>
            <a:pPr lvl="0"/>
            <a:r>
              <a:rPr lang="en-US"/>
              <a:t>Highlight here</a:t>
            </a:r>
          </a:p>
        </p:txBody>
      </p:sp>
      <p:pic>
        <p:nvPicPr>
          <p:cNvPr id="19" name="Graphic 18">
            <a:extLst>
              <a:ext uri="{FF2B5EF4-FFF2-40B4-BE49-F238E27FC236}">
                <a16:creationId xmlns:a16="http://schemas.microsoft.com/office/drawing/2014/main" id="{A5601D09-D59D-6445-9163-030044C53AF6}"/>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1364" y="6261360"/>
            <a:ext cx="615616" cy="247956"/>
          </a:xfrm>
          <a:prstGeom prst="rect">
            <a:avLst/>
          </a:prstGeom>
        </p:spPr>
      </p:pic>
      <p:sp>
        <p:nvSpPr>
          <p:cNvPr id="22" name="Rectangle 21">
            <a:extLst>
              <a:ext uri="{FF2B5EF4-FFF2-40B4-BE49-F238E27FC236}">
                <a16:creationId xmlns:a16="http://schemas.microsoft.com/office/drawing/2014/main" id="{9AE6DE4D-730D-1D44-9609-15D7F8CCAE0A}"/>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sp>
        <p:nvSpPr>
          <p:cNvPr id="23" name="Rectangle 22">
            <a:extLst>
              <a:ext uri="{FF2B5EF4-FFF2-40B4-BE49-F238E27FC236}">
                <a16:creationId xmlns:a16="http://schemas.microsoft.com/office/drawing/2014/main" id="{8891FCEB-FEB0-B445-9E1B-B0554F1C3DBD}"/>
              </a:ext>
            </a:extLst>
          </p:cNvPr>
          <p:cNvSpPr/>
          <p:nvPr userDrawn="1"/>
        </p:nvSpPr>
        <p:spPr>
          <a:xfrm>
            <a:off x="0" y="-1"/>
            <a:ext cx="12192000" cy="188913"/>
          </a:xfrm>
          <a:prstGeom prst="rect">
            <a:avLst/>
          </a:prstGeom>
          <a:solidFill>
            <a:srgbClr val="34E82A"/>
          </a:solidFill>
          <a:ln>
            <a:solidFill>
              <a:srgbClr val="34E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A5E12"/>
              </a:solidFill>
            </a:endParaRPr>
          </a:p>
        </p:txBody>
      </p:sp>
    </p:spTree>
    <p:extLst>
      <p:ext uri="{BB962C8B-B14F-4D97-AF65-F5344CB8AC3E}">
        <p14:creationId xmlns:p14="http://schemas.microsoft.com/office/powerpoint/2010/main" val="104617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2308BDD-D1C8-304F-924D-0ADD13DE270E}"/>
              </a:ext>
            </a:extLst>
          </p:cNvPr>
          <p:cNvSpPr>
            <a:spLocks noGrp="1"/>
          </p:cNvSpPr>
          <p:nvPr>
            <p:ph type="body" sz="quarter" idx="10" hasCustomPrompt="1"/>
          </p:nvPr>
        </p:nvSpPr>
        <p:spPr>
          <a:xfrm>
            <a:off x="2063552" y="2042917"/>
            <a:ext cx="7920880" cy="2772166"/>
          </a:xfrm>
          <a:prstGeom prst="rect">
            <a:avLst/>
          </a:prstGeom>
        </p:spPr>
        <p:txBody>
          <a:bodyPr>
            <a:noAutofit/>
          </a:bodyPr>
          <a:lstStyle>
            <a:lvl1pPr marL="0" indent="0">
              <a:lnSpc>
                <a:spcPct val="100000"/>
              </a:lnSpc>
              <a:buNone/>
              <a:defRPr sz="5400">
                <a:latin typeface="Times" pitchFamily="2" charset="0"/>
              </a:defRPr>
            </a:lvl1pPr>
            <a:lvl2pPr>
              <a:defRPr sz="4400">
                <a:latin typeface="Stanley Regular" panose="02050506080406020003" pitchFamily="18" charset="77"/>
              </a:defRPr>
            </a:lvl2pPr>
            <a:lvl3pPr>
              <a:defRPr sz="4000">
                <a:latin typeface="Stanley Regular" panose="02050506080406020003" pitchFamily="18" charset="77"/>
              </a:defRPr>
            </a:lvl3pPr>
            <a:lvl4pPr>
              <a:defRPr sz="3600">
                <a:latin typeface="Stanley Regular" panose="02050506080406020003" pitchFamily="18" charset="77"/>
              </a:defRPr>
            </a:lvl4pPr>
            <a:lvl5pPr>
              <a:defRPr sz="3600">
                <a:latin typeface="Stanley Regular" panose="02050506080406020003" pitchFamily="18" charset="77"/>
              </a:defRPr>
            </a:lvl5pPr>
          </a:lstStyle>
          <a:p>
            <a:pPr lvl="0"/>
            <a:r>
              <a:rPr lang="en-US"/>
              <a:t>Example of quote or highlight that you want </a:t>
            </a:r>
            <a:br>
              <a:rPr lang="en-US"/>
            </a:br>
            <a:r>
              <a:rPr lang="en-US"/>
              <a:t>to show on a single slide.</a:t>
            </a:r>
          </a:p>
        </p:txBody>
      </p:sp>
      <p:sp>
        <p:nvSpPr>
          <p:cNvPr id="9" name="Rectangle 8">
            <a:extLst>
              <a:ext uri="{FF2B5EF4-FFF2-40B4-BE49-F238E27FC236}">
                <a16:creationId xmlns:a16="http://schemas.microsoft.com/office/drawing/2014/main" id="{A8B01C40-2484-F84D-867A-815BBB11CA66}"/>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BB14617F-E4C7-B742-A23E-E6421E0285B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31401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512F6D-F3D9-F549-B439-41BDA2B7CACC}"/>
              </a:ext>
            </a:extLst>
          </p:cNvPr>
          <p:cNvSpPr/>
          <p:nvPr userDrawn="1"/>
        </p:nvSpPr>
        <p:spPr>
          <a:xfrm>
            <a:off x="1" y="188912"/>
            <a:ext cx="6095999" cy="3203576"/>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6" name="Picture 15" descr="A picture containing seat&#10;&#10;Description automatically generated">
            <a:extLst>
              <a:ext uri="{FF2B5EF4-FFF2-40B4-BE49-F238E27FC236}">
                <a16:creationId xmlns:a16="http://schemas.microsoft.com/office/drawing/2014/main" id="{E2EBEC26-CFCF-834F-9157-3BD45FE5FC0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3392488"/>
            <a:ext cx="6096000" cy="3465512"/>
          </a:xfrm>
          <a:prstGeom prst="rect">
            <a:avLst/>
          </a:prstGeom>
        </p:spPr>
      </p:pic>
      <p:sp>
        <p:nvSpPr>
          <p:cNvPr id="3" name="Text Placeholder 2">
            <a:extLst>
              <a:ext uri="{FF2B5EF4-FFF2-40B4-BE49-F238E27FC236}">
                <a16:creationId xmlns:a16="http://schemas.microsoft.com/office/drawing/2014/main" id="{5F7AB3D3-A88B-5047-AB44-5987211DD1E5}"/>
              </a:ext>
            </a:extLst>
          </p:cNvPr>
          <p:cNvSpPr>
            <a:spLocks noGrp="1"/>
          </p:cNvSpPr>
          <p:nvPr>
            <p:ph type="body" sz="quarter" idx="10" hasCustomPrompt="1"/>
          </p:nvPr>
        </p:nvSpPr>
        <p:spPr>
          <a:xfrm>
            <a:off x="371364" y="599778"/>
            <a:ext cx="5364595" cy="2357103"/>
          </a:xfrm>
          <a:prstGeom prst="rect">
            <a:avLst/>
          </a:prstGeom>
        </p:spPr>
        <p:txBody>
          <a:bodyPr/>
          <a:lstStyle>
            <a:lvl1pPr marL="0" indent="0">
              <a:buNone/>
              <a:defRPr sz="4000">
                <a:latin typeface="Times" pitchFamily="2" charset="0"/>
              </a:defRPr>
            </a:lvl1pPr>
          </a:lstStyle>
          <a:p>
            <a:pPr lvl="0"/>
            <a:r>
              <a:rPr lang="en-US"/>
              <a:t>Main point</a:t>
            </a:r>
          </a:p>
        </p:txBody>
      </p:sp>
      <p:sp>
        <p:nvSpPr>
          <p:cNvPr id="20" name="Content Placeholder 3">
            <a:extLst>
              <a:ext uri="{FF2B5EF4-FFF2-40B4-BE49-F238E27FC236}">
                <a16:creationId xmlns:a16="http://schemas.microsoft.com/office/drawing/2014/main" id="{D9D0EBD8-8E8C-2A44-805C-BFC2FE92ED0D}"/>
              </a:ext>
            </a:extLst>
          </p:cNvPr>
          <p:cNvSpPr>
            <a:spLocks noGrp="1"/>
          </p:cNvSpPr>
          <p:nvPr>
            <p:ph sz="half" idx="2"/>
          </p:nvPr>
        </p:nvSpPr>
        <p:spPr>
          <a:xfrm>
            <a:off x="6467363" y="599778"/>
            <a:ext cx="5353273" cy="5493518"/>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Rectangle 25">
            <a:extLst>
              <a:ext uri="{FF2B5EF4-FFF2-40B4-BE49-F238E27FC236}">
                <a16:creationId xmlns:a16="http://schemas.microsoft.com/office/drawing/2014/main" id="{E830E3E4-F3AC-334D-84F4-EE808D7A35CA}"/>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pic>
        <p:nvPicPr>
          <p:cNvPr id="27" name="Graphic 26">
            <a:extLst>
              <a:ext uri="{FF2B5EF4-FFF2-40B4-BE49-F238E27FC236}">
                <a16:creationId xmlns:a16="http://schemas.microsoft.com/office/drawing/2014/main" id="{5F8C3269-BD39-7D4F-9DEB-B06F42C3382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1364" y="6264794"/>
            <a:ext cx="615616" cy="247956"/>
          </a:xfrm>
          <a:prstGeom prst="rect">
            <a:avLst/>
          </a:prstGeom>
        </p:spPr>
      </p:pic>
      <p:sp>
        <p:nvSpPr>
          <p:cNvPr id="29" name="Rectangle 28">
            <a:extLst>
              <a:ext uri="{FF2B5EF4-FFF2-40B4-BE49-F238E27FC236}">
                <a16:creationId xmlns:a16="http://schemas.microsoft.com/office/drawing/2014/main" id="{6448590C-F97A-2D48-B1EB-540623B5AB9E}"/>
              </a:ext>
            </a:extLst>
          </p:cNvPr>
          <p:cNvSpPr/>
          <p:nvPr userDrawn="1"/>
        </p:nvSpPr>
        <p:spPr>
          <a:xfrm>
            <a:off x="0" y="-1"/>
            <a:ext cx="12192000" cy="188913"/>
          </a:xfrm>
          <a:prstGeom prst="rect">
            <a:avLst/>
          </a:prstGeom>
          <a:solidFill>
            <a:srgbClr val="34E82A"/>
          </a:solidFill>
          <a:ln>
            <a:solidFill>
              <a:srgbClr val="34E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A5E12"/>
              </a:solidFill>
            </a:endParaRPr>
          </a:p>
        </p:txBody>
      </p:sp>
    </p:spTree>
    <p:extLst>
      <p:ext uri="{BB962C8B-B14F-4D97-AF65-F5344CB8AC3E}">
        <p14:creationId xmlns:p14="http://schemas.microsoft.com/office/powerpoint/2010/main" val="4044092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11449272" cy="4524616"/>
          </a:xfrm>
          <a:prstGeom prst="rect">
            <a:avLst/>
          </a:prstGeom>
        </p:spPr>
        <p:txBody>
          <a:bodyPr/>
          <a:lstStyle>
            <a:lvl1pPr>
              <a:defRPr>
                <a:latin typeface="Satoshi" pitchFamily="2" charset="77"/>
              </a:defRPr>
            </a:lvl1pPr>
            <a:lvl2pPr>
              <a:defRPr>
                <a:latin typeface="Satoshi" pitchFamily="2" charset="77"/>
              </a:defRPr>
            </a:lvl2pPr>
            <a:lvl3pPr>
              <a:defRPr>
                <a:latin typeface="Satoshi" pitchFamily="2" charset="77"/>
              </a:defRPr>
            </a:lvl3pPr>
            <a:lvl4pPr>
              <a:defRPr>
                <a:latin typeface="Satoshi" pitchFamily="2" charset="77"/>
              </a:defRPr>
            </a:lvl4pPr>
            <a:lvl5pPr>
              <a:defRPr>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7B8E1702-175D-6940-85D2-5D8E4EA41B1C}"/>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A2BAE3BA-A908-6B42-9CCA-3CEEED1814D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564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solidFill>
                  <a:schemeClr val="bg1"/>
                </a:solidFill>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11449272"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29FDC764-47A6-A04A-9E03-B53559B609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13" name="Rectangle 12">
            <a:extLst>
              <a:ext uri="{FF2B5EF4-FFF2-40B4-BE49-F238E27FC236}">
                <a16:creationId xmlns:a16="http://schemas.microsoft.com/office/drawing/2014/main" id="{1C76F8CC-1EB6-CC46-A64C-F36C6E8264F3}"/>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1321648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5559377" cy="4524616"/>
          </a:xfrm>
          <a:prstGeom prst="rect">
            <a:avLst/>
          </a:prstGeom>
        </p:spPr>
        <p:txBody>
          <a:bodyPr/>
          <a:lstStyle>
            <a:lvl1pPr>
              <a:defRPr>
                <a:latin typeface="Satoshi" pitchFamily="2" charset="77"/>
              </a:defRPr>
            </a:lvl1pPr>
            <a:lvl2pPr>
              <a:defRPr>
                <a:latin typeface="Satoshi" pitchFamily="2" charset="77"/>
              </a:defRPr>
            </a:lvl2pPr>
            <a:lvl3pPr>
              <a:defRPr>
                <a:latin typeface="Satoshi" pitchFamily="2" charset="77"/>
              </a:defRPr>
            </a:lvl3pPr>
            <a:lvl4pPr>
              <a:defRPr>
                <a:latin typeface="Satoshi" pitchFamily="2" charset="77"/>
              </a:defRPr>
            </a:lvl4pPr>
            <a:lvl5pPr>
              <a:defRPr>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6019" y="1496672"/>
            <a:ext cx="5544617" cy="4524616"/>
          </a:xfrm>
          <a:prstGeom prst="rect">
            <a:avLst/>
          </a:prstGeom>
        </p:spPr>
        <p:txBody>
          <a:bodyPr/>
          <a:lstStyle>
            <a:lvl1pPr>
              <a:defRPr>
                <a:latin typeface="Satoshi" pitchFamily="2" charset="77"/>
              </a:defRPr>
            </a:lvl1pPr>
            <a:lvl2pPr>
              <a:defRPr>
                <a:latin typeface="Satoshi" pitchFamily="2" charset="77"/>
              </a:defRPr>
            </a:lvl2pPr>
            <a:lvl3pPr>
              <a:defRPr>
                <a:latin typeface="Satoshi" pitchFamily="2" charset="77"/>
              </a:defRPr>
            </a:lvl3pPr>
            <a:lvl4pPr>
              <a:defRPr>
                <a:latin typeface="Satoshi" pitchFamily="2" charset="77"/>
              </a:defRPr>
            </a:lvl4pPr>
            <a:lvl5pPr>
              <a:defRPr>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7B8E1702-175D-6940-85D2-5D8E4EA41B1C}"/>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A2BAE3BA-A908-6B42-9CCA-3CEEED1814D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089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solidFill>
                  <a:schemeClr val="bg1"/>
                </a:solidFill>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5559377"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6019" y="1496672"/>
            <a:ext cx="5544617"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29FDC764-47A6-A04A-9E03-B53559B609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13" name="Rectangle 12">
            <a:extLst>
              <a:ext uri="{FF2B5EF4-FFF2-40B4-BE49-F238E27FC236}">
                <a16:creationId xmlns:a16="http://schemas.microsoft.com/office/drawing/2014/main" id="{1C76F8CC-1EB6-CC46-A64C-F36C6E8264F3}"/>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1772744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512F6D-F3D9-F549-B439-41BDA2B7CACC}"/>
              </a:ext>
            </a:extLst>
          </p:cNvPr>
          <p:cNvSpPr/>
          <p:nvPr userDrawn="1"/>
        </p:nvSpPr>
        <p:spPr>
          <a:xfrm>
            <a:off x="1" y="188912"/>
            <a:ext cx="6095999" cy="3203576"/>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6" name="Picture 15" descr="A picture containing seat&#10;&#10;Description automatically generated">
            <a:extLst>
              <a:ext uri="{FF2B5EF4-FFF2-40B4-BE49-F238E27FC236}">
                <a16:creationId xmlns:a16="http://schemas.microsoft.com/office/drawing/2014/main" id="{E2EBEC26-CFCF-834F-9157-3BD45FE5FC0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3392488"/>
            <a:ext cx="6096000" cy="3465512"/>
          </a:xfrm>
          <a:prstGeom prst="rect">
            <a:avLst/>
          </a:prstGeom>
        </p:spPr>
      </p:pic>
      <p:sp>
        <p:nvSpPr>
          <p:cNvPr id="3" name="Text Placeholder 2">
            <a:extLst>
              <a:ext uri="{FF2B5EF4-FFF2-40B4-BE49-F238E27FC236}">
                <a16:creationId xmlns:a16="http://schemas.microsoft.com/office/drawing/2014/main" id="{5F7AB3D3-A88B-5047-AB44-5987211DD1E5}"/>
              </a:ext>
            </a:extLst>
          </p:cNvPr>
          <p:cNvSpPr>
            <a:spLocks noGrp="1"/>
          </p:cNvSpPr>
          <p:nvPr>
            <p:ph type="body" sz="quarter" idx="10" hasCustomPrompt="1"/>
          </p:nvPr>
        </p:nvSpPr>
        <p:spPr>
          <a:xfrm>
            <a:off x="371364" y="599778"/>
            <a:ext cx="5364595" cy="2357103"/>
          </a:xfrm>
          <a:prstGeom prst="rect">
            <a:avLst/>
          </a:prstGeom>
        </p:spPr>
        <p:txBody>
          <a:bodyPr/>
          <a:lstStyle>
            <a:lvl1pPr marL="0" indent="0">
              <a:buNone/>
              <a:defRPr sz="4000">
                <a:latin typeface="Times" pitchFamily="2" charset="0"/>
              </a:defRPr>
            </a:lvl1pPr>
          </a:lstStyle>
          <a:p>
            <a:pPr lvl="0"/>
            <a:r>
              <a:rPr lang="en-US"/>
              <a:t>Main point</a:t>
            </a:r>
          </a:p>
        </p:txBody>
      </p:sp>
      <p:sp>
        <p:nvSpPr>
          <p:cNvPr id="20" name="Content Placeholder 3">
            <a:extLst>
              <a:ext uri="{FF2B5EF4-FFF2-40B4-BE49-F238E27FC236}">
                <a16:creationId xmlns:a16="http://schemas.microsoft.com/office/drawing/2014/main" id="{D9D0EBD8-8E8C-2A44-805C-BFC2FE92ED0D}"/>
              </a:ext>
            </a:extLst>
          </p:cNvPr>
          <p:cNvSpPr>
            <a:spLocks noGrp="1"/>
          </p:cNvSpPr>
          <p:nvPr>
            <p:ph sz="half" idx="2"/>
          </p:nvPr>
        </p:nvSpPr>
        <p:spPr>
          <a:xfrm>
            <a:off x="6467363" y="599778"/>
            <a:ext cx="5353273" cy="5493518"/>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6" name="Rectangle 25">
            <a:extLst>
              <a:ext uri="{FF2B5EF4-FFF2-40B4-BE49-F238E27FC236}">
                <a16:creationId xmlns:a16="http://schemas.microsoft.com/office/drawing/2014/main" id="{E830E3E4-F3AC-334D-84F4-EE808D7A35CA}"/>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pic>
        <p:nvPicPr>
          <p:cNvPr id="27" name="Graphic 26">
            <a:extLst>
              <a:ext uri="{FF2B5EF4-FFF2-40B4-BE49-F238E27FC236}">
                <a16:creationId xmlns:a16="http://schemas.microsoft.com/office/drawing/2014/main" id="{5F8C3269-BD39-7D4F-9DEB-B06F42C3382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1364" y="6264794"/>
            <a:ext cx="615616" cy="247956"/>
          </a:xfrm>
          <a:prstGeom prst="rect">
            <a:avLst/>
          </a:prstGeom>
        </p:spPr>
      </p:pic>
      <p:sp>
        <p:nvSpPr>
          <p:cNvPr id="29" name="Rectangle 28">
            <a:extLst>
              <a:ext uri="{FF2B5EF4-FFF2-40B4-BE49-F238E27FC236}">
                <a16:creationId xmlns:a16="http://schemas.microsoft.com/office/drawing/2014/main" id="{6448590C-F97A-2D48-B1EB-540623B5AB9E}"/>
              </a:ext>
            </a:extLst>
          </p:cNvPr>
          <p:cNvSpPr/>
          <p:nvPr userDrawn="1"/>
        </p:nvSpPr>
        <p:spPr>
          <a:xfrm>
            <a:off x="0" y="-1"/>
            <a:ext cx="12192000" cy="188913"/>
          </a:xfrm>
          <a:prstGeom prst="rect">
            <a:avLst/>
          </a:prstGeom>
          <a:solidFill>
            <a:srgbClr val="34E82A"/>
          </a:solidFill>
          <a:ln>
            <a:solidFill>
              <a:srgbClr val="34E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A5E12"/>
              </a:solidFill>
            </a:endParaRPr>
          </a:p>
        </p:txBody>
      </p:sp>
    </p:spTree>
    <p:extLst>
      <p:ext uri="{BB962C8B-B14F-4D97-AF65-F5344CB8AC3E}">
        <p14:creationId xmlns:p14="http://schemas.microsoft.com/office/powerpoint/2010/main" val="2505153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latin typeface="Times" pitchFamily="2" charset="0"/>
              </a:defRPr>
            </a:lvl1pPr>
          </a:lstStyle>
          <a:p>
            <a:r>
              <a:rPr lang="en-GB"/>
              <a:t>Click to edit Master title style</a:t>
            </a:r>
            <a:endParaRPr lang="en-US"/>
          </a:p>
        </p:txBody>
      </p:sp>
      <p:sp>
        <p:nvSpPr>
          <p:cNvPr id="3" name="Content Placeholder 2"/>
          <p:cNvSpPr>
            <a:spLocks noGrp="1"/>
          </p:cNvSpPr>
          <p:nvPr>
            <p:ph sz="half" idx="1"/>
          </p:nvPr>
        </p:nvSpPr>
        <p:spPr>
          <a:xfrm>
            <a:off x="371363" y="1496672"/>
            <a:ext cx="11449272" cy="4524616"/>
          </a:xfrm>
          <a:prstGeom prst="rect">
            <a:avLst/>
          </a:prstGeom>
        </p:spPr>
        <p:txBody>
          <a:bodyPr/>
          <a:lstStyle>
            <a:lvl1pPr>
              <a:defRPr>
                <a:latin typeface="Satoshi" pitchFamily="2" charset="77"/>
              </a:defRPr>
            </a:lvl1pPr>
            <a:lvl2pPr>
              <a:defRPr>
                <a:latin typeface="Satoshi" pitchFamily="2" charset="77"/>
              </a:defRPr>
            </a:lvl2pPr>
            <a:lvl3pPr>
              <a:defRPr>
                <a:latin typeface="Satoshi" pitchFamily="2" charset="77"/>
              </a:defRPr>
            </a:lvl3pPr>
            <a:lvl4pPr>
              <a:defRPr>
                <a:latin typeface="Satoshi" pitchFamily="2" charset="77"/>
              </a:defRPr>
            </a:lvl4pPr>
            <a:lvl5pPr>
              <a:defRPr>
                <a:latin typeface="Satosh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Rectangle 8">
            <a:extLst>
              <a:ext uri="{FF2B5EF4-FFF2-40B4-BE49-F238E27FC236}">
                <a16:creationId xmlns:a16="http://schemas.microsoft.com/office/drawing/2014/main" id="{7B8E1702-175D-6940-85D2-5D8E4EA41B1C}"/>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A2BAE3BA-A908-6B42-9CCA-3CEEED1814D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98592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Content -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solidFill>
                  <a:schemeClr val="bg1"/>
                </a:solidFill>
                <a:latin typeface="Times" pitchFamily="2" charset="0"/>
              </a:defRPr>
            </a:lvl1pPr>
          </a:lstStyle>
          <a:p>
            <a:r>
              <a:rPr lang="en-GB"/>
              <a:t>Click to edit Master title style</a:t>
            </a:r>
            <a:endParaRPr lang="en-US"/>
          </a:p>
        </p:txBody>
      </p:sp>
      <p:sp>
        <p:nvSpPr>
          <p:cNvPr id="3" name="Content Placeholder 2"/>
          <p:cNvSpPr>
            <a:spLocks noGrp="1"/>
          </p:cNvSpPr>
          <p:nvPr>
            <p:ph sz="half" idx="1"/>
          </p:nvPr>
        </p:nvSpPr>
        <p:spPr>
          <a:xfrm>
            <a:off x="371363" y="1496672"/>
            <a:ext cx="11449272"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29FDC764-47A6-A04A-9E03-B53559B609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13" name="Rectangle 12">
            <a:extLst>
              <a:ext uri="{FF2B5EF4-FFF2-40B4-BE49-F238E27FC236}">
                <a16:creationId xmlns:a16="http://schemas.microsoft.com/office/drawing/2014/main" id="{1C76F8CC-1EB6-CC46-A64C-F36C6E8264F3}"/>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4033004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latin typeface="Times" pitchFamily="2" charset="0"/>
              </a:defRPr>
            </a:lvl1pPr>
          </a:lstStyle>
          <a:p>
            <a:r>
              <a:rPr lang="en-GB"/>
              <a:t>Click to edit Master title style</a:t>
            </a:r>
            <a:endParaRPr lang="en-US"/>
          </a:p>
        </p:txBody>
      </p:sp>
      <p:sp>
        <p:nvSpPr>
          <p:cNvPr id="3" name="Content Placeholder 2"/>
          <p:cNvSpPr>
            <a:spLocks noGrp="1"/>
          </p:cNvSpPr>
          <p:nvPr>
            <p:ph sz="half" idx="1"/>
          </p:nvPr>
        </p:nvSpPr>
        <p:spPr>
          <a:xfrm>
            <a:off x="371363" y="1496672"/>
            <a:ext cx="5559377" cy="4524616"/>
          </a:xfrm>
          <a:prstGeom prst="rect">
            <a:avLst/>
          </a:prstGeom>
        </p:spPr>
        <p:txBody>
          <a:bodyPr/>
          <a:lstStyle>
            <a:lvl1pPr>
              <a:defRPr>
                <a:latin typeface="Satoshi" pitchFamily="2" charset="77"/>
              </a:defRPr>
            </a:lvl1pPr>
            <a:lvl2pPr>
              <a:defRPr>
                <a:latin typeface="Satoshi" pitchFamily="2" charset="77"/>
              </a:defRPr>
            </a:lvl2pPr>
            <a:lvl3pPr>
              <a:defRPr>
                <a:latin typeface="Satoshi" pitchFamily="2" charset="77"/>
              </a:defRPr>
            </a:lvl3pPr>
            <a:lvl4pPr>
              <a:defRPr>
                <a:latin typeface="Satoshi" pitchFamily="2" charset="77"/>
              </a:defRPr>
            </a:lvl4pPr>
            <a:lvl5pPr>
              <a:defRPr>
                <a:latin typeface="Satosh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276019" y="1496672"/>
            <a:ext cx="5544617" cy="4524616"/>
          </a:xfrm>
          <a:prstGeom prst="rect">
            <a:avLst/>
          </a:prstGeom>
        </p:spPr>
        <p:txBody>
          <a:bodyPr/>
          <a:lstStyle>
            <a:lvl1pPr>
              <a:defRPr>
                <a:latin typeface="Satoshi" pitchFamily="2" charset="77"/>
              </a:defRPr>
            </a:lvl1pPr>
            <a:lvl2pPr>
              <a:defRPr>
                <a:latin typeface="Satoshi" pitchFamily="2" charset="77"/>
              </a:defRPr>
            </a:lvl2pPr>
            <a:lvl3pPr>
              <a:defRPr>
                <a:latin typeface="Satoshi" pitchFamily="2" charset="77"/>
              </a:defRPr>
            </a:lvl3pPr>
            <a:lvl4pPr>
              <a:defRPr>
                <a:latin typeface="Satoshi" pitchFamily="2" charset="77"/>
              </a:defRPr>
            </a:lvl4pPr>
            <a:lvl5pPr>
              <a:defRPr>
                <a:latin typeface="Satosh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Rectangle 8">
            <a:extLst>
              <a:ext uri="{FF2B5EF4-FFF2-40B4-BE49-F238E27FC236}">
                <a16:creationId xmlns:a16="http://schemas.microsoft.com/office/drawing/2014/main" id="{7B8E1702-175D-6940-85D2-5D8E4EA41B1C}"/>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A2BAE3BA-A908-6B42-9CCA-3CEEED1814D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8521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solidFill>
                  <a:schemeClr val="bg1"/>
                </a:solidFill>
                <a:latin typeface="Times" pitchFamily="2" charset="0"/>
              </a:defRPr>
            </a:lvl1pPr>
          </a:lstStyle>
          <a:p>
            <a:r>
              <a:rPr lang="en-GB"/>
              <a:t>Click to edit Master title style</a:t>
            </a:r>
            <a:endParaRPr lang="en-US"/>
          </a:p>
        </p:txBody>
      </p:sp>
      <p:sp>
        <p:nvSpPr>
          <p:cNvPr id="3" name="Content Placeholder 2"/>
          <p:cNvSpPr>
            <a:spLocks noGrp="1"/>
          </p:cNvSpPr>
          <p:nvPr>
            <p:ph sz="half" idx="1"/>
          </p:nvPr>
        </p:nvSpPr>
        <p:spPr>
          <a:xfrm>
            <a:off x="371363" y="1496672"/>
            <a:ext cx="5559377"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276019" y="1496672"/>
            <a:ext cx="5544617"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29FDC764-47A6-A04A-9E03-B53559B609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13" name="Rectangle 12">
            <a:extLst>
              <a:ext uri="{FF2B5EF4-FFF2-40B4-BE49-F238E27FC236}">
                <a16:creationId xmlns:a16="http://schemas.microsoft.com/office/drawing/2014/main" id="{1C76F8CC-1EB6-CC46-A64C-F36C6E8264F3}"/>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8511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0808"/>
            <a:ext cx="10515600" cy="2213595"/>
          </a:xfrm>
          <a:prstGeom prst="rect">
            <a:avLst/>
          </a:prstGeom>
        </p:spPr>
        <p:txBody>
          <a:bodyPr anchor="b"/>
          <a:lstStyle>
            <a:lvl1pPr>
              <a:defRPr sz="5400" b="0">
                <a:latin typeface="Times" pitchFamily="2" charset="0"/>
              </a:defRPr>
            </a:lvl1pPr>
          </a:lstStyle>
          <a:p>
            <a:r>
              <a:rPr lang="en-GB"/>
              <a:t>Click to edit Master title style</a:t>
            </a:r>
            <a:endParaRPr lang="en-US"/>
          </a:p>
        </p:txBody>
      </p:sp>
      <p:sp>
        <p:nvSpPr>
          <p:cNvPr id="3" name="Text Placeholder 2"/>
          <p:cNvSpPr>
            <a:spLocks noGrp="1"/>
          </p:cNvSpPr>
          <p:nvPr>
            <p:ph type="body" idx="1"/>
          </p:nvPr>
        </p:nvSpPr>
        <p:spPr>
          <a:xfrm>
            <a:off x="831850" y="4410948"/>
            <a:ext cx="10515600" cy="783752"/>
          </a:xfrm>
          <a:prstGeom prst="rect">
            <a:avLst/>
          </a:prstGeom>
        </p:spPr>
        <p:txBody>
          <a:bodyPr/>
          <a:lstStyle>
            <a:lvl1pPr marL="0" indent="0">
              <a:buNone/>
              <a:defRPr sz="2400">
                <a:solidFill>
                  <a:schemeClr val="tx1">
                    <a:tint val="75000"/>
                  </a:schemeClr>
                </a:solidFill>
                <a:latin typeface="Satoshi"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cxnSp>
        <p:nvCxnSpPr>
          <p:cNvPr id="7" name="Straight Connector 6">
            <a:extLst>
              <a:ext uri="{FF2B5EF4-FFF2-40B4-BE49-F238E27FC236}">
                <a16:creationId xmlns:a16="http://schemas.microsoft.com/office/drawing/2014/main" id="{B0E028E1-1B82-CE44-99F2-3AE2206B07F5}"/>
              </a:ext>
            </a:extLst>
          </p:cNvPr>
          <p:cNvCxnSpPr/>
          <p:nvPr userDrawn="1"/>
        </p:nvCxnSpPr>
        <p:spPr>
          <a:xfrm>
            <a:off x="911424" y="4114580"/>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9A2AB55-3138-5247-9B2A-444384140D8A}"/>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869A2309-E7CD-FC4C-B4C8-CB97580819B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7578074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3">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512F6D-F3D9-F549-B439-41BDA2B7CACC}"/>
              </a:ext>
            </a:extLst>
          </p:cNvPr>
          <p:cNvSpPr/>
          <p:nvPr userDrawn="1"/>
        </p:nvSpPr>
        <p:spPr>
          <a:xfrm>
            <a:off x="1" y="188912"/>
            <a:ext cx="6095999" cy="3203576"/>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6" name="Picture 15" descr="A picture containing seat&#10;&#10;Description automatically generated">
            <a:extLst>
              <a:ext uri="{FF2B5EF4-FFF2-40B4-BE49-F238E27FC236}">
                <a16:creationId xmlns:a16="http://schemas.microsoft.com/office/drawing/2014/main" id="{E2EBEC26-CFCF-834F-9157-3BD45FE5FC0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3392488"/>
            <a:ext cx="6096000" cy="3465512"/>
          </a:xfrm>
          <a:prstGeom prst="rect">
            <a:avLst/>
          </a:prstGeom>
        </p:spPr>
      </p:pic>
      <p:sp>
        <p:nvSpPr>
          <p:cNvPr id="3" name="Text Placeholder 2">
            <a:extLst>
              <a:ext uri="{FF2B5EF4-FFF2-40B4-BE49-F238E27FC236}">
                <a16:creationId xmlns:a16="http://schemas.microsoft.com/office/drawing/2014/main" id="{5F7AB3D3-A88B-5047-AB44-5987211DD1E5}"/>
              </a:ext>
            </a:extLst>
          </p:cNvPr>
          <p:cNvSpPr>
            <a:spLocks noGrp="1"/>
          </p:cNvSpPr>
          <p:nvPr>
            <p:ph type="body" sz="quarter" idx="10" hasCustomPrompt="1"/>
          </p:nvPr>
        </p:nvSpPr>
        <p:spPr>
          <a:xfrm>
            <a:off x="371364" y="599778"/>
            <a:ext cx="5364595" cy="2357103"/>
          </a:xfrm>
          <a:prstGeom prst="rect">
            <a:avLst/>
          </a:prstGeom>
        </p:spPr>
        <p:txBody>
          <a:bodyPr/>
          <a:lstStyle>
            <a:lvl1pPr marL="0" indent="0">
              <a:buNone/>
              <a:defRPr sz="4000">
                <a:latin typeface="Times" pitchFamily="2" charset="0"/>
              </a:defRPr>
            </a:lvl1pPr>
          </a:lstStyle>
          <a:p>
            <a:pPr lvl="0"/>
            <a:r>
              <a:rPr lang="en-US"/>
              <a:t>Main point</a:t>
            </a:r>
          </a:p>
        </p:txBody>
      </p:sp>
      <p:sp>
        <p:nvSpPr>
          <p:cNvPr id="20" name="Content Placeholder 3">
            <a:extLst>
              <a:ext uri="{FF2B5EF4-FFF2-40B4-BE49-F238E27FC236}">
                <a16:creationId xmlns:a16="http://schemas.microsoft.com/office/drawing/2014/main" id="{D9D0EBD8-8E8C-2A44-805C-BFC2FE92ED0D}"/>
              </a:ext>
            </a:extLst>
          </p:cNvPr>
          <p:cNvSpPr>
            <a:spLocks noGrp="1"/>
          </p:cNvSpPr>
          <p:nvPr>
            <p:ph sz="half" idx="2"/>
          </p:nvPr>
        </p:nvSpPr>
        <p:spPr>
          <a:xfrm>
            <a:off x="6467363" y="599778"/>
            <a:ext cx="5353273" cy="5493518"/>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Rectangle 25">
            <a:extLst>
              <a:ext uri="{FF2B5EF4-FFF2-40B4-BE49-F238E27FC236}">
                <a16:creationId xmlns:a16="http://schemas.microsoft.com/office/drawing/2014/main" id="{E830E3E4-F3AC-334D-84F4-EE808D7A35CA}"/>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pic>
        <p:nvPicPr>
          <p:cNvPr id="27" name="Graphic 26">
            <a:extLst>
              <a:ext uri="{FF2B5EF4-FFF2-40B4-BE49-F238E27FC236}">
                <a16:creationId xmlns:a16="http://schemas.microsoft.com/office/drawing/2014/main" id="{5F8C3269-BD39-7D4F-9DEB-B06F42C3382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1364" y="6264794"/>
            <a:ext cx="615616" cy="247956"/>
          </a:xfrm>
          <a:prstGeom prst="rect">
            <a:avLst/>
          </a:prstGeom>
        </p:spPr>
      </p:pic>
      <p:sp>
        <p:nvSpPr>
          <p:cNvPr id="29" name="Rectangle 28">
            <a:extLst>
              <a:ext uri="{FF2B5EF4-FFF2-40B4-BE49-F238E27FC236}">
                <a16:creationId xmlns:a16="http://schemas.microsoft.com/office/drawing/2014/main" id="{6448590C-F97A-2D48-B1EB-540623B5AB9E}"/>
              </a:ext>
            </a:extLst>
          </p:cNvPr>
          <p:cNvSpPr/>
          <p:nvPr userDrawn="1"/>
        </p:nvSpPr>
        <p:spPr>
          <a:xfrm>
            <a:off x="0" y="-1"/>
            <a:ext cx="12192000" cy="188913"/>
          </a:xfrm>
          <a:prstGeom prst="rect">
            <a:avLst/>
          </a:prstGeom>
          <a:solidFill>
            <a:srgbClr val="34E82A"/>
          </a:solidFill>
          <a:ln>
            <a:solidFill>
              <a:srgbClr val="34E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A5E12"/>
              </a:solidFill>
            </a:endParaRPr>
          </a:p>
        </p:txBody>
      </p:sp>
    </p:spTree>
    <p:extLst>
      <p:ext uri="{BB962C8B-B14F-4D97-AF65-F5344CB8AC3E}">
        <p14:creationId xmlns:p14="http://schemas.microsoft.com/office/powerpoint/2010/main" val="15861097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One Content">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11449272" cy="4524616"/>
          </a:xfrm>
          <a:prstGeom prst="rect">
            <a:avLst/>
          </a:prstGeom>
        </p:spPr>
        <p:txBody>
          <a:bodyPr/>
          <a:lstStyle>
            <a:lvl1pPr>
              <a:defRPr>
                <a:latin typeface="Satoshi" pitchFamily="2" charset="77"/>
              </a:defRPr>
            </a:lvl1pPr>
            <a:lvl2pPr>
              <a:defRPr>
                <a:latin typeface="Satoshi" pitchFamily="2" charset="77"/>
              </a:defRPr>
            </a:lvl2pPr>
            <a:lvl3pPr>
              <a:defRPr>
                <a:latin typeface="Satoshi" pitchFamily="2" charset="77"/>
              </a:defRPr>
            </a:lvl3pPr>
            <a:lvl4pPr>
              <a:defRPr>
                <a:latin typeface="Satoshi" pitchFamily="2" charset="77"/>
              </a:defRPr>
            </a:lvl4pPr>
            <a:lvl5pPr>
              <a:defRPr>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7B8E1702-175D-6940-85D2-5D8E4EA41B1C}"/>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A2BAE3BA-A908-6B42-9CCA-3CEEED1814D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6704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ne Content -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solidFill>
                  <a:schemeClr val="bg1"/>
                </a:solidFill>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11449272"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29FDC764-47A6-A04A-9E03-B53559B609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13" name="Rectangle 12">
            <a:extLst>
              <a:ext uri="{FF2B5EF4-FFF2-40B4-BE49-F238E27FC236}">
                <a16:creationId xmlns:a16="http://schemas.microsoft.com/office/drawing/2014/main" id="{1C76F8CC-1EB6-CC46-A64C-F36C6E8264F3}"/>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33448889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5559377" cy="4524616"/>
          </a:xfrm>
          <a:prstGeom prst="rect">
            <a:avLst/>
          </a:prstGeom>
        </p:spPr>
        <p:txBody>
          <a:bodyPr/>
          <a:lstStyle>
            <a:lvl1pPr>
              <a:defRPr>
                <a:latin typeface="Satoshi" pitchFamily="2" charset="77"/>
              </a:defRPr>
            </a:lvl1pPr>
            <a:lvl2pPr>
              <a:defRPr>
                <a:latin typeface="Satoshi" pitchFamily="2" charset="77"/>
              </a:defRPr>
            </a:lvl2pPr>
            <a:lvl3pPr>
              <a:defRPr>
                <a:latin typeface="Satoshi" pitchFamily="2" charset="77"/>
              </a:defRPr>
            </a:lvl3pPr>
            <a:lvl4pPr>
              <a:defRPr>
                <a:latin typeface="Satoshi" pitchFamily="2" charset="77"/>
              </a:defRPr>
            </a:lvl4pPr>
            <a:lvl5pPr>
              <a:defRPr>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6019" y="1496672"/>
            <a:ext cx="5544617" cy="4524616"/>
          </a:xfrm>
          <a:prstGeom prst="rect">
            <a:avLst/>
          </a:prstGeom>
        </p:spPr>
        <p:txBody>
          <a:bodyPr/>
          <a:lstStyle>
            <a:lvl1pPr>
              <a:defRPr>
                <a:latin typeface="Satoshi" pitchFamily="2" charset="77"/>
              </a:defRPr>
            </a:lvl1pPr>
            <a:lvl2pPr>
              <a:defRPr>
                <a:latin typeface="Satoshi" pitchFamily="2" charset="77"/>
              </a:defRPr>
            </a:lvl2pPr>
            <a:lvl3pPr>
              <a:defRPr>
                <a:latin typeface="Satoshi" pitchFamily="2" charset="77"/>
              </a:defRPr>
            </a:lvl3pPr>
            <a:lvl4pPr>
              <a:defRPr>
                <a:latin typeface="Satoshi" pitchFamily="2" charset="77"/>
              </a:defRPr>
            </a:lvl4pPr>
            <a:lvl5pPr>
              <a:defRPr>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7B8E1702-175D-6940-85D2-5D8E4EA41B1C}"/>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A2BAE3BA-A908-6B42-9CCA-3CEEED1814D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95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solidFill>
                  <a:schemeClr val="bg1"/>
                </a:solidFill>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5559377"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6019" y="1496672"/>
            <a:ext cx="5544617"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29FDC764-47A6-A04A-9E03-B53559B609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13" name="Rectangle 12">
            <a:extLst>
              <a:ext uri="{FF2B5EF4-FFF2-40B4-BE49-F238E27FC236}">
                <a16:creationId xmlns:a16="http://schemas.microsoft.com/office/drawing/2014/main" id="{1C76F8CC-1EB6-CC46-A64C-F36C6E8264F3}"/>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8872628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0808"/>
            <a:ext cx="10515600" cy="2213595"/>
          </a:xfrm>
          <a:prstGeom prst="rect">
            <a:avLst/>
          </a:prstGeom>
        </p:spPr>
        <p:txBody>
          <a:bodyPr anchor="b"/>
          <a:lstStyle>
            <a:lvl1pPr>
              <a:defRPr sz="5400" b="0">
                <a:latin typeface="Times" pitchFamily="2" charset="0"/>
              </a:defRPr>
            </a:lvl1pPr>
          </a:lstStyle>
          <a:p>
            <a:r>
              <a:rPr lang="en-US"/>
              <a:t>Click to edit Master title style</a:t>
            </a:r>
          </a:p>
        </p:txBody>
      </p:sp>
      <p:sp>
        <p:nvSpPr>
          <p:cNvPr id="3" name="Text Placeholder 2"/>
          <p:cNvSpPr>
            <a:spLocks noGrp="1"/>
          </p:cNvSpPr>
          <p:nvPr>
            <p:ph type="body" idx="1"/>
          </p:nvPr>
        </p:nvSpPr>
        <p:spPr>
          <a:xfrm>
            <a:off x="831850" y="4410948"/>
            <a:ext cx="10515600" cy="783752"/>
          </a:xfrm>
          <a:prstGeom prst="rect">
            <a:avLst/>
          </a:prstGeom>
        </p:spPr>
        <p:txBody>
          <a:bodyPr/>
          <a:lstStyle>
            <a:lvl1pPr marL="0" indent="0">
              <a:buNone/>
              <a:defRPr sz="2400">
                <a:solidFill>
                  <a:schemeClr val="tx1">
                    <a:tint val="75000"/>
                  </a:schemeClr>
                </a:solidFill>
                <a:latin typeface="Satoshi"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7" name="Straight Connector 6">
            <a:extLst>
              <a:ext uri="{FF2B5EF4-FFF2-40B4-BE49-F238E27FC236}">
                <a16:creationId xmlns:a16="http://schemas.microsoft.com/office/drawing/2014/main" id="{B0E028E1-1B82-CE44-99F2-3AE2206B07F5}"/>
              </a:ext>
            </a:extLst>
          </p:cNvPr>
          <p:cNvCxnSpPr/>
          <p:nvPr userDrawn="1"/>
        </p:nvCxnSpPr>
        <p:spPr>
          <a:xfrm>
            <a:off x="911424" y="4114580"/>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9A2AB55-3138-5247-9B2A-444384140D8A}"/>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869A2309-E7CD-FC4C-B4C8-CB97580819B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20923355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0EF149-3B97-8449-AE99-9F9AEE7DA96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9" name="Graphic 8">
            <a:extLst>
              <a:ext uri="{FF2B5EF4-FFF2-40B4-BE49-F238E27FC236}">
                <a16:creationId xmlns:a16="http://schemas.microsoft.com/office/drawing/2014/main" id="{5EC60045-4281-AE44-9336-3AF08C8021C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18255756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 white">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C3BBB18-C4E0-2B42-A251-AE5B3861BD1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7" name="Rectangle 6">
            <a:extLst>
              <a:ext uri="{FF2B5EF4-FFF2-40B4-BE49-F238E27FC236}">
                <a16:creationId xmlns:a16="http://schemas.microsoft.com/office/drawing/2014/main" id="{D307A66A-E3D8-BB41-909B-3CD7BB04F62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32724113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1_Blank - white">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851243F-8B21-4F48-A472-B75E05C2BC9C}"/>
              </a:ext>
            </a:extLst>
          </p:cNvPr>
          <p:cNvSpPr/>
          <p:nvPr userDrawn="1"/>
        </p:nvSpPr>
        <p:spPr>
          <a:xfrm>
            <a:off x="0" y="2708920"/>
            <a:ext cx="12192000" cy="414908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C6206FAC-8312-F546-902C-7A5B3BE19BE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
        <p:nvSpPr>
          <p:cNvPr id="8" name="Rectangle 7">
            <a:extLst>
              <a:ext uri="{FF2B5EF4-FFF2-40B4-BE49-F238E27FC236}">
                <a16:creationId xmlns:a16="http://schemas.microsoft.com/office/drawing/2014/main" id="{2CAA7120-377D-8C4E-804D-FA7682E37D14}"/>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spTree>
    <p:extLst>
      <p:ext uri="{BB962C8B-B14F-4D97-AF65-F5344CB8AC3E}">
        <p14:creationId xmlns:p14="http://schemas.microsoft.com/office/powerpoint/2010/main" val="41441081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Quote Slid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2308BDD-D1C8-304F-924D-0ADD13DE270E}"/>
              </a:ext>
            </a:extLst>
          </p:cNvPr>
          <p:cNvSpPr>
            <a:spLocks noGrp="1"/>
          </p:cNvSpPr>
          <p:nvPr>
            <p:ph type="body" sz="quarter" idx="10" hasCustomPrompt="1"/>
          </p:nvPr>
        </p:nvSpPr>
        <p:spPr>
          <a:xfrm>
            <a:off x="2063552" y="2042917"/>
            <a:ext cx="7920880" cy="2772166"/>
          </a:xfrm>
          <a:prstGeom prst="rect">
            <a:avLst/>
          </a:prstGeom>
        </p:spPr>
        <p:txBody>
          <a:bodyPr>
            <a:noAutofit/>
          </a:bodyPr>
          <a:lstStyle>
            <a:lvl1pPr marL="0" indent="0">
              <a:lnSpc>
                <a:spcPct val="100000"/>
              </a:lnSpc>
              <a:buNone/>
              <a:defRPr sz="5400">
                <a:latin typeface="Times" pitchFamily="2" charset="0"/>
              </a:defRPr>
            </a:lvl1pPr>
            <a:lvl2pPr>
              <a:defRPr sz="4400">
                <a:latin typeface="Stanley Regular" panose="02050506080406020003" pitchFamily="18" charset="77"/>
              </a:defRPr>
            </a:lvl2pPr>
            <a:lvl3pPr>
              <a:defRPr sz="4000">
                <a:latin typeface="Stanley Regular" panose="02050506080406020003" pitchFamily="18" charset="77"/>
              </a:defRPr>
            </a:lvl3pPr>
            <a:lvl4pPr>
              <a:defRPr sz="3600">
                <a:latin typeface="Stanley Regular" panose="02050506080406020003" pitchFamily="18" charset="77"/>
              </a:defRPr>
            </a:lvl4pPr>
            <a:lvl5pPr>
              <a:defRPr sz="3600">
                <a:latin typeface="Stanley Regular" panose="02050506080406020003" pitchFamily="18" charset="77"/>
              </a:defRPr>
            </a:lvl5pPr>
          </a:lstStyle>
          <a:p>
            <a:pPr lvl="0"/>
            <a:r>
              <a:rPr lang="en-US"/>
              <a:t>Example of quote or highlight that you want </a:t>
            </a:r>
            <a:br>
              <a:rPr lang="en-US"/>
            </a:br>
            <a:r>
              <a:rPr lang="en-US"/>
              <a:t>to show on a single slide.</a:t>
            </a:r>
          </a:p>
        </p:txBody>
      </p:sp>
      <p:sp>
        <p:nvSpPr>
          <p:cNvPr id="9" name="Rectangle 8">
            <a:extLst>
              <a:ext uri="{FF2B5EF4-FFF2-40B4-BE49-F238E27FC236}">
                <a16:creationId xmlns:a16="http://schemas.microsoft.com/office/drawing/2014/main" id="{A8B01C40-2484-F84D-867A-815BBB11CA66}"/>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BB14617F-E4C7-B742-A23E-E6421E0285B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37212240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2_Blank - white">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C3BBB18-C4E0-2B42-A251-AE5B3861BD1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7" name="Rectangle 6">
            <a:extLst>
              <a:ext uri="{FF2B5EF4-FFF2-40B4-BE49-F238E27FC236}">
                <a16:creationId xmlns:a16="http://schemas.microsoft.com/office/drawing/2014/main" id="{D307A66A-E3D8-BB41-909B-3CD7BB04F62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34709530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3_Blank - white">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C3BBB18-C4E0-2B42-A251-AE5B3861BD1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7" name="Rectangle 6">
            <a:extLst>
              <a:ext uri="{FF2B5EF4-FFF2-40B4-BE49-F238E27FC236}">
                <a16:creationId xmlns:a16="http://schemas.microsoft.com/office/drawing/2014/main" id="{D307A66A-E3D8-BB41-909B-3CD7BB04F62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25578522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0EF149-3B97-8449-AE99-9F9AEE7DA96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9" name="Graphic 8">
            <a:extLst>
              <a:ext uri="{FF2B5EF4-FFF2-40B4-BE49-F238E27FC236}">
                <a16:creationId xmlns:a16="http://schemas.microsoft.com/office/drawing/2014/main" id="{5EC60045-4281-AE44-9336-3AF08C8021C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12821931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One Content">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11449272" cy="4524616"/>
          </a:xfrm>
          <a:prstGeom prst="rect">
            <a:avLst/>
          </a:prstGeom>
        </p:spPr>
        <p:txBody>
          <a:bodyPr/>
          <a:lstStyle>
            <a:lvl1pPr>
              <a:defRPr>
                <a:latin typeface="Satoshi" pitchFamily="2" charset="77"/>
              </a:defRPr>
            </a:lvl1pPr>
            <a:lvl2pPr>
              <a:defRPr>
                <a:latin typeface="Satoshi" pitchFamily="2" charset="77"/>
              </a:defRPr>
            </a:lvl2pPr>
            <a:lvl3pPr>
              <a:defRPr>
                <a:latin typeface="Satoshi" pitchFamily="2" charset="77"/>
              </a:defRPr>
            </a:lvl3pPr>
            <a:lvl4pPr>
              <a:defRPr>
                <a:latin typeface="Satoshi" pitchFamily="2" charset="77"/>
              </a:defRPr>
            </a:lvl4pPr>
            <a:lvl5pPr>
              <a:defRPr>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7B8E1702-175D-6940-85D2-5D8E4EA41B1C}"/>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A2BAE3BA-A908-6B42-9CCA-3CEEED1814D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59017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One Content -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solidFill>
                  <a:schemeClr val="bg1"/>
                </a:solidFill>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11449272"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29FDC764-47A6-A04A-9E03-B53559B609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13" name="Rectangle 12">
            <a:extLst>
              <a:ext uri="{FF2B5EF4-FFF2-40B4-BE49-F238E27FC236}">
                <a16:creationId xmlns:a16="http://schemas.microsoft.com/office/drawing/2014/main" id="{1C76F8CC-1EB6-CC46-A64C-F36C6E8264F3}"/>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39958599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wo Content -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solidFill>
                  <a:schemeClr val="bg1"/>
                </a:solidFill>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5559377"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6019" y="1496672"/>
            <a:ext cx="5544617"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29FDC764-47A6-A04A-9E03-B53559B609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13" name="Rectangle 12">
            <a:extLst>
              <a:ext uri="{FF2B5EF4-FFF2-40B4-BE49-F238E27FC236}">
                <a16:creationId xmlns:a16="http://schemas.microsoft.com/office/drawing/2014/main" id="{1C76F8CC-1EB6-CC46-A64C-F36C6E8264F3}"/>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18564216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0EF149-3B97-8449-AE99-9F9AEE7DA96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9" name="Graphic 8">
            <a:extLst>
              <a:ext uri="{FF2B5EF4-FFF2-40B4-BE49-F238E27FC236}">
                <a16:creationId xmlns:a16="http://schemas.microsoft.com/office/drawing/2014/main" id="{5EC60045-4281-AE44-9336-3AF08C8021C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9352869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4_Blank - white">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C3BBB18-C4E0-2B42-A251-AE5B3861BD1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7" name="Rectangle 6">
            <a:extLst>
              <a:ext uri="{FF2B5EF4-FFF2-40B4-BE49-F238E27FC236}">
                <a16:creationId xmlns:a16="http://schemas.microsoft.com/office/drawing/2014/main" id="{D307A66A-E3D8-BB41-909B-3CD7BB04F62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5375728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5_Blank - white">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851243F-8B21-4F48-A472-B75E05C2BC9C}"/>
              </a:ext>
            </a:extLst>
          </p:cNvPr>
          <p:cNvSpPr/>
          <p:nvPr userDrawn="1"/>
        </p:nvSpPr>
        <p:spPr>
          <a:xfrm>
            <a:off x="0" y="2708920"/>
            <a:ext cx="12192000" cy="414908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C6206FAC-8312-F546-902C-7A5B3BE19BE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
        <p:nvSpPr>
          <p:cNvPr id="8" name="Rectangle 7">
            <a:extLst>
              <a:ext uri="{FF2B5EF4-FFF2-40B4-BE49-F238E27FC236}">
                <a16:creationId xmlns:a16="http://schemas.microsoft.com/office/drawing/2014/main" id="{2CAA7120-377D-8C4E-804D-FA7682E37D14}"/>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spTree>
    <p:extLst>
      <p:ext uri="{BB962C8B-B14F-4D97-AF65-F5344CB8AC3E}">
        <p14:creationId xmlns:p14="http://schemas.microsoft.com/office/powerpoint/2010/main" val="13985237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2C353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0EF149-3B97-8449-AE99-9F9AEE7DA96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9" name="Graphic 8">
            <a:extLst>
              <a:ext uri="{FF2B5EF4-FFF2-40B4-BE49-F238E27FC236}">
                <a16:creationId xmlns:a16="http://schemas.microsoft.com/office/drawing/2014/main" id="{5EC60045-4281-AE44-9336-3AF08C8021C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1026388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 white">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A38C76-142B-F208-8261-2A94642F30EA}"/>
              </a:ext>
            </a:extLst>
          </p:cNvPr>
          <p:cNvSpPr/>
          <p:nvPr userDrawn="1"/>
        </p:nvSpPr>
        <p:spPr>
          <a:xfrm>
            <a:off x="0" y="0"/>
            <a:ext cx="3898900" cy="6858000"/>
          </a:xfrm>
          <a:prstGeom prst="rect">
            <a:avLst/>
          </a:prstGeom>
          <a:solidFill>
            <a:srgbClr val="2C353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4" name="Graphic 3">
            <a:extLst>
              <a:ext uri="{FF2B5EF4-FFF2-40B4-BE49-F238E27FC236}">
                <a16:creationId xmlns:a16="http://schemas.microsoft.com/office/drawing/2014/main" id="{5C3BBB18-C4E0-2B42-A251-AE5B3861BD1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7" name="Rectangle 6">
            <a:extLst>
              <a:ext uri="{FF2B5EF4-FFF2-40B4-BE49-F238E27FC236}">
                <a16:creationId xmlns:a16="http://schemas.microsoft.com/office/drawing/2014/main" id="{D307A66A-E3D8-BB41-909B-3CD7BB04F62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41221791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1_Blank - white">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851243F-8B21-4F48-A472-B75E05C2BC9C}"/>
              </a:ext>
            </a:extLst>
          </p:cNvPr>
          <p:cNvSpPr/>
          <p:nvPr userDrawn="1"/>
        </p:nvSpPr>
        <p:spPr>
          <a:xfrm>
            <a:off x="0" y="2708920"/>
            <a:ext cx="12192000" cy="4149080"/>
          </a:xfrm>
          <a:prstGeom prst="rect">
            <a:avLst/>
          </a:prstGeom>
          <a:solidFill>
            <a:srgbClr val="2C353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C6206FAC-8312-F546-902C-7A5B3BE19BE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
        <p:nvSpPr>
          <p:cNvPr id="8" name="Rectangle 7">
            <a:extLst>
              <a:ext uri="{FF2B5EF4-FFF2-40B4-BE49-F238E27FC236}">
                <a16:creationId xmlns:a16="http://schemas.microsoft.com/office/drawing/2014/main" id="{2CAA7120-377D-8C4E-804D-FA7682E37D14}"/>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spTree>
    <p:extLst>
      <p:ext uri="{BB962C8B-B14F-4D97-AF65-F5344CB8AC3E}">
        <p14:creationId xmlns:p14="http://schemas.microsoft.com/office/powerpoint/2010/main" val="34729726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Quote Slid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2308BDD-D1C8-304F-924D-0ADD13DE270E}"/>
              </a:ext>
            </a:extLst>
          </p:cNvPr>
          <p:cNvSpPr>
            <a:spLocks noGrp="1"/>
          </p:cNvSpPr>
          <p:nvPr>
            <p:ph type="body" sz="quarter" idx="10" hasCustomPrompt="1"/>
          </p:nvPr>
        </p:nvSpPr>
        <p:spPr>
          <a:xfrm>
            <a:off x="2063552" y="2042917"/>
            <a:ext cx="7920880" cy="2772166"/>
          </a:xfrm>
          <a:prstGeom prst="rect">
            <a:avLst/>
          </a:prstGeom>
        </p:spPr>
        <p:txBody>
          <a:bodyPr>
            <a:noAutofit/>
          </a:bodyPr>
          <a:lstStyle>
            <a:lvl1pPr marL="0" indent="0">
              <a:lnSpc>
                <a:spcPct val="100000"/>
              </a:lnSpc>
              <a:buNone/>
              <a:defRPr sz="5400">
                <a:latin typeface="Times" pitchFamily="2" charset="0"/>
              </a:defRPr>
            </a:lvl1pPr>
            <a:lvl2pPr>
              <a:defRPr sz="4400">
                <a:latin typeface="Stanley Regular" panose="02050506080406020003" pitchFamily="18" charset="77"/>
              </a:defRPr>
            </a:lvl2pPr>
            <a:lvl3pPr>
              <a:defRPr sz="4000">
                <a:latin typeface="Stanley Regular" panose="02050506080406020003" pitchFamily="18" charset="77"/>
              </a:defRPr>
            </a:lvl3pPr>
            <a:lvl4pPr>
              <a:defRPr sz="3600">
                <a:latin typeface="Stanley Regular" panose="02050506080406020003" pitchFamily="18" charset="77"/>
              </a:defRPr>
            </a:lvl4pPr>
            <a:lvl5pPr>
              <a:defRPr sz="3600">
                <a:latin typeface="Stanley Regular" panose="02050506080406020003" pitchFamily="18" charset="77"/>
              </a:defRPr>
            </a:lvl5pPr>
          </a:lstStyle>
          <a:p>
            <a:pPr lvl="0"/>
            <a:r>
              <a:rPr lang="en-US"/>
              <a:t>Example of quote or highlight that you want </a:t>
            </a:r>
            <a:br>
              <a:rPr lang="en-US"/>
            </a:br>
            <a:r>
              <a:rPr lang="en-US"/>
              <a:t>to show on a single slide.</a:t>
            </a:r>
          </a:p>
        </p:txBody>
      </p:sp>
      <p:sp>
        <p:nvSpPr>
          <p:cNvPr id="9" name="Rectangle 8">
            <a:extLst>
              <a:ext uri="{FF2B5EF4-FFF2-40B4-BE49-F238E27FC236}">
                <a16:creationId xmlns:a16="http://schemas.microsoft.com/office/drawing/2014/main" id="{A8B01C40-2484-F84D-867A-815BBB11CA66}"/>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BB14617F-E4C7-B742-A23E-E6421E0285B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38983760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2_Blank - white">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C3BBB18-C4E0-2B42-A251-AE5B3861BD1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7" name="Rectangle 6">
            <a:extLst>
              <a:ext uri="{FF2B5EF4-FFF2-40B4-BE49-F238E27FC236}">
                <a16:creationId xmlns:a16="http://schemas.microsoft.com/office/drawing/2014/main" id="{D307A66A-E3D8-BB41-909B-3CD7BB04F62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37476064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3_Blank - white">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C3BBB18-C4E0-2B42-A251-AE5B3861BD1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7" name="Rectangle 6">
            <a:extLst>
              <a:ext uri="{FF2B5EF4-FFF2-40B4-BE49-F238E27FC236}">
                <a16:creationId xmlns:a16="http://schemas.microsoft.com/office/drawing/2014/main" id="{D307A66A-E3D8-BB41-909B-3CD7BB04F62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1528690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0EF149-3B97-8449-AE99-9F9AEE7DA967}"/>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9" name="Graphic 8">
            <a:extLst>
              <a:ext uri="{FF2B5EF4-FFF2-40B4-BE49-F238E27FC236}">
                <a16:creationId xmlns:a16="http://schemas.microsoft.com/office/drawing/2014/main" id="{5EC60045-4281-AE44-9336-3AF08C8021C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Tree>
    <p:extLst>
      <p:ext uri="{BB962C8B-B14F-4D97-AF65-F5344CB8AC3E}">
        <p14:creationId xmlns:p14="http://schemas.microsoft.com/office/powerpoint/2010/main" val="217834731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One Content">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11449272" cy="4524616"/>
          </a:xfrm>
          <a:prstGeom prst="rect">
            <a:avLst/>
          </a:prstGeom>
        </p:spPr>
        <p:txBody>
          <a:bodyPr/>
          <a:lstStyle>
            <a:lvl1pPr>
              <a:defRPr>
                <a:latin typeface="Satoshi" pitchFamily="2" charset="77"/>
              </a:defRPr>
            </a:lvl1pPr>
            <a:lvl2pPr>
              <a:defRPr>
                <a:latin typeface="Satoshi" pitchFamily="2" charset="77"/>
              </a:defRPr>
            </a:lvl2pPr>
            <a:lvl3pPr>
              <a:defRPr>
                <a:latin typeface="Satoshi" pitchFamily="2" charset="77"/>
              </a:defRPr>
            </a:lvl3pPr>
            <a:lvl4pPr>
              <a:defRPr>
                <a:latin typeface="Satoshi" pitchFamily="2" charset="77"/>
              </a:defRPr>
            </a:lvl4pPr>
            <a:lvl5pPr>
              <a:defRPr>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7B8E1702-175D-6940-85D2-5D8E4EA41B1C}"/>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pic>
        <p:nvPicPr>
          <p:cNvPr id="10" name="Graphic 9">
            <a:extLst>
              <a:ext uri="{FF2B5EF4-FFF2-40B4-BE49-F238E27FC236}">
                <a16:creationId xmlns:a16="http://schemas.microsoft.com/office/drawing/2014/main" id="{A2BAE3BA-A908-6B42-9CCA-3CEEED1814D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88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One Content -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solidFill>
                  <a:schemeClr val="bg1"/>
                </a:solidFill>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11449272"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29FDC764-47A6-A04A-9E03-B53559B609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13" name="Rectangle 12">
            <a:extLst>
              <a:ext uri="{FF2B5EF4-FFF2-40B4-BE49-F238E27FC236}">
                <a16:creationId xmlns:a16="http://schemas.microsoft.com/office/drawing/2014/main" id="{1C76F8CC-1EB6-CC46-A64C-F36C6E8264F3}"/>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4133323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Two Content -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1364" y="345251"/>
            <a:ext cx="11449272" cy="580288"/>
          </a:xfrm>
          <a:prstGeom prst="rect">
            <a:avLst/>
          </a:prstGeom>
        </p:spPr>
        <p:txBody>
          <a:bodyPr lIns="0" bIns="0"/>
          <a:lstStyle>
            <a:lvl1pPr>
              <a:defRPr b="0">
                <a:solidFill>
                  <a:schemeClr val="bg1"/>
                </a:solidFill>
                <a:latin typeface="Times" pitchFamily="2" charset="0"/>
              </a:defRPr>
            </a:lvl1pPr>
          </a:lstStyle>
          <a:p>
            <a:r>
              <a:rPr lang="en-US"/>
              <a:t>Click to edit Master title style</a:t>
            </a:r>
          </a:p>
        </p:txBody>
      </p:sp>
      <p:sp>
        <p:nvSpPr>
          <p:cNvPr id="3" name="Content Placeholder 2"/>
          <p:cNvSpPr>
            <a:spLocks noGrp="1"/>
          </p:cNvSpPr>
          <p:nvPr>
            <p:ph sz="half" idx="1"/>
          </p:nvPr>
        </p:nvSpPr>
        <p:spPr>
          <a:xfrm>
            <a:off x="371363" y="1496672"/>
            <a:ext cx="5559377"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6019" y="1496672"/>
            <a:ext cx="5544617" cy="4524616"/>
          </a:xfrm>
          <a:prstGeom prst="rect">
            <a:avLst/>
          </a:prstGeom>
        </p:spPr>
        <p:txBody>
          <a:bodyPr/>
          <a:lstStyle>
            <a:lvl1pPr>
              <a:defRPr>
                <a:solidFill>
                  <a:schemeClr val="bg1"/>
                </a:solidFill>
                <a:latin typeface="Satoshi" pitchFamily="2" charset="77"/>
              </a:defRPr>
            </a:lvl1pPr>
            <a:lvl2pPr>
              <a:defRPr>
                <a:solidFill>
                  <a:schemeClr val="bg1"/>
                </a:solidFill>
                <a:latin typeface="Satoshi" pitchFamily="2" charset="77"/>
              </a:defRPr>
            </a:lvl2pPr>
            <a:lvl3pPr>
              <a:defRPr>
                <a:solidFill>
                  <a:schemeClr val="bg1"/>
                </a:solidFill>
                <a:latin typeface="Satoshi" pitchFamily="2" charset="77"/>
              </a:defRPr>
            </a:lvl3pPr>
            <a:lvl4pPr>
              <a:defRPr>
                <a:solidFill>
                  <a:schemeClr val="bg1"/>
                </a:solidFill>
                <a:latin typeface="Satoshi" pitchFamily="2" charset="77"/>
              </a:defRPr>
            </a:lvl4pPr>
            <a:lvl5pPr>
              <a:defRPr>
                <a:solidFill>
                  <a:schemeClr val="bg1"/>
                </a:solidFill>
                <a:latin typeface="Satoshi"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B85F2094-4A7B-6448-A90C-913EED477651}"/>
              </a:ext>
            </a:extLst>
          </p:cNvPr>
          <p:cNvCxnSpPr/>
          <p:nvPr userDrawn="1"/>
        </p:nvCxnSpPr>
        <p:spPr>
          <a:xfrm>
            <a:off x="371364" y="1196752"/>
            <a:ext cx="2412268" cy="0"/>
          </a:xfrm>
          <a:prstGeom prst="line">
            <a:avLst/>
          </a:prstGeom>
          <a:ln w="57150">
            <a:solidFill>
              <a:srgbClr val="34E82A"/>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29FDC764-47A6-A04A-9E03-B53559B609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1360"/>
            <a:ext cx="615616" cy="247956"/>
          </a:xfrm>
          <a:prstGeom prst="rect">
            <a:avLst/>
          </a:prstGeom>
        </p:spPr>
      </p:pic>
      <p:sp>
        <p:nvSpPr>
          <p:cNvPr id="13" name="Rectangle 12">
            <a:extLst>
              <a:ext uri="{FF2B5EF4-FFF2-40B4-BE49-F238E27FC236}">
                <a16:creationId xmlns:a16="http://schemas.microsoft.com/office/drawing/2014/main" id="{1C76F8CC-1EB6-CC46-A64C-F36C6E8264F3}"/>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bg1">
                    <a:alpha val="10000"/>
                  </a:schemeClr>
                </a:solidFill>
                <a:latin typeface="Satoshi" pitchFamily="2" charset="77"/>
              </a:rPr>
              <a:t>D2L.com</a:t>
            </a:r>
          </a:p>
        </p:txBody>
      </p:sp>
    </p:spTree>
    <p:extLst>
      <p:ext uri="{BB962C8B-B14F-4D97-AF65-F5344CB8AC3E}">
        <p14:creationId xmlns:p14="http://schemas.microsoft.com/office/powerpoint/2010/main" val="45146276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5_Blank - white">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851243F-8B21-4F48-A472-B75E05C2BC9C}"/>
              </a:ext>
            </a:extLst>
          </p:cNvPr>
          <p:cNvSpPr/>
          <p:nvPr userDrawn="1"/>
        </p:nvSpPr>
        <p:spPr>
          <a:xfrm>
            <a:off x="0" y="2708920"/>
            <a:ext cx="12192000" cy="414908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C6206FAC-8312-F546-902C-7A5B3BE19BE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364" y="6264794"/>
            <a:ext cx="615616" cy="247956"/>
          </a:xfrm>
          <a:prstGeom prst="rect">
            <a:avLst/>
          </a:prstGeom>
        </p:spPr>
      </p:pic>
      <p:sp>
        <p:nvSpPr>
          <p:cNvPr id="8" name="Rectangle 7">
            <a:extLst>
              <a:ext uri="{FF2B5EF4-FFF2-40B4-BE49-F238E27FC236}">
                <a16:creationId xmlns:a16="http://schemas.microsoft.com/office/drawing/2014/main" id="{2CAA7120-377D-8C4E-804D-FA7682E37D14}"/>
              </a:ext>
            </a:extLst>
          </p:cNvPr>
          <p:cNvSpPr/>
          <p:nvPr userDrawn="1"/>
        </p:nvSpPr>
        <p:spPr>
          <a:xfrm>
            <a:off x="11108903" y="6347617"/>
            <a:ext cx="711733" cy="215444"/>
          </a:xfrm>
          <a:prstGeom prst="rect">
            <a:avLst/>
          </a:prstGeom>
        </p:spPr>
        <p:txBody>
          <a:bodyPr wrap="none" lIns="0" tIns="0" rIns="0" bIns="0">
            <a:spAutoFit/>
          </a:bodyPr>
          <a:lstStyle/>
          <a:p>
            <a:r>
              <a:rPr lang="en-US" sz="1400" dirty="0">
                <a:solidFill>
                  <a:schemeClr val="tx1">
                    <a:alpha val="25000"/>
                  </a:schemeClr>
                </a:solidFill>
                <a:latin typeface="Satoshi" pitchFamily="2" charset="77"/>
              </a:rPr>
              <a:t>D2L.com</a:t>
            </a:r>
          </a:p>
        </p:txBody>
      </p:sp>
    </p:spTree>
    <p:extLst>
      <p:ext uri="{BB962C8B-B14F-4D97-AF65-F5344CB8AC3E}">
        <p14:creationId xmlns:p14="http://schemas.microsoft.com/office/powerpoint/2010/main" val="338023506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2.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5810823"/>
      </p:ext>
    </p:extLst>
  </p:cSld>
  <p:clrMap bg1="dk1" tx1="lt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759" r:id="rId6"/>
    <p:sldLayoutId id="2147483699" r:id="rId7"/>
    <p:sldLayoutId id="2147483700" r:id="rId8"/>
    <p:sldLayoutId id="2147483763" r:id="rId9"/>
    <p:sldLayoutId id="2147483761" r:id="rId10"/>
    <p:sldLayoutId id="2147483762" r:id="rId11"/>
    <p:sldLayoutId id="2147483748" r:id="rId12"/>
    <p:sldLayoutId id="2147483760" r:id="rId13"/>
    <p:sldLayoutId id="2147483701" r:id="rId14"/>
    <p:sldLayoutId id="2147483702" r:id="rId15"/>
    <p:sldLayoutId id="2147483703" r:id="rId16"/>
    <p:sldLayoutId id="2147483704" r:id="rId17"/>
    <p:sldLayoutId id="2147483705" r:id="rId18"/>
    <p:sldLayoutId id="2147483706" r:id="rId19"/>
    <p:sldLayoutId id="2147483707" r:id="rId20"/>
    <p:sldLayoutId id="2147483708" r:id="rId21"/>
    <p:sldLayoutId id="2147483709" r:id="rId22"/>
    <p:sldLayoutId id="2147483710" r:id="rId23"/>
    <p:sldLayoutId id="2147483711" r:id="rId24"/>
    <p:sldLayoutId id="2147483712" r:id="rId25"/>
    <p:sldLayoutId id="2147483713" r:id="rId26"/>
    <p:sldLayoutId id="2147483714" r:id="rId27"/>
    <p:sldLayoutId id="2147483715" r:id="rId28"/>
    <p:sldLayoutId id="2147483716" r:id="rId29"/>
    <p:sldLayoutId id="2147483717" r:id="rId30"/>
    <p:sldLayoutId id="2147483718" r:id="rId31"/>
    <p:sldLayoutId id="2147483719" r:id="rId32"/>
    <p:sldLayoutId id="2147483720" r:id="rId33"/>
    <p:sldLayoutId id="2147483721" r:id="rId34"/>
    <p:sldLayoutId id="2147483722" r:id="rId35"/>
    <p:sldLayoutId id="2147483723" r:id="rId36"/>
    <p:sldLayoutId id="2147483724" r:id="rId37"/>
    <p:sldLayoutId id="2147483725" r:id="rId3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2C353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4106826"/>
      </p:ext>
    </p:extLst>
  </p:cSld>
  <p:clrMap bg1="dk1" tx1="lt1" bg2="dk2" tx2="lt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44.xml"/><Relationship Id="rId5" Type="http://schemas.microsoft.com/office/2007/relationships/hdphoto" Target="../media/hdphoto3.wdp"/><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xml"/><Relationship Id="rId1" Type="http://schemas.openxmlformats.org/officeDocument/2006/relationships/slideLayout" Target="../slideLayouts/slideLayout44.xml"/><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6.xml"/><Relationship Id="rId1" Type="http://schemas.openxmlformats.org/officeDocument/2006/relationships/slideLayout" Target="../slideLayouts/slideLayout4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21.jp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4.xml"/><Relationship Id="rId5" Type="http://schemas.openxmlformats.org/officeDocument/2006/relationships/image" Target="../media/image21.jp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44.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4.wdp"/></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44.xml"/><Relationship Id="rId4" Type="http://schemas.microsoft.com/office/2007/relationships/hdphoto" Target="../media/hdphoto4.wdp"/></Relationships>
</file>

<file path=ppt/slides/_rels/slide1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4.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4.xml"/><Relationship Id="rId6" Type="http://schemas.openxmlformats.org/officeDocument/2006/relationships/image" Target="../media/image34.png"/><Relationship Id="rId5" Type="http://schemas.microsoft.com/office/2007/relationships/hdphoto" Target="../media/hdphoto4.wdp"/><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44.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44.xml"/><Relationship Id="rId4" Type="http://schemas.microsoft.com/office/2007/relationships/hdphoto" Target="../media/hdphoto5.wdp"/></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44.xml"/><Relationship Id="rId5" Type="http://schemas.openxmlformats.org/officeDocument/2006/relationships/image" Target="../media/image38.png"/><Relationship Id="rId4" Type="http://schemas.microsoft.com/office/2007/relationships/hdphoto" Target="../media/hdphoto5.wdp"/></Relationships>
</file>

<file path=ppt/slides/_rels/slide1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9.png"/><Relationship Id="rId7" Type="http://schemas.microsoft.com/office/2007/relationships/hdphoto" Target="../media/hdphoto7.wdp"/><Relationship Id="rId2" Type="http://schemas.openxmlformats.org/officeDocument/2006/relationships/notesSlide" Target="../notesSlides/notesSlide12.xml"/><Relationship Id="rId1" Type="http://schemas.openxmlformats.org/officeDocument/2006/relationships/slideLayout" Target="../slideLayouts/slideLayout44.xml"/><Relationship Id="rId6" Type="http://schemas.openxmlformats.org/officeDocument/2006/relationships/image" Target="../media/image41.png"/><Relationship Id="rId11" Type="http://schemas.microsoft.com/office/2007/relationships/hdphoto" Target="../media/hdphoto9.wdp"/><Relationship Id="rId5" Type="http://schemas.microsoft.com/office/2007/relationships/hdphoto" Target="../media/hdphoto6.wdp"/><Relationship Id="rId10" Type="http://schemas.openxmlformats.org/officeDocument/2006/relationships/image" Target="../media/image43.png"/><Relationship Id="rId4" Type="http://schemas.openxmlformats.org/officeDocument/2006/relationships/image" Target="../media/image40.png"/><Relationship Id="rId9" Type="http://schemas.microsoft.com/office/2007/relationships/hdphoto" Target="../media/hdphoto8.wdp"/></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7" Type="http://schemas.microsoft.com/office/2007/relationships/hdphoto" Target="../media/hdphoto9.wdp"/><Relationship Id="rId2" Type="http://schemas.openxmlformats.org/officeDocument/2006/relationships/notesSlide" Target="../notesSlides/notesSlide13.xml"/><Relationship Id="rId1" Type="http://schemas.openxmlformats.org/officeDocument/2006/relationships/slideLayout" Target="../slideLayouts/slideLayout44.xml"/><Relationship Id="rId6" Type="http://schemas.openxmlformats.org/officeDocument/2006/relationships/image" Target="../media/image43.png"/><Relationship Id="rId5" Type="http://schemas.microsoft.com/office/2007/relationships/hdphoto" Target="../media/hdphoto6.wdp"/><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44.xml"/><Relationship Id="rId6" Type="http://schemas.openxmlformats.org/officeDocument/2006/relationships/image" Target="../media/image45.png"/><Relationship Id="rId5" Type="http://schemas.microsoft.com/office/2007/relationships/hdphoto" Target="../media/hdphoto6.wdp"/><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4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44.xml"/><Relationship Id="rId4" Type="http://schemas.microsoft.com/office/2007/relationships/hdphoto" Target="../media/hdphoto10.wdp"/></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44.xml"/><Relationship Id="rId6" Type="http://schemas.openxmlformats.org/officeDocument/2006/relationships/image" Target="../media/image54.png"/><Relationship Id="rId5" Type="http://schemas.openxmlformats.org/officeDocument/2006/relationships/image" Target="../media/image53.png"/><Relationship Id="rId4" Type="http://schemas.microsoft.com/office/2007/relationships/hdphoto" Target="../media/hdphoto10.wdp"/></Relationships>
</file>

<file path=ppt/slides/_rels/slide21.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44.xml"/><Relationship Id="rId6" Type="http://schemas.openxmlformats.org/officeDocument/2006/relationships/image" Target="../media/image58.png"/><Relationship Id="rId5" Type="http://schemas.openxmlformats.org/officeDocument/2006/relationships/image" Target="../media/image57.png"/><Relationship Id="rId4" Type="http://schemas.microsoft.com/office/2007/relationships/hdphoto" Target="../media/hdphoto11.wdp"/></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9.xml"/><Relationship Id="rId1" Type="http://schemas.openxmlformats.org/officeDocument/2006/relationships/slideLayout" Target="../slideLayouts/slideLayout44.xml"/><Relationship Id="rId4" Type="http://schemas.microsoft.com/office/2007/relationships/hdphoto" Target="../media/hdphoto11.wdp"/></Relationships>
</file>

<file path=ppt/slides/_rels/slide23.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56.png"/><Relationship Id="rId1" Type="http://schemas.openxmlformats.org/officeDocument/2006/relationships/slideLayout" Target="../slideLayouts/slideLayout44.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8" Type="http://schemas.openxmlformats.org/officeDocument/2006/relationships/image" Target="../media/image40.png"/><Relationship Id="rId13" Type="http://schemas.microsoft.com/office/2007/relationships/hdphoto" Target="../media/hdphoto11.wdp"/><Relationship Id="rId18" Type="http://schemas.openxmlformats.org/officeDocument/2006/relationships/image" Target="../media/image67.png"/><Relationship Id="rId3" Type="http://schemas.openxmlformats.org/officeDocument/2006/relationships/image" Target="../media/image21.jpg"/><Relationship Id="rId7" Type="http://schemas.microsoft.com/office/2007/relationships/hdphoto" Target="../media/hdphoto5.wdp"/><Relationship Id="rId12" Type="http://schemas.openxmlformats.org/officeDocument/2006/relationships/image" Target="../media/image56.png"/><Relationship Id="rId17" Type="http://schemas.microsoft.com/office/2007/relationships/hdphoto" Target="../media/hdphoto13.wdp"/><Relationship Id="rId2" Type="http://schemas.openxmlformats.org/officeDocument/2006/relationships/notesSlide" Target="../notesSlides/notesSlide20.xml"/><Relationship Id="rId16" Type="http://schemas.openxmlformats.org/officeDocument/2006/relationships/image" Target="../media/image66.png"/><Relationship Id="rId1" Type="http://schemas.openxmlformats.org/officeDocument/2006/relationships/slideLayout" Target="../slideLayouts/slideLayout44.xml"/><Relationship Id="rId6" Type="http://schemas.openxmlformats.org/officeDocument/2006/relationships/image" Target="../media/image37.png"/><Relationship Id="rId11" Type="http://schemas.microsoft.com/office/2007/relationships/hdphoto" Target="../media/hdphoto10.wdp"/><Relationship Id="rId5" Type="http://schemas.microsoft.com/office/2007/relationships/hdphoto" Target="../media/hdphoto4.wdp"/><Relationship Id="rId15" Type="http://schemas.microsoft.com/office/2007/relationships/hdphoto" Target="../media/hdphoto12.wdp"/><Relationship Id="rId10" Type="http://schemas.openxmlformats.org/officeDocument/2006/relationships/image" Target="../media/image52.png"/><Relationship Id="rId4" Type="http://schemas.openxmlformats.org/officeDocument/2006/relationships/image" Target="../media/image27.png"/><Relationship Id="rId9" Type="http://schemas.microsoft.com/office/2007/relationships/hdphoto" Target="../media/hdphoto6.wdp"/><Relationship Id="rId14" Type="http://schemas.openxmlformats.org/officeDocument/2006/relationships/image" Target="../media/image65.png"/></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hyperlink" Target="https://www.g2.com/compare/kotis-design-vs-postal-vs-printfection-vs-reachdesk?category_id=&amp;company_segment=" TargetMode="External"/><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9.png"/><Relationship Id="rId7" Type="http://schemas.openxmlformats.org/officeDocument/2006/relationships/hyperlink" Target="https://redeem.reachdesk.com/gift_cards/8af413df-3e36-4b36-bf75-da3753f107c0/claim?country_code=CA" TargetMode="External"/><Relationship Id="rId2" Type="http://schemas.openxmlformats.org/officeDocument/2006/relationships/hyperlink" Target="https://can01.safelinks.protection.outlook.com/?url=https%3A%2F%2Fapp.postal.io%2Fl%2Flnwdqenw&amp;data=05%7C01%7Cakshathdayan.suresh%40d2l.com%7Cc36bc1c11f69478f4c1808dbd0f6aa90%7C74bbca6d410b45b39b512a6aa6477079%7C0%7C0%7C638333530067403038%7CUnknown%7CTWFpbGZsb3d8eyJWIjoiMC4wLjAwMDAiLCJQIjoiV2luMzIiLCJBTiI6Ik1haWwiLCJXVCI6Mn0%3D%7C3000%7C%7C%7C&amp;sdata=UuRezlhrpZt1Y7MOIf7AHD7X47olJYZyMUFpX8oPp6U%3D&amp;reserved=0" TargetMode="External"/><Relationship Id="rId1" Type="http://schemas.openxmlformats.org/officeDocument/2006/relationships/slideLayout" Target="../slideLayouts/slideLayout44.xml"/><Relationship Id="rId6" Type="http://schemas.microsoft.com/office/2007/relationships/hdphoto" Target="../media/hdphoto4.wdp"/><Relationship Id="rId5" Type="http://schemas.openxmlformats.org/officeDocument/2006/relationships/image" Target="../media/image70.png"/><Relationship Id="rId4" Type="http://schemas.microsoft.com/office/2007/relationships/hdphoto" Target="../media/hdphoto14.wdp"/><Relationship Id="rId9" Type="http://schemas.microsoft.com/office/2007/relationships/hdphoto" Target="../media/hdphoto11.wdp"/></Relationships>
</file>

<file path=ppt/slides/_rels/slide2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4.xml"/></Relationships>
</file>

<file path=ppt/slides/_rels/slide2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on&#10;&#10;Description automatically generated">
            <a:extLst>
              <a:ext uri="{FF2B5EF4-FFF2-40B4-BE49-F238E27FC236}">
                <a16:creationId xmlns:a16="http://schemas.microsoft.com/office/drawing/2014/main" id="{3D3859BE-994D-DD4C-1CC5-1F5FFE8317D7}"/>
              </a:ext>
            </a:extLst>
          </p:cNvPr>
          <p:cNvPicPr>
            <a:picLocks noChangeAspect="1"/>
          </p:cNvPicPr>
          <p:nvPr/>
        </p:nvPicPr>
        <p:blipFill>
          <a:blip r:embed="rId3"/>
          <a:stretch>
            <a:fillRect/>
          </a:stretch>
        </p:blipFill>
        <p:spPr>
          <a:xfrm>
            <a:off x="1751908" y="3203766"/>
            <a:ext cx="1217504" cy="488018"/>
          </a:xfrm>
          <a:prstGeom prst="rect">
            <a:avLst/>
          </a:prstGeom>
        </p:spPr>
      </p:pic>
      <p:cxnSp>
        <p:nvCxnSpPr>
          <p:cNvPr id="3" name="Straight Connector 2">
            <a:extLst>
              <a:ext uri="{FF2B5EF4-FFF2-40B4-BE49-F238E27FC236}">
                <a16:creationId xmlns:a16="http://schemas.microsoft.com/office/drawing/2014/main" id="{F472B6DC-1182-CD09-8C20-2737C5591068}"/>
              </a:ext>
            </a:extLst>
          </p:cNvPr>
          <p:cNvCxnSpPr>
            <a:cxnSpLocks/>
          </p:cNvCxnSpPr>
          <p:nvPr/>
        </p:nvCxnSpPr>
        <p:spPr>
          <a:xfrm flipV="1">
            <a:off x="3186346" y="3090446"/>
            <a:ext cx="453710" cy="832686"/>
          </a:xfrm>
          <a:prstGeom prst="line">
            <a:avLst/>
          </a:prstGeom>
          <a:ln>
            <a:solidFill>
              <a:schemeClr val="tx1">
                <a:lumMod val="85000"/>
              </a:schemeClr>
            </a:solidFill>
          </a:ln>
        </p:spPr>
        <p:style>
          <a:lnRef idx="1">
            <a:schemeClr val="accent4"/>
          </a:lnRef>
          <a:fillRef idx="0">
            <a:schemeClr val="accent4"/>
          </a:fillRef>
          <a:effectRef idx="0">
            <a:schemeClr val="accent4"/>
          </a:effectRef>
          <a:fontRef idx="minor">
            <a:schemeClr val="tx1"/>
          </a:fontRef>
        </p:style>
      </p:cxnSp>
      <p:sp>
        <p:nvSpPr>
          <p:cNvPr id="4" name="TextBox 3">
            <a:extLst>
              <a:ext uri="{FF2B5EF4-FFF2-40B4-BE49-F238E27FC236}">
                <a16:creationId xmlns:a16="http://schemas.microsoft.com/office/drawing/2014/main" id="{C3BD8A0F-BB8E-45EF-D967-8BF5E31FCE42}"/>
              </a:ext>
            </a:extLst>
          </p:cNvPr>
          <p:cNvSpPr txBox="1"/>
          <p:nvPr/>
        </p:nvSpPr>
        <p:spPr>
          <a:xfrm>
            <a:off x="3516878" y="3072147"/>
            <a:ext cx="6879395" cy="677108"/>
          </a:xfrm>
          <a:prstGeom prst="rect">
            <a:avLst/>
          </a:prstGeom>
          <a:noFill/>
        </p:spPr>
        <p:txBody>
          <a:bodyPr wrap="square" lIns="0" tIns="0" rIns="0" bIns="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400" i="0" u="none" strike="noStrike" kern="1200" cap="none" spc="-150" normalizeH="0" baseline="0" noProof="0" dirty="0">
                <a:ln>
                  <a:noFill/>
                </a:ln>
                <a:solidFill>
                  <a:schemeClr val="accent1"/>
                </a:solidFill>
                <a:effectLst/>
                <a:uLnTx/>
                <a:uFillTx/>
                <a:latin typeface="D2L Sans" panose="00000500000000000000" pitchFamily="50" charset="0"/>
              </a:rPr>
              <a:t>project eiab replacement</a:t>
            </a:r>
            <a:endParaRPr kumimoji="0" lang="en-US" sz="4400" i="0" u="none" strike="noStrike" kern="1200" cap="none" spc="-150" normalizeH="0" baseline="0" noProof="0" dirty="0">
              <a:ln>
                <a:noFill/>
              </a:ln>
              <a:solidFill>
                <a:schemeClr val="accent1"/>
              </a:solidFill>
              <a:effectLst/>
              <a:uLnTx/>
              <a:uFillTx/>
              <a:latin typeface="D2L Sans" panose="00000500000000000000" pitchFamily="50" charset="0"/>
              <a:cs typeface="Times New Roman"/>
            </a:endParaRPr>
          </a:p>
        </p:txBody>
      </p:sp>
      <p:sp>
        <p:nvSpPr>
          <p:cNvPr id="6" name="TextBox 5">
            <a:extLst>
              <a:ext uri="{FF2B5EF4-FFF2-40B4-BE49-F238E27FC236}">
                <a16:creationId xmlns:a16="http://schemas.microsoft.com/office/drawing/2014/main" id="{3987E6F2-83C9-DEC3-8B56-293E864B9BE8}"/>
              </a:ext>
            </a:extLst>
          </p:cNvPr>
          <p:cNvSpPr txBox="1"/>
          <p:nvPr/>
        </p:nvSpPr>
        <p:spPr>
          <a:xfrm>
            <a:off x="3896907" y="3829349"/>
            <a:ext cx="6137626" cy="169277"/>
          </a:xfrm>
          <a:prstGeom prst="rect">
            <a:avLst/>
          </a:prstGeom>
          <a:noFill/>
        </p:spPr>
        <p:txBody>
          <a:bodyPr wrap="square" lIns="0" tIns="0" rIns="0" bIns="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300" normalizeH="0" baseline="0" noProof="0" dirty="0">
                <a:ln>
                  <a:noFill/>
                </a:ln>
                <a:solidFill>
                  <a:srgbClr val="FFFFFF"/>
                </a:solidFill>
                <a:effectLst/>
                <a:uLnTx/>
                <a:uFillTx/>
                <a:latin typeface="D2L Sans Medium" panose="00000600000000000000" pitchFamily="50" charset="0"/>
                <a:ea typeface="Open Sans"/>
                <a:cs typeface="Open Sans"/>
              </a:rPr>
              <a:t>- </a:t>
            </a:r>
            <a:r>
              <a:rPr lang="en-US" sz="1100" spc="300" dirty="0">
                <a:solidFill>
                  <a:srgbClr val="FFFFFF"/>
                </a:solidFill>
                <a:latin typeface="D2L Sans Medium" panose="00000600000000000000" pitchFamily="50" charset="0"/>
                <a:ea typeface="Open Sans"/>
                <a:cs typeface="Open Sans"/>
              </a:rPr>
              <a:t>AKSHATHDAYAN SURESH, MARKETING CO-OP</a:t>
            </a:r>
            <a:r>
              <a:rPr kumimoji="0" lang="en-US" sz="1100" b="0" i="0" u="none" strike="noStrike" kern="1200" cap="none" spc="300" normalizeH="0" baseline="0" noProof="0" dirty="0">
                <a:ln>
                  <a:noFill/>
                </a:ln>
                <a:solidFill>
                  <a:srgbClr val="FFFFFF"/>
                </a:solidFill>
                <a:effectLst/>
                <a:uLnTx/>
                <a:uFillTx/>
                <a:latin typeface="D2L Sans Medium" panose="00000600000000000000" pitchFamily="50" charset="0"/>
                <a:ea typeface="Open Sans"/>
                <a:cs typeface="Open Sans"/>
              </a:rPr>
              <a:t>- </a:t>
            </a:r>
            <a:endParaRPr kumimoji="0" lang="en-US" sz="1100" b="0" i="0" u="none" strike="noStrike" kern="1200" cap="none" spc="300" normalizeH="0" baseline="0" noProof="0" dirty="0">
              <a:ln>
                <a:noFill/>
              </a:ln>
              <a:solidFill>
                <a:srgbClr val="FFFFFF"/>
              </a:solidFill>
              <a:effectLst/>
              <a:uLnTx/>
              <a:uFillTx/>
              <a:latin typeface="D2L Sans Medium" panose="00000600000000000000" pitchFamily="50" charset="0"/>
              <a:ea typeface="Open Sans" panose="020B060603050402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C47B0968-5C66-4A43-2BA4-D4ED7CDCD274}"/>
              </a:ext>
            </a:extLst>
          </p:cNvPr>
          <p:cNvSpPr txBox="1"/>
          <p:nvPr/>
        </p:nvSpPr>
        <p:spPr>
          <a:xfrm>
            <a:off x="3887762" y="2868171"/>
            <a:ext cx="6137626" cy="169277"/>
          </a:xfrm>
          <a:prstGeom prst="rect">
            <a:avLst/>
          </a:prstGeom>
          <a:noFill/>
        </p:spPr>
        <p:txBody>
          <a:bodyPr wrap="square" lIns="0" tIns="0" rIns="0" bIns="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300" normalizeH="0" baseline="0" noProof="0" dirty="0">
                <a:ln>
                  <a:noFill/>
                </a:ln>
                <a:solidFill>
                  <a:srgbClr val="FFFFFF"/>
                </a:solidFill>
                <a:effectLst/>
                <a:uLnTx/>
                <a:uFillTx/>
                <a:latin typeface="D2L Sans Light" panose="00000400000000000000" pitchFamily="50" charset="0"/>
                <a:ea typeface="Open Sans" panose="020B0606030504020204" pitchFamily="34" charset="0"/>
                <a:cs typeface="Open Sans" panose="020B0606030504020204" pitchFamily="34" charset="0"/>
              </a:rPr>
              <a:t>GLOBAL EVENTS</a:t>
            </a:r>
          </a:p>
        </p:txBody>
      </p:sp>
    </p:spTree>
    <p:extLst>
      <p:ext uri="{BB962C8B-B14F-4D97-AF65-F5344CB8AC3E}">
        <p14:creationId xmlns:p14="http://schemas.microsoft.com/office/powerpoint/2010/main" val="267192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3"/>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Arc 51">
            <a:extLst>
              <a:ext uri="{FF2B5EF4-FFF2-40B4-BE49-F238E27FC236}">
                <a16:creationId xmlns:a16="http://schemas.microsoft.com/office/drawing/2014/main" id="{7E1B5F59-41F0-E3DF-F492-4A58F6D1B18C}"/>
              </a:ext>
            </a:extLst>
          </p:cNvPr>
          <p:cNvSpPr/>
          <p:nvPr/>
        </p:nvSpPr>
        <p:spPr>
          <a:xfrm>
            <a:off x="4089422" y="5558521"/>
            <a:ext cx="616997" cy="587110"/>
          </a:xfrm>
          <a:prstGeom prst="arc">
            <a:avLst/>
          </a:prstGeom>
          <a:ln w="76200"/>
        </p:spPr>
        <p:style>
          <a:lnRef idx="3">
            <a:schemeClr val="accent1"/>
          </a:lnRef>
          <a:fillRef idx="0">
            <a:schemeClr val="accent1"/>
          </a:fillRef>
          <a:effectRef idx="2">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9" name="Arc 48">
            <a:extLst>
              <a:ext uri="{FF2B5EF4-FFF2-40B4-BE49-F238E27FC236}">
                <a16:creationId xmlns:a16="http://schemas.microsoft.com/office/drawing/2014/main" id="{557AB531-EEC6-3409-D548-181BF92A233B}"/>
              </a:ext>
            </a:extLst>
          </p:cNvPr>
          <p:cNvSpPr/>
          <p:nvPr/>
        </p:nvSpPr>
        <p:spPr>
          <a:xfrm>
            <a:off x="4096396" y="4294582"/>
            <a:ext cx="610023" cy="647210"/>
          </a:xfrm>
          <a:prstGeom prst="arc">
            <a:avLst/>
          </a:prstGeom>
          <a:ln w="76200"/>
        </p:spPr>
        <p:style>
          <a:lnRef idx="3">
            <a:schemeClr val="accent1"/>
          </a:lnRef>
          <a:fillRef idx="0">
            <a:schemeClr val="accent1"/>
          </a:fillRef>
          <a:effectRef idx="2">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8" name="Arc 47">
            <a:extLst>
              <a:ext uri="{FF2B5EF4-FFF2-40B4-BE49-F238E27FC236}">
                <a16:creationId xmlns:a16="http://schemas.microsoft.com/office/drawing/2014/main" id="{BAEB82A5-646B-3979-3C78-062783F5A966}"/>
              </a:ext>
            </a:extLst>
          </p:cNvPr>
          <p:cNvSpPr/>
          <p:nvPr/>
        </p:nvSpPr>
        <p:spPr>
          <a:xfrm>
            <a:off x="4097634" y="2993737"/>
            <a:ext cx="610023" cy="647210"/>
          </a:xfrm>
          <a:prstGeom prst="arc">
            <a:avLst/>
          </a:prstGeom>
          <a:ln w="76200"/>
        </p:spPr>
        <p:style>
          <a:lnRef idx="3">
            <a:schemeClr val="accent1"/>
          </a:lnRef>
          <a:fillRef idx="0">
            <a:schemeClr val="accent1"/>
          </a:fillRef>
          <a:effectRef idx="2">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6" name="Arc 45">
            <a:extLst>
              <a:ext uri="{FF2B5EF4-FFF2-40B4-BE49-F238E27FC236}">
                <a16:creationId xmlns:a16="http://schemas.microsoft.com/office/drawing/2014/main" id="{59C375D2-E908-CDDD-190C-0E99443F067C}"/>
              </a:ext>
            </a:extLst>
          </p:cNvPr>
          <p:cNvSpPr/>
          <p:nvPr/>
        </p:nvSpPr>
        <p:spPr>
          <a:xfrm>
            <a:off x="4098443" y="1807392"/>
            <a:ext cx="610023" cy="647210"/>
          </a:xfrm>
          <a:prstGeom prst="arc">
            <a:avLst/>
          </a:prstGeom>
          <a:ln w="76200"/>
        </p:spPr>
        <p:style>
          <a:lnRef idx="3">
            <a:schemeClr val="accent1"/>
          </a:lnRef>
          <a:fillRef idx="0">
            <a:schemeClr val="accent1"/>
          </a:fillRef>
          <a:effectRef idx="2">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F1E5793A-F6BC-4AF8-4D8E-EA590280F90B}"/>
              </a:ext>
            </a:extLst>
          </p:cNvPr>
          <p:cNvSpPr/>
          <p:nvPr/>
        </p:nvSpPr>
        <p:spPr>
          <a:xfrm>
            <a:off x="0" y="0"/>
            <a:ext cx="290653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0" name="Arc 19">
            <a:extLst>
              <a:ext uri="{FF2B5EF4-FFF2-40B4-BE49-F238E27FC236}">
                <a16:creationId xmlns:a16="http://schemas.microsoft.com/office/drawing/2014/main" id="{0D98845D-2A24-44D1-8FB4-0B6403C52F1E}"/>
              </a:ext>
            </a:extLst>
          </p:cNvPr>
          <p:cNvSpPr/>
          <p:nvPr/>
        </p:nvSpPr>
        <p:spPr>
          <a:xfrm>
            <a:off x="4098443" y="621047"/>
            <a:ext cx="610023" cy="603357"/>
          </a:xfrm>
          <a:prstGeom prst="arc">
            <a:avLst/>
          </a:prstGeom>
          <a:ln w="76200"/>
        </p:spPr>
        <p:style>
          <a:lnRef idx="3">
            <a:schemeClr val="accent1"/>
          </a:lnRef>
          <a:fillRef idx="0">
            <a:schemeClr val="accent1"/>
          </a:fillRef>
          <a:effectRef idx="2">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3" name="TextBox 32">
            <a:extLst>
              <a:ext uri="{FF2B5EF4-FFF2-40B4-BE49-F238E27FC236}">
                <a16:creationId xmlns:a16="http://schemas.microsoft.com/office/drawing/2014/main" id="{1EE561C1-CAB1-E82A-F2EC-B5E1F718C129}"/>
              </a:ext>
            </a:extLst>
          </p:cNvPr>
          <p:cNvSpPr txBox="1"/>
          <p:nvPr/>
        </p:nvSpPr>
        <p:spPr>
          <a:xfrm>
            <a:off x="5012359" y="746875"/>
            <a:ext cx="5870750" cy="384721"/>
          </a:xfrm>
          <a:prstGeom prst="rect">
            <a:avLst/>
          </a:prstGeom>
          <a:noFill/>
        </p:spPr>
        <p:txBody>
          <a:bodyPr wrap="square" lIns="0" tIns="0" rIns="0" bIns="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500" dirty="0">
                <a:solidFill>
                  <a:srgbClr val="000000"/>
                </a:solidFill>
                <a:latin typeface="D2L Sans Black" panose="00000A00000000000000" pitchFamily="50" charset="0"/>
                <a:ea typeface="Open Sans"/>
                <a:cs typeface="Open Sans"/>
              </a:rPr>
              <a:t>Criteria</a:t>
            </a:r>
            <a:endParaRPr kumimoji="0" lang="en-US" sz="2500" b="0" i="0" u="none" strike="noStrike" kern="1200" cap="none" spc="0" normalizeH="0" baseline="0" noProof="0" dirty="0">
              <a:ln>
                <a:noFill/>
              </a:ln>
              <a:solidFill>
                <a:srgbClr val="000000"/>
              </a:solidFill>
              <a:effectLst/>
              <a:uLnTx/>
              <a:uFillTx/>
              <a:latin typeface="D2L Sans Black" panose="00000A00000000000000" pitchFamily="50" charset="0"/>
              <a:ea typeface="Open Sans" panose="020B0606030504020204" pitchFamily="34" charset="0"/>
              <a:cs typeface="Open Sans" panose="020B0606030504020204" pitchFamily="34" charset="0"/>
            </a:endParaRPr>
          </a:p>
        </p:txBody>
      </p:sp>
      <p:sp>
        <p:nvSpPr>
          <p:cNvPr id="34" name="TextBox 33">
            <a:extLst>
              <a:ext uri="{FF2B5EF4-FFF2-40B4-BE49-F238E27FC236}">
                <a16:creationId xmlns:a16="http://schemas.microsoft.com/office/drawing/2014/main" id="{2D790306-BCBE-A70D-0375-C03F1CA3DC78}"/>
              </a:ext>
            </a:extLst>
          </p:cNvPr>
          <p:cNvSpPr txBox="1"/>
          <p:nvPr/>
        </p:nvSpPr>
        <p:spPr>
          <a:xfrm>
            <a:off x="5013211" y="1961247"/>
            <a:ext cx="5869898" cy="384721"/>
          </a:xfrm>
          <a:prstGeom prst="rect">
            <a:avLst/>
          </a:prstGeom>
          <a:noFill/>
        </p:spPr>
        <p:txBody>
          <a:bodyPr wrap="square" lIns="0" tIns="0" rIns="0" bIns="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500" dirty="0">
                <a:solidFill>
                  <a:srgbClr val="000000"/>
                </a:solidFill>
                <a:latin typeface="D2L Sans Black" panose="00000A00000000000000" pitchFamily="50" charset="0"/>
                <a:ea typeface="Open Sans" panose="020B0606030504020204" pitchFamily="34" charset="0"/>
                <a:cs typeface="Open Sans" panose="020B0606030504020204" pitchFamily="34" charset="0"/>
              </a:rPr>
              <a:t>Vendors</a:t>
            </a:r>
            <a:endParaRPr kumimoji="0" lang="en-US" sz="2500" b="0" i="0" u="none" strike="noStrike" kern="1200" cap="none" spc="0" normalizeH="0" baseline="0" noProof="0" dirty="0">
              <a:ln>
                <a:noFill/>
              </a:ln>
              <a:solidFill>
                <a:srgbClr val="000000"/>
              </a:solidFill>
              <a:effectLst/>
              <a:uLnTx/>
              <a:uFillTx/>
              <a:latin typeface="D2L Sans Black" panose="00000A00000000000000" pitchFamily="50" charset="0"/>
              <a:ea typeface="Open Sans" panose="020B0606030504020204" pitchFamily="34" charset="0"/>
              <a:cs typeface="Open Sans" panose="020B0606030504020204" pitchFamily="34" charset="0"/>
            </a:endParaRPr>
          </a:p>
        </p:txBody>
      </p:sp>
      <p:sp>
        <p:nvSpPr>
          <p:cNvPr id="35" name="TextBox 34">
            <a:extLst>
              <a:ext uri="{FF2B5EF4-FFF2-40B4-BE49-F238E27FC236}">
                <a16:creationId xmlns:a16="http://schemas.microsoft.com/office/drawing/2014/main" id="{B8A9FA4C-4BC6-7CB1-6AFC-880EA4BCF692}"/>
              </a:ext>
            </a:extLst>
          </p:cNvPr>
          <p:cNvSpPr txBox="1"/>
          <p:nvPr/>
        </p:nvSpPr>
        <p:spPr>
          <a:xfrm>
            <a:off x="5029832" y="3168714"/>
            <a:ext cx="5869898" cy="384721"/>
          </a:xfrm>
          <a:prstGeom prst="rect">
            <a:avLst/>
          </a:prstGeom>
          <a:noFill/>
        </p:spPr>
        <p:txBody>
          <a:bodyPr wrap="square" lIns="0" tIns="0" rIns="0" bIns="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500" b="0" i="0" u="none" strike="noStrike" kern="1200" cap="none" spc="0" normalizeH="0" baseline="0" noProof="0" dirty="0">
                <a:ln>
                  <a:noFill/>
                </a:ln>
                <a:solidFill>
                  <a:srgbClr val="000000"/>
                </a:solidFill>
                <a:effectLst/>
                <a:uLnTx/>
                <a:uFillTx/>
                <a:latin typeface="D2L Sans Black" panose="00000A00000000000000" pitchFamily="50" charset="0"/>
                <a:ea typeface="Open Sans"/>
                <a:cs typeface="Open Sans"/>
              </a:rPr>
              <a:t>Comparison </a:t>
            </a:r>
            <a:endParaRPr kumimoji="0" lang="en-US" sz="2500" b="0" i="0" u="none" strike="noStrike" kern="1200" cap="none" spc="0" normalizeH="0" baseline="0" noProof="0" dirty="0">
              <a:ln>
                <a:noFill/>
              </a:ln>
              <a:solidFill>
                <a:srgbClr val="000000"/>
              </a:solidFill>
              <a:effectLst/>
              <a:uLnTx/>
              <a:uFillTx/>
              <a:latin typeface="D2L Sans Black" panose="00000A00000000000000" pitchFamily="50" charset="0"/>
              <a:ea typeface="Open Sans" panose="020B0606030504020204" pitchFamily="34" charset="0"/>
              <a:cs typeface="Open Sans" panose="020B0606030504020204" pitchFamily="34" charset="0"/>
            </a:endParaRPr>
          </a:p>
        </p:txBody>
      </p:sp>
      <p:sp>
        <p:nvSpPr>
          <p:cNvPr id="36" name="TextBox 35">
            <a:extLst>
              <a:ext uri="{FF2B5EF4-FFF2-40B4-BE49-F238E27FC236}">
                <a16:creationId xmlns:a16="http://schemas.microsoft.com/office/drawing/2014/main" id="{8242F4A3-DA26-DC16-1618-C1153D514007}"/>
              </a:ext>
            </a:extLst>
          </p:cNvPr>
          <p:cNvSpPr txBox="1"/>
          <p:nvPr/>
        </p:nvSpPr>
        <p:spPr>
          <a:xfrm>
            <a:off x="4997008" y="4411001"/>
            <a:ext cx="4954385" cy="384721"/>
          </a:xfrm>
          <a:prstGeom prst="rect">
            <a:avLst/>
          </a:prstGeom>
          <a:noFill/>
        </p:spPr>
        <p:txBody>
          <a:bodyPr wrap="square" lIns="0" tIns="0" rIns="0" bIns="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500" b="0" i="0" u="none" strike="noStrike" kern="1200" cap="none" spc="0" normalizeH="0" baseline="0" noProof="0" dirty="0">
                <a:ln>
                  <a:noFill/>
                </a:ln>
                <a:solidFill>
                  <a:srgbClr val="000000"/>
                </a:solidFill>
                <a:effectLst/>
                <a:uLnTx/>
                <a:uFillTx/>
                <a:latin typeface="D2L Sans Black" panose="00000A00000000000000" pitchFamily="50" charset="0"/>
                <a:ea typeface="Open Sans"/>
                <a:cs typeface="Open Sans"/>
              </a:rPr>
              <a:t>Recommendation</a:t>
            </a:r>
            <a:endParaRPr kumimoji="0" lang="en-US" sz="2500" b="0" i="0" u="none" strike="noStrike" kern="1200" cap="none" spc="0" normalizeH="0" baseline="0" noProof="0" dirty="0">
              <a:ln>
                <a:noFill/>
              </a:ln>
              <a:solidFill>
                <a:srgbClr val="000000"/>
              </a:solidFill>
              <a:effectLst/>
              <a:uLnTx/>
              <a:uFillTx/>
              <a:latin typeface="D2L Sans Black" panose="00000A00000000000000" pitchFamily="50" charset="0"/>
              <a:ea typeface="Open Sans" panose="020B0606030504020204" pitchFamily="34" charset="0"/>
              <a:cs typeface="Open Sans" panose="020B0606030504020204" pitchFamily="34" charset="0"/>
            </a:endParaRPr>
          </a:p>
        </p:txBody>
      </p:sp>
      <p:sp>
        <p:nvSpPr>
          <p:cNvPr id="37" name="TextBox 36">
            <a:extLst>
              <a:ext uri="{FF2B5EF4-FFF2-40B4-BE49-F238E27FC236}">
                <a16:creationId xmlns:a16="http://schemas.microsoft.com/office/drawing/2014/main" id="{C990E0D7-B183-950B-EF6B-6B33B2DED86D}"/>
              </a:ext>
            </a:extLst>
          </p:cNvPr>
          <p:cNvSpPr txBox="1"/>
          <p:nvPr/>
        </p:nvSpPr>
        <p:spPr>
          <a:xfrm>
            <a:off x="5029832" y="5576008"/>
            <a:ext cx="4954385" cy="384721"/>
          </a:xfrm>
          <a:prstGeom prst="rect">
            <a:avLst/>
          </a:prstGeom>
          <a:noFill/>
        </p:spPr>
        <p:txBody>
          <a:bodyPr wrap="square" lIns="0" tIns="0" rIns="0" bIns="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500" b="0" i="0" u="none" strike="noStrike" kern="1200" cap="none" spc="0" normalizeH="0" baseline="0" noProof="0" dirty="0">
                <a:ln>
                  <a:noFill/>
                </a:ln>
                <a:solidFill>
                  <a:srgbClr val="000000"/>
                </a:solidFill>
                <a:effectLst/>
                <a:uLnTx/>
                <a:uFillTx/>
                <a:latin typeface="D2L Sans Black" panose="00000A00000000000000" pitchFamily="50" charset="0"/>
                <a:ea typeface="Open Sans" panose="020B0606030504020204" pitchFamily="34" charset="0"/>
                <a:cs typeface="Open Sans" panose="020B0606030504020204" pitchFamily="34" charset="0"/>
              </a:rPr>
              <a:t>Questions</a:t>
            </a:r>
          </a:p>
        </p:txBody>
      </p:sp>
      <p:sp>
        <p:nvSpPr>
          <p:cNvPr id="2" name="Title 1">
            <a:extLst>
              <a:ext uri="{FF2B5EF4-FFF2-40B4-BE49-F238E27FC236}">
                <a16:creationId xmlns:a16="http://schemas.microsoft.com/office/drawing/2014/main" id="{85A598A7-38B1-9397-6B43-44DE228D645A}"/>
              </a:ext>
            </a:extLst>
          </p:cNvPr>
          <p:cNvSpPr txBox="1">
            <a:spLocks/>
          </p:cNvSpPr>
          <p:nvPr/>
        </p:nvSpPr>
        <p:spPr>
          <a:xfrm>
            <a:off x="405844" y="3058351"/>
            <a:ext cx="2076979" cy="58028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500" b="0" i="0" strike="noStrike" kern="1200" cap="none" spc="-150" normalizeH="0" baseline="0" noProof="0" dirty="0">
                <a:ln>
                  <a:noFill/>
                </a:ln>
                <a:solidFill>
                  <a:srgbClr val="FFFFFF"/>
                </a:solidFill>
                <a:effectLst/>
                <a:uLnTx/>
                <a:uFillTx/>
                <a:latin typeface="D2L Sans Black" panose="00000A00000000000000" pitchFamily="50" charset="0"/>
              </a:rPr>
              <a:t>Agenda</a:t>
            </a:r>
          </a:p>
        </p:txBody>
      </p:sp>
      <p:sp>
        <p:nvSpPr>
          <p:cNvPr id="38" name="TextBox 37">
            <a:extLst>
              <a:ext uri="{FF2B5EF4-FFF2-40B4-BE49-F238E27FC236}">
                <a16:creationId xmlns:a16="http://schemas.microsoft.com/office/drawing/2014/main" id="{56FF7BFE-94BE-B89E-92C7-D834CE98FE88}"/>
              </a:ext>
            </a:extLst>
          </p:cNvPr>
          <p:cNvSpPr txBox="1"/>
          <p:nvPr/>
        </p:nvSpPr>
        <p:spPr>
          <a:xfrm>
            <a:off x="4997008" y="1160008"/>
            <a:ext cx="5821682" cy="325089"/>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lang="en-US" sz="1100" dirty="0">
                <a:solidFill>
                  <a:srgbClr val="000000"/>
                </a:solidFill>
                <a:latin typeface="D2L Sans Light" panose="00000400000000000000" pitchFamily="50" charset="0"/>
                <a:ea typeface="Open Sans Light" panose="020B0306030504020204" pitchFamily="34" charset="0"/>
                <a:cs typeface="Open Sans Light" panose="020B0306030504020204" pitchFamily="34" charset="0"/>
              </a:rPr>
              <a:t>Establishing criteria: what are our needs?</a:t>
            </a:r>
            <a:endParaRPr kumimoji="0" lang="en-US" sz="1100" u="none" strike="noStrike" kern="1200" cap="none" spc="0" normalizeH="0" baseline="0" noProof="0" dirty="0">
              <a:ln>
                <a:noFill/>
              </a:ln>
              <a:solidFill>
                <a:srgbClr val="000000"/>
              </a:solidFill>
              <a:effectLst/>
              <a:uLnTx/>
              <a:uFillTx/>
              <a:latin typeface="D2L Sans Light" panose="00000400000000000000" pitchFamily="50" charset="0"/>
              <a:ea typeface="Open Sans Light" panose="020B0306030504020204" pitchFamily="34" charset="0"/>
              <a:cs typeface="Open Sans Light" panose="020B0306030504020204" pitchFamily="34" charset="0"/>
            </a:endParaRPr>
          </a:p>
        </p:txBody>
      </p:sp>
      <p:sp>
        <p:nvSpPr>
          <p:cNvPr id="39" name="TextBox 38">
            <a:extLst>
              <a:ext uri="{FF2B5EF4-FFF2-40B4-BE49-F238E27FC236}">
                <a16:creationId xmlns:a16="http://schemas.microsoft.com/office/drawing/2014/main" id="{24E4E4CE-18A2-0F7C-2B94-8140CF49C1DF}"/>
              </a:ext>
            </a:extLst>
          </p:cNvPr>
          <p:cNvSpPr txBox="1"/>
          <p:nvPr/>
        </p:nvSpPr>
        <p:spPr>
          <a:xfrm>
            <a:off x="4980431" y="2354567"/>
            <a:ext cx="6525159" cy="325089"/>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latin typeface="D2L Sans Light" panose="00000400000000000000" pitchFamily="50" charset="0"/>
                <a:ea typeface="Open Sans Light" panose="020B0306030504020204" pitchFamily="34" charset="0"/>
                <a:cs typeface="Open Sans Light" panose="020B0306030504020204" pitchFamily="34" charset="0"/>
              </a:rPr>
              <a:t>Overview of different vendors and their service offerings</a:t>
            </a:r>
            <a:endParaRPr kumimoji="0" lang="en-CA" sz="1100" u="none" strike="noStrike" kern="1200" cap="none" spc="0" normalizeH="0" baseline="0" noProof="0" dirty="0">
              <a:ln>
                <a:noFill/>
              </a:ln>
              <a:solidFill>
                <a:srgbClr val="000000"/>
              </a:solidFill>
              <a:effectLst/>
              <a:uLnTx/>
              <a:uFillTx/>
              <a:latin typeface="D2L Sans Light" panose="00000400000000000000" pitchFamily="50" charset="0"/>
              <a:ea typeface="Open Sans Light" panose="020B0306030504020204" pitchFamily="34" charset="0"/>
              <a:cs typeface="Open Sans Light" panose="020B0306030504020204" pitchFamily="34" charset="0"/>
            </a:endParaRPr>
          </a:p>
        </p:txBody>
      </p:sp>
      <p:sp>
        <p:nvSpPr>
          <p:cNvPr id="40" name="TextBox 39">
            <a:extLst>
              <a:ext uri="{FF2B5EF4-FFF2-40B4-BE49-F238E27FC236}">
                <a16:creationId xmlns:a16="http://schemas.microsoft.com/office/drawing/2014/main" id="{D188127C-77D2-E38A-3E7E-2045FC0E6383}"/>
              </a:ext>
            </a:extLst>
          </p:cNvPr>
          <p:cNvSpPr txBox="1"/>
          <p:nvPr/>
        </p:nvSpPr>
        <p:spPr>
          <a:xfrm>
            <a:off x="4997008" y="3570061"/>
            <a:ext cx="6667555" cy="325089"/>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lang="en-US" sz="1100" dirty="0">
                <a:solidFill>
                  <a:srgbClr val="000000"/>
                </a:solidFill>
                <a:latin typeface="D2L Sans Light" panose="00000400000000000000" pitchFamily="50" charset="0"/>
                <a:ea typeface="Open Sans Light" panose="020B0306030504020204" pitchFamily="34" charset="0"/>
                <a:cs typeface="Open Sans Light" panose="020B0306030504020204" pitchFamily="34" charset="0"/>
              </a:rPr>
              <a:t>Evaluating each vendor against one another to look for the best possible choice</a:t>
            </a:r>
            <a:endParaRPr kumimoji="0" lang="en-CA" sz="1100" u="none" strike="noStrike" kern="1200" cap="none" spc="0" normalizeH="0" baseline="0" noProof="0" dirty="0">
              <a:ln>
                <a:noFill/>
              </a:ln>
              <a:solidFill>
                <a:srgbClr val="000000"/>
              </a:solidFill>
              <a:effectLst/>
              <a:uLnTx/>
              <a:uFillTx/>
              <a:latin typeface="D2L Sans Light" panose="00000400000000000000" pitchFamily="50" charset="0"/>
              <a:ea typeface="Open Sans Light" panose="020B0306030504020204" pitchFamily="34" charset="0"/>
              <a:cs typeface="Open Sans Light" panose="020B0306030504020204" pitchFamily="34" charset="0"/>
            </a:endParaRPr>
          </a:p>
        </p:txBody>
      </p:sp>
      <p:sp>
        <p:nvSpPr>
          <p:cNvPr id="41" name="TextBox 40">
            <a:extLst>
              <a:ext uri="{FF2B5EF4-FFF2-40B4-BE49-F238E27FC236}">
                <a16:creationId xmlns:a16="http://schemas.microsoft.com/office/drawing/2014/main" id="{0C1CFBDA-D4D0-4CB3-C4B8-5ED13A667A4B}"/>
              </a:ext>
            </a:extLst>
          </p:cNvPr>
          <p:cNvSpPr txBox="1"/>
          <p:nvPr/>
        </p:nvSpPr>
        <p:spPr>
          <a:xfrm>
            <a:off x="4980431" y="4826817"/>
            <a:ext cx="5838259" cy="325089"/>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latin typeface="D2L Sans Light" panose="00000400000000000000" pitchFamily="50" charset="0"/>
                <a:ea typeface="Open Sans Light" panose="020B0306030504020204" pitchFamily="34" charset="0"/>
                <a:cs typeface="Open Sans Light" panose="020B0306030504020204" pitchFamily="34" charset="0"/>
              </a:rPr>
              <a:t>Presenting the best and right option to be undertaken by D2L</a:t>
            </a:r>
            <a:endParaRPr kumimoji="0" lang="en-CA" sz="1100" u="none" strike="noStrike" kern="1200" cap="none" spc="0" normalizeH="0" baseline="0" noProof="0" dirty="0">
              <a:ln>
                <a:noFill/>
              </a:ln>
              <a:solidFill>
                <a:srgbClr val="000000"/>
              </a:solidFill>
              <a:effectLst/>
              <a:uLnTx/>
              <a:uFillTx/>
              <a:latin typeface="D2L Sans Light" panose="00000400000000000000" pitchFamily="50" charset="0"/>
              <a:ea typeface="Open Sans Light" panose="020B0306030504020204" pitchFamily="34" charset="0"/>
              <a:cs typeface="Open Sans Light" panose="020B0306030504020204" pitchFamily="34" charset="0"/>
            </a:endParaRPr>
          </a:p>
        </p:txBody>
      </p:sp>
      <p:sp>
        <p:nvSpPr>
          <p:cNvPr id="42" name="TextBox 41">
            <a:extLst>
              <a:ext uri="{FF2B5EF4-FFF2-40B4-BE49-F238E27FC236}">
                <a16:creationId xmlns:a16="http://schemas.microsoft.com/office/drawing/2014/main" id="{DC962578-095F-6985-CC44-473F531D38F8}"/>
              </a:ext>
            </a:extLst>
          </p:cNvPr>
          <p:cNvSpPr txBox="1"/>
          <p:nvPr/>
        </p:nvSpPr>
        <p:spPr>
          <a:xfrm>
            <a:off x="4997008" y="5926293"/>
            <a:ext cx="6124903" cy="325089"/>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lang="en-US" sz="1100" dirty="0">
                <a:solidFill>
                  <a:srgbClr val="000000"/>
                </a:solidFill>
                <a:latin typeface="D2L Sans Light" panose="00000400000000000000" pitchFamily="50" charset="0"/>
                <a:ea typeface="Open Sans Light" panose="020B0306030504020204" pitchFamily="34" charset="0"/>
                <a:cs typeface="Open Sans Light" panose="020B0306030504020204" pitchFamily="34" charset="0"/>
              </a:rPr>
              <a:t>Feedback and g</a:t>
            </a:r>
            <a:r>
              <a:rPr kumimoji="0" lang="en-US" sz="1100" u="none" strike="noStrike" kern="1200" cap="none" spc="0" normalizeH="0" baseline="0" noProof="0" dirty="0">
                <a:ln>
                  <a:noFill/>
                </a:ln>
                <a:solidFill>
                  <a:srgbClr val="000000"/>
                </a:solidFill>
                <a:effectLst/>
                <a:uLnTx/>
                <a:uFillTx/>
                <a:latin typeface="D2L Sans Light" panose="00000400000000000000" pitchFamily="50" charset="0"/>
                <a:ea typeface="Open Sans Light" panose="020B0306030504020204" pitchFamily="34" charset="0"/>
                <a:cs typeface="Open Sans Light" panose="020B0306030504020204" pitchFamily="34" charset="0"/>
              </a:rPr>
              <a:t>aining perspective on the next steps</a:t>
            </a:r>
            <a:endParaRPr kumimoji="0" lang="en-CA" sz="1100" u="none" strike="noStrike" kern="1200" cap="none" spc="0" normalizeH="0" baseline="0" noProof="0" dirty="0">
              <a:ln>
                <a:noFill/>
              </a:ln>
              <a:solidFill>
                <a:srgbClr val="000000"/>
              </a:solidFill>
              <a:effectLst/>
              <a:uLnTx/>
              <a:uFillTx/>
              <a:latin typeface="D2L Sans Light" panose="00000400000000000000" pitchFamily="50" charset="0"/>
              <a:ea typeface="Open Sans Light" panose="020B0306030504020204" pitchFamily="34" charset="0"/>
              <a:cs typeface="Open Sans Light" panose="020B0306030504020204" pitchFamily="34" charset="0"/>
            </a:endParaRPr>
          </a:p>
        </p:txBody>
      </p:sp>
      <p:cxnSp>
        <p:nvCxnSpPr>
          <p:cNvPr id="47" name="Elbow Connector 46">
            <a:extLst>
              <a:ext uri="{FF2B5EF4-FFF2-40B4-BE49-F238E27FC236}">
                <a16:creationId xmlns:a16="http://schemas.microsoft.com/office/drawing/2014/main" id="{82207D8A-1B15-920F-F892-CFF323FE5FB4}"/>
              </a:ext>
            </a:extLst>
          </p:cNvPr>
          <p:cNvCxnSpPr>
            <a:cxnSpLocks/>
          </p:cNvCxnSpPr>
          <p:nvPr/>
        </p:nvCxnSpPr>
        <p:spPr>
          <a:xfrm rot="5400000" flipH="1" flipV="1">
            <a:off x="2614469" y="1250897"/>
            <a:ext cx="1714922" cy="1130800"/>
          </a:xfrm>
          <a:prstGeom prst="curvedConnector2">
            <a:avLst/>
          </a:prstGeom>
          <a:ln w="12700" cap="flat" cmpd="sng" algn="ctr">
            <a:solidFill>
              <a:schemeClr val="accent4"/>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51" name="Elbow Connector 50">
            <a:extLst>
              <a:ext uri="{FF2B5EF4-FFF2-40B4-BE49-F238E27FC236}">
                <a16:creationId xmlns:a16="http://schemas.microsoft.com/office/drawing/2014/main" id="{0407652C-A104-4B5C-B1E1-4C4CE4425A58}"/>
              </a:ext>
            </a:extLst>
          </p:cNvPr>
          <p:cNvCxnSpPr>
            <a:cxnSpLocks/>
            <a:stCxn id="2" idx="3"/>
          </p:cNvCxnSpPr>
          <p:nvPr/>
        </p:nvCxnSpPr>
        <p:spPr>
          <a:xfrm>
            <a:off x="2482823" y="3348495"/>
            <a:ext cx="1554507" cy="2514075"/>
          </a:xfrm>
          <a:prstGeom prst="curvedConnector3">
            <a:avLst/>
          </a:prstGeom>
          <a:ln w="12700" cap="flat" cmpd="sng" algn="ctr">
            <a:solidFill>
              <a:schemeClr val="bg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54" name="Straight Arrow Connector 53">
            <a:extLst>
              <a:ext uri="{FF2B5EF4-FFF2-40B4-BE49-F238E27FC236}">
                <a16:creationId xmlns:a16="http://schemas.microsoft.com/office/drawing/2014/main" id="{D021E60D-B4F6-3FF2-6E84-E8A11F52016F}"/>
              </a:ext>
            </a:extLst>
          </p:cNvPr>
          <p:cNvCxnSpPr>
            <a:cxnSpLocks/>
          </p:cNvCxnSpPr>
          <p:nvPr/>
        </p:nvCxnSpPr>
        <p:spPr>
          <a:xfrm flipV="1">
            <a:off x="2775626" y="2189128"/>
            <a:ext cx="1247190" cy="821577"/>
          </a:xfrm>
          <a:prstGeom prst="curvedConnector3">
            <a:avLst>
              <a:gd name="adj1" fmla="val 50000"/>
            </a:avLst>
          </a:prstGeom>
          <a:ln w="12700" cap="flat" cmpd="sng" algn="ctr">
            <a:solidFill>
              <a:schemeClr val="accent4"/>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8" name="Straight Arrow Connector 7">
            <a:extLst>
              <a:ext uri="{FF2B5EF4-FFF2-40B4-BE49-F238E27FC236}">
                <a16:creationId xmlns:a16="http://schemas.microsoft.com/office/drawing/2014/main" id="{F52F7131-9751-2549-A64B-AECB3F541A9C}"/>
              </a:ext>
            </a:extLst>
          </p:cNvPr>
          <p:cNvCxnSpPr>
            <a:cxnSpLocks/>
          </p:cNvCxnSpPr>
          <p:nvPr/>
        </p:nvCxnSpPr>
        <p:spPr>
          <a:xfrm>
            <a:off x="2906530" y="3153014"/>
            <a:ext cx="1130800" cy="208181"/>
          </a:xfrm>
          <a:prstGeom prst="curvedConnector3">
            <a:avLst>
              <a:gd name="adj1" fmla="val 50000"/>
            </a:avLst>
          </a:prstGeom>
          <a:ln w="12700" cap="flat" cmpd="sng" algn="ctr">
            <a:solidFill>
              <a:schemeClr val="accent4"/>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9" name="Straight Arrow Connector 8">
            <a:extLst>
              <a:ext uri="{FF2B5EF4-FFF2-40B4-BE49-F238E27FC236}">
                <a16:creationId xmlns:a16="http://schemas.microsoft.com/office/drawing/2014/main" id="{055ABD61-18E9-70ED-36E8-CA5D6945CAB1}"/>
              </a:ext>
            </a:extLst>
          </p:cNvPr>
          <p:cNvCxnSpPr>
            <a:cxnSpLocks/>
          </p:cNvCxnSpPr>
          <p:nvPr/>
        </p:nvCxnSpPr>
        <p:spPr>
          <a:xfrm>
            <a:off x="2775626" y="3429000"/>
            <a:ext cx="1245977" cy="1242220"/>
          </a:xfrm>
          <a:prstGeom prst="curvedConnector3">
            <a:avLst>
              <a:gd name="adj1" fmla="val 50000"/>
            </a:avLst>
          </a:prstGeom>
          <a:ln w="12700" cap="flat" cmpd="sng" algn="ctr">
            <a:solidFill>
              <a:schemeClr val="accent4"/>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pic>
        <p:nvPicPr>
          <p:cNvPr id="1026" name="Picture 2" descr="Criteria Icons - Free SVG &amp; PNG Criteria Images - Noun Project">
            <a:extLst>
              <a:ext uri="{FF2B5EF4-FFF2-40B4-BE49-F238E27FC236}">
                <a16:creationId xmlns:a16="http://schemas.microsoft.com/office/drawing/2014/main" id="{DA0A7B0F-DB23-E4EB-487D-ED6A547875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6997" y="733905"/>
            <a:ext cx="439471" cy="4394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Vendor Icons - Free SVG &amp; PNG Vendor Images - Noun Project">
            <a:extLst>
              <a:ext uri="{FF2B5EF4-FFF2-40B4-BE49-F238E27FC236}">
                <a16:creationId xmlns:a16="http://schemas.microsoft.com/office/drawing/2014/main" id="{5B3D6A55-1ACE-D2CC-B06B-145239C728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3869" y="1933871"/>
            <a:ext cx="439471" cy="43947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omparison - Free edit tools icons">
            <a:extLst>
              <a:ext uri="{FF2B5EF4-FFF2-40B4-BE49-F238E27FC236}">
                <a16:creationId xmlns:a16="http://schemas.microsoft.com/office/drawing/2014/main" id="{01774DE4-CEFE-7E9D-ED8A-67426B5510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7189" y="3121336"/>
            <a:ext cx="479476" cy="47947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recommendation Icon - Free PNG &amp; SVG 3964986 - Noun Project">
            <a:extLst>
              <a:ext uri="{FF2B5EF4-FFF2-40B4-BE49-F238E27FC236}">
                <a16:creationId xmlns:a16="http://schemas.microsoft.com/office/drawing/2014/main" id="{9E8D7419-2E31-6DC2-FACA-5CC44BF6A0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7912" y="4425506"/>
            <a:ext cx="479477" cy="47947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Question Mark Transparent Images – Browse 5,164 Stock Photos, Vectors, and  Video | Adobe Stock">
            <a:extLst>
              <a:ext uri="{FF2B5EF4-FFF2-40B4-BE49-F238E27FC236}">
                <a16:creationId xmlns:a16="http://schemas.microsoft.com/office/drawing/2014/main" id="{8C395599-D31A-08AB-51E8-37CCBC520EDD}"/>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8889" b="90556" l="10000" r="90000">
                        <a14:foregroundMark x1="59167" y1="33333" x2="59167" y2="33333"/>
                        <a14:foregroundMark x1="49444" y1="61111" x2="49444" y2="61111"/>
                        <a14:foregroundMark x1="54444" y1="90556" x2="54444" y2="90556"/>
                        <a14:foregroundMark x1="50000" y1="8889" x2="50000" y2="8889"/>
                      </a14:backgroundRemoval>
                    </a14:imgEffect>
                  </a14:imgLayer>
                </a14:imgProps>
              </a:ext>
              <a:ext uri="{28A0092B-C50C-407E-A947-70E740481C1C}">
                <a14:useLocalDpi xmlns:a14="http://schemas.microsoft.com/office/drawing/2010/main" val="0"/>
              </a:ext>
            </a:extLst>
          </a:blip>
          <a:srcRect/>
          <a:stretch>
            <a:fillRect/>
          </a:stretch>
        </p:blipFill>
        <p:spPr bwMode="auto">
          <a:xfrm>
            <a:off x="4135667" y="5603197"/>
            <a:ext cx="542434" cy="542434"/>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Shape 12">
            <a:extLst>
              <a:ext uri="{FF2B5EF4-FFF2-40B4-BE49-F238E27FC236}">
                <a16:creationId xmlns:a16="http://schemas.microsoft.com/office/drawing/2014/main" id="{5D9891E7-68DB-38A3-A388-E58BD8E2CF6F}"/>
              </a:ext>
            </a:extLst>
          </p:cNvPr>
          <p:cNvSpPr/>
          <p:nvPr/>
        </p:nvSpPr>
        <p:spPr>
          <a:xfrm flipV="1">
            <a:off x="10818690" y="2810"/>
            <a:ext cx="1381265" cy="1553228"/>
          </a:xfrm>
          <a:custGeom>
            <a:avLst/>
            <a:gdLst>
              <a:gd name="connsiteX0" fmla="*/ 1048380 w 1048380"/>
              <a:gd name="connsiteY0" fmla="*/ 0 h 1091044"/>
              <a:gd name="connsiteX1" fmla="*/ 1048380 w 1048380"/>
              <a:gd name="connsiteY1" fmla="*/ 1091044 h 1091044"/>
              <a:gd name="connsiteX2" fmla="*/ 0 w 1048380"/>
              <a:gd name="connsiteY2" fmla="*/ 1091044 h 1091044"/>
              <a:gd name="connsiteX3" fmla="*/ 394019 w 1048380"/>
              <a:gd name="connsiteY3" fmla="*/ 584823 h 1091044"/>
              <a:gd name="connsiteX4" fmla="*/ 1006739 w 1048380"/>
              <a:gd name="connsiteY4" fmla="*/ 2104 h 1091044"/>
              <a:gd name="connsiteX5" fmla="*/ 1048380 w 1048380"/>
              <a:gd name="connsiteY5" fmla="*/ 0 h 109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8380" h="1091044">
                <a:moveTo>
                  <a:pt x="1048380" y="0"/>
                </a:moveTo>
                <a:lnTo>
                  <a:pt x="1048380" y="1091044"/>
                </a:lnTo>
                <a:lnTo>
                  <a:pt x="0" y="1091044"/>
                </a:lnTo>
                <a:cubicBezTo>
                  <a:pt x="147075" y="967676"/>
                  <a:pt x="286673" y="803435"/>
                  <a:pt x="394019" y="584823"/>
                </a:cubicBezTo>
                <a:cubicBezTo>
                  <a:pt x="571242" y="223907"/>
                  <a:pt x="788246" y="35246"/>
                  <a:pt x="1006739" y="2104"/>
                </a:cubicBezTo>
                <a:lnTo>
                  <a:pt x="1048380" y="0"/>
                </a:lnTo>
                <a:close/>
              </a:path>
            </a:pathLst>
          </a:custGeom>
          <a:gradFill flip="none" rotWithShape="1">
            <a:gsLst>
              <a:gs pos="0">
                <a:srgbClr val="55DF46">
                  <a:shade val="30000"/>
                  <a:satMod val="115000"/>
                </a:srgbClr>
              </a:gs>
              <a:gs pos="50000">
                <a:srgbClr val="55DF46">
                  <a:shade val="67500"/>
                  <a:satMod val="115000"/>
                </a:srgbClr>
              </a:gs>
              <a:gs pos="100000">
                <a:srgbClr val="55DF46">
                  <a:shade val="100000"/>
                  <a:satMod val="115000"/>
                </a:srgb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D" dirty="0"/>
          </a:p>
        </p:txBody>
      </p:sp>
    </p:spTree>
    <p:extLst>
      <p:ext uri="{BB962C8B-B14F-4D97-AF65-F5344CB8AC3E}">
        <p14:creationId xmlns:p14="http://schemas.microsoft.com/office/powerpoint/2010/main" val="114521045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wipe(down)">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10" presetClass="entr" presetSubtype="0" fill="hold" nodeType="with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fade">
                                      <p:cBhvr>
                                        <p:cTn id="20" dur="500"/>
                                        <p:tgtEl>
                                          <p:spTgt spid="10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down)">
                                      <p:cBhvr>
                                        <p:cTn id="31" dur="500"/>
                                        <p:tgtEl>
                                          <p:spTgt spid="5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28"/>
                                        </p:tgtEl>
                                        <p:attrNameLst>
                                          <p:attrName>style.visibility</p:attrName>
                                        </p:attrNameLst>
                                      </p:cBhvr>
                                      <p:to>
                                        <p:strVal val="visible"/>
                                      </p:to>
                                    </p:set>
                                    <p:animEffect transition="in" filter="fade">
                                      <p:cBhvr>
                                        <p:cTn id="36" dur="500"/>
                                        <p:tgtEl>
                                          <p:spTgt spid="102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fade">
                                      <p:cBhvr>
                                        <p:cTn id="39" dur="500"/>
                                        <p:tgtEl>
                                          <p:spTgt spid="4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500"/>
                                        <p:tgtEl>
                                          <p:spTgt spid="3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500"/>
                                        <p:tgtEl>
                                          <p:spTgt spid="3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down)">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032"/>
                                        </p:tgtEl>
                                        <p:attrNameLst>
                                          <p:attrName>style.visibility</p:attrName>
                                        </p:attrNameLst>
                                      </p:cBhvr>
                                      <p:to>
                                        <p:strVal val="visible"/>
                                      </p:to>
                                    </p:set>
                                    <p:animEffect transition="in" filter="fade">
                                      <p:cBhvr>
                                        <p:cTn id="55" dur="500"/>
                                        <p:tgtEl>
                                          <p:spTgt spid="10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fade">
                                      <p:cBhvr>
                                        <p:cTn id="58" dur="500"/>
                                        <p:tgtEl>
                                          <p:spTgt spid="4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500"/>
                                        <p:tgtEl>
                                          <p:spTgt spid="3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500"/>
                                        <p:tgtEl>
                                          <p:spTgt spid="40"/>
                                        </p:tgtEl>
                                      </p:cBhvr>
                                    </p:animEffect>
                                  </p:childTnLst>
                                </p:cTn>
                              </p:par>
                            </p:childTnLst>
                          </p:cTn>
                        </p:par>
                      </p:childTnLst>
                    </p:cTn>
                  </p:par>
                  <p:par>
                    <p:cTn id="65" fill="hold">
                      <p:stCondLst>
                        <p:cond delay="indefinite"/>
                      </p:stCondLst>
                      <p:childTnLst>
                        <p:par>
                          <p:cTn id="66" fill="hold">
                            <p:stCondLst>
                              <p:cond delay="0"/>
                            </p:stCondLst>
                            <p:childTnLst>
                              <p:par>
                                <p:cTn id="67" presetID="21" presetClass="entr" presetSubtype="1" fill="hold" nodeType="click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heel(1)">
                                      <p:cBhvr>
                                        <p:cTn id="69" dur="2000"/>
                                        <p:tgtEl>
                                          <p:spTgt spid="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1034"/>
                                        </p:tgtEl>
                                        <p:attrNameLst>
                                          <p:attrName>style.visibility</p:attrName>
                                        </p:attrNameLst>
                                      </p:cBhvr>
                                      <p:to>
                                        <p:strVal val="visible"/>
                                      </p:to>
                                    </p:set>
                                    <p:animEffect transition="in" filter="fade">
                                      <p:cBhvr>
                                        <p:cTn id="74" dur="500"/>
                                        <p:tgtEl>
                                          <p:spTgt spid="10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500"/>
                                        <p:tgtEl>
                                          <p:spTgt spid="4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500"/>
                                        <p:tgtEl>
                                          <p:spTgt spid="3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fade">
                                      <p:cBhvr>
                                        <p:cTn id="83" dur="500"/>
                                        <p:tgtEl>
                                          <p:spTgt spid="41"/>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1" fill="hold" nodeType="clickEffect">
                                  <p:stCondLst>
                                    <p:cond delay="0"/>
                                  </p:stCondLst>
                                  <p:childTnLst>
                                    <p:set>
                                      <p:cBhvr>
                                        <p:cTn id="87" dur="1" fill="hold">
                                          <p:stCondLst>
                                            <p:cond delay="0"/>
                                          </p:stCondLst>
                                        </p:cTn>
                                        <p:tgtEl>
                                          <p:spTgt spid="51"/>
                                        </p:tgtEl>
                                        <p:attrNameLst>
                                          <p:attrName>style.visibility</p:attrName>
                                        </p:attrNameLst>
                                      </p:cBhvr>
                                      <p:to>
                                        <p:strVal val="visible"/>
                                      </p:to>
                                    </p:set>
                                    <p:animEffect transition="in" filter="wheel(1)">
                                      <p:cBhvr>
                                        <p:cTn id="88" dur="2000"/>
                                        <p:tgtEl>
                                          <p:spTgt spid="51"/>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1036"/>
                                        </p:tgtEl>
                                        <p:attrNameLst>
                                          <p:attrName>style.visibility</p:attrName>
                                        </p:attrNameLst>
                                      </p:cBhvr>
                                      <p:to>
                                        <p:strVal val="visible"/>
                                      </p:to>
                                    </p:set>
                                    <p:animEffect transition="in" filter="fade">
                                      <p:cBhvr>
                                        <p:cTn id="93" dur="500"/>
                                        <p:tgtEl>
                                          <p:spTgt spid="103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2"/>
                                        </p:tgtEl>
                                        <p:attrNameLst>
                                          <p:attrName>style.visibility</p:attrName>
                                        </p:attrNameLst>
                                      </p:cBhvr>
                                      <p:to>
                                        <p:strVal val="visible"/>
                                      </p:to>
                                    </p:set>
                                    <p:animEffect transition="in" filter="fade">
                                      <p:cBhvr>
                                        <p:cTn id="96" dur="500"/>
                                        <p:tgtEl>
                                          <p:spTgt spid="5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49" grpId="0" animBg="1"/>
      <p:bldP spid="48" grpId="0" animBg="1"/>
      <p:bldP spid="46" grpId="0" animBg="1"/>
      <p:bldP spid="20" grpId="0" animBg="1"/>
      <p:bldP spid="33" grpId="0"/>
      <p:bldP spid="34" grpId="0"/>
      <p:bldP spid="35" grpId="0"/>
      <p:bldP spid="36" grpId="0"/>
      <p:bldP spid="37" grpId="0"/>
      <p:bldP spid="2" grpId="0"/>
      <p:bldP spid="38" grpId="0"/>
      <p:bldP spid="39" grpId="0"/>
      <p:bldP spid="40" grpId="0"/>
      <p:bldP spid="41" grpId="0"/>
      <p:bldP spid="4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7">
            <a:extLst>
              <a:ext uri="{FF2B5EF4-FFF2-40B4-BE49-F238E27FC236}">
                <a16:creationId xmlns:a16="http://schemas.microsoft.com/office/drawing/2014/main" id="{07FC0974-4AFB-ABE9-3CBC-55A312FA9551}"/>
              </a:ext>
            </a:extLst>
          </p:cNvPr>
          <p:cNvSpPr>
            <a:spLocks/>
          </p:cNvSpPr>
          <p:nvPr/>
        </p:nvSpPr>
        <p:spPr bwMode="auto">
          <a:xfrm flipV="1">
            <a:off x="5829173" y="1478280"/>
            <a:ext cx="6362828" cy="5379720"/>
          </a:xfrm>
          <a:custGeom>
            <a:avLst/>
            <a:gdLst>
              <a:gd name="T0" fmla="*/ 526 w 2498"/>
              <a:gd name="T1" fmla="*/ 605 h 1835"/>
              <a:gd name="T2" fmla="*/ 1734 w 2498"/>
              <a:gd name="T3" fmla="*/ 1189 h 1835"/>
              <a:gd name="T4" fmla="*/ 2498 w 2498"/>
              <a:gd name="T5" fmla="*/ 1835 h 1835"/>
              <a:gd name="T6" fmla="*/ 2498 w 2498"/>
              <a:gd name="T7" fmla="*/ 0 h 1835"/>
              <a:gd name="T8" fmla="*/ 0 w 2498"/>
              <a:gd name="T9" fmla="*/ 0 h 1835"/>
              <a:gd name="T10" fmla="*/ 526 w 2498"/>
              <a:gd name="T11" fmla="*/ 605 h 1835"/>
            </a:gdLst>
            <a:ahLst/>
            <a:cxnLst>
              <a:cxn ang="0">
                <a:pos x="T0" y="T1"/>
              </a:cxn>
              <a:cxn ang="0">
                <a:pos x="T2" y="T3"/>
              </a:cxn>
              <a:cxn ang="0">
                <a:pos x="T4" y="T5"/>
              </a:cxn>
              <a:cxn ang="0">
                <a:pos x="T6" y="T7"/>
              </a:cxn>
              <a:cxn ang="0">
                <a:pos x="T8" y="T9"/>
              </a:cxn>
              <a:cxn ang="0">
                <a:pos x="T10" y="T11"/>
              </a:cxn>
            </a:cxnLst>
            <a:rect l="0" t="0" r="r" b="b"/>
            <a:pathLst>
              <a:path w="2498" h="1835">
                <a:moveTo>
                  <a:pt x="526" y="605"/>
                </a:moveTo>
                <a:cubicBezTo>
                  <a:pt x="916" y="676"/>
                  <a:pt x="1399" y="692"/>
                  <a:pt x="1734" y="1189"/>
                </a:cubicBezTo>
                <a:cubicBezTo>
                  <a:pt x="2037" y="1641"/>
                  <a:pt x="2315" y="1781"/>
                  <a:pt x="2498" y="1835"/>
                </a:cubicBezTo>
                <a:cubicBezTo>
                  <a:pt x="2498" y="0"/>
                  <a:pt x="2498" y="0"/>
                  <a:pt x="2498" y="0"/>
                </a:cubicBezTo>
                <a:cubicBezTo>
                  <a:pt x="0" y="0"/>
                  <a:pt x="0" y="0"/>
                  <a:pt x="0" y="0"/>
                </a:cubicBezTo>
                <a:cubicBezTo>
                  <a:pt x="0" y="0"/>
                  <a:pt x="23" y="514"/>
                  <a:pt x="526" y="605"/>
                </a:cubicBezTo>
                <a:close/>
              </a:path>
            </a:pathLst>
          </a:custGeom>
          <a:gradFill flip="none" rotWithShape="1">
            <a:gsLst>
              <a:gs pos="0">
                <a:srgbClr val="9253FD">
                  <a:shade val="30000"/>
                  <a:satMod val="115000"/>
                </a:srgbClr>
              </a:gs>
              <a:gs pos="50000">
                <a:srgbClr val="9253FD">
                  <a:shade val="67500"/>
                  <a:satMod val="115000"/>
                </a:srgbClr>
              </a:gs>
              <a:gs pos="100000">
                <a:srgbClr val="9253FD">
                  <a:shade val="100000"/>
                  <a:satMod val="115000"/>
                </a:srgb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id-ID"/>
          </a:p>
        </p:txBody>
      </p:sp>
      <p:sp>
        <p:nvSpPr>
          <p:cNvPr id="43" name="Title 1">
            <a:extLst>
              <a:ext uri="{FF2B5EF4-FFF2-40B4-BE49-F238E27FC236}">
                <a16:creationId xmlns:a16="http://schemas.microsoft.com/office/drawing/2014/main" id="{9CC4F9A5-7996-6BBA-2641-9B692C9E171C}"/>
              </a:ext>
            </a:extLst>
          </p:cNvPr>
          <p:cNvSpPr txBox="1">
            <a:spLocks/>
          </p:cNvSpPr>
          <p:nvPr/>
        </p:nvSpPr>
        <p:spPr>
          <a:xfrm>
            <a:off x="601700" y="721245"/>
            <a:ext cx="7568906" cy="827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0000"/>
                </a:solidFill>
                <a:effectLst/>
                <a:uLnTx/>
                <a:uFillTx/>
                <a:latin typeface="D2L Sans Black" panose="00000A00000000000000" pitchFamily="50" charset="0"/>
              </a:rPr>
              <a:t>Problem Statement</a:t>
            </a:r>
          </a:p>
        </p:txBody>
      </p:sp>
      <p:sp>
        <p:nvSpPr>
          <p:cNvPr id="45" name="Title 1">
            <a:extLst>
              <a:ext uri="{FF2B5EF4-FFF2-40B4-BE49-F238E27FC236}">
                <a16:creationId xmlns:a16="http://schemas.microsoft.com/office/drawing/2014/main" id="{AA4B4E82-2860-25E9-5330-0CAE8535B0B9}"/>
              </a:ext>
            </a:extLst>
          </p:cNvPr>
          <p:cNvSpPr txBox="1">
            <a:spLocks/>
          </p:cNvSpPr>
          <p:nvPr/>
        </p:nvSpPr>
        <p:spPr>
          <a:xfrm>
            <a:off x="601700" y="1716291"/>
            <a:ext cx="7871135" cy="342541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R="0" lvl="0" algn="l" defTabSz="914400" rtl="0" eaLnBrk="1" fontAlgn="auto" latinLnBrk="0" hangingPunct="1">
              <a:lnSpc>
                <a:spcPct val="100000"/>
              </a:lnSpc>
              <a:spcBef>
                <a:spcPts val="1000"/>
              </a:spcBef>
              <a:spcAft>
                <a:spcPts val="600"/>
              </a:spcAft>
              <a:buClrTx/>
              <a:buSzTx/>
              <a:tabLst/>
              <a:defRPr/>
            </a:pPr>
            <a:r>
              <a:rPr kumimoji="0" lang="en-US" sz="2000" i="0" u="none" strike="noStrike" kern="1200" cap="none" spc="0" normalizeH="0" baseline="0" noProof="0" dirty="0">
                <a:ln>
                  <a:noFill/>
                </a:ln>
                <a:solidFill>
                  <a:srgbClr val="000000"/>
                </a:solidFill>
                <a:effectLst/>
                <a:uLnTx/>
                <a:uFillTx/>
                <a:latin typeface="D2L Sans" panose="00000500000000000000" pitchFamily="50" charset="0"/>
                <a:ea typeface="Open Sans Light" panose="020B0306030504020204" pitchFamily="34" charset="0"/>
                <a:cs typeface="Open Sans Light" panose="020B0306030504020204" pitchFamily="34" charset="0"/>
              </a:rPr>
              <a:t>Current Event-in-a-Box vendor</a:t>
            </a:r>
          </a:p>
          <a:p>
            <a:pPr marL="285750" marR="0" lvl="0" indent="-285750" algn="l" defTabSz="914400" rtl="0" eaLnBrk="1" fontAlgn="auto" latinLnBrk="0" hangingPunct="1">
              <a:lnSpc>
                <a:spcPct val="100000"/>
              </a:lnSpc>
              <a:spcBef>
                <a:spcPts val="1000"/>
              </a:spcBef>
              <a:spcAft>
                <a:spcPts val="600"/>
              </a:spcAft>
              <a:buClrTx/>
              <a:buSzTx/>
              <a:buFont typeface="Wingdings" panose="05000000000000000000" pitchFamily="2" charset="2"/>
              <a:buChar char="§"/>
              <a:tabLst/>
              <a:defRPr/>
            </a:pPr>
            <a:r>
              <a:rPr lang="en-US" sz="2000" dirty="0">
                <a:solidFill>
                  <a:srgbClr val="000000"/>
                </a:solidFill>
                <a:latin typeface="D2L Sans" panose="00000500000000000000" pitchFamily="50" charset="0"/>
                <a:ea typeface="Open Sans Light" panose="020B0306030504020204" pitchFamily="34" charset="0"/>
                <a:cs typeface="Open Sans Light" panose="020B0306030504020204" pitchFamily="34" charset="0"/>
              </a:rPr>
              <a:t>Breakdowns in communication</a:t>
            </a:r>
          </a:p>
          <a:p>
            <a:pPr marL="285750" marR="0" lvl="0" indent="-285750" algn="l" defTabSz="914400" rtl="0" eaLnBrk="1" fontAlgn="auto" latinLnBrk="0" hangingPunct="1">
              <a:lnSpc>
                <a:spcPct val="100000"/>
              </a:lnSpc>
              <a:spcBef>
                <a:spcPts val="1000"/>
              </a:spcBef>
              <a:spcAft>
                <a:spcPts val="60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000000"/>
                </a:solidFill>
                <a:effectLst/>
                <a:uLnTx/>
                <a:uFillTx/>
                <a:latin typeface="D2L Sans" panose="00000500000000000000" pitchFamily="50" charset="0"/>
                <a:ea typeface="Open Sans Light" panose="020B0306030504020204" pitchFamily="34" charset="0"/>
                <a:cs typeface="Open Sans Light" panose="020B0306030504020204" pitchFamily="34" charset="0"/>
              </a:rPr>
              <a:t>Inaccurate inventory count</a:t>
            </a:r>
            <a:r>
              <a:rPr lang="en-US" sz="2000" dirty="0">
                <a:solidFill>
                  <a:srgbClr val="000000"/>
                </a:solidFill>
                <a:latin typeface="D2L Sans" panose="00000500000000000000" pitchFamily="50" charset="0"/>
                <a:ea typeface="Open Sans Light" panose="020B0306030504020204" pitchFamily="34" charset="0"/>
                <a:cs typeface="Open Sans Light" panose="020B0306030504020204" pitchFamily="34" charset="0"/>
              </a:rPr>
              <a:t>s</a:t>
            </a:r>
          </a:p>
          <a:p>
            <a:pPr marL="285750" marR="0" lvl="0" indent="-285750" algn="l" defTabSz="914400" rtl="0" eaLnBrk="1" fontAlgn="auto" latinLnBrk="0" hangingPunct="1">
              <a:lnSpc>
                <a:spcPct val="100000"/>
              </a:lnSpc>
              <a:spcBef>
                <a:spcPts val="1000"/>
              </a:spcBef>
              <a:spcAft>
                <a:spcPts val="60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000000"/>
                </a:solidFill>
                <a:effectLst/>
                <a:uLnTx/>
                <a:uFillTx/>
                <a:latin typeface="D2L Sans" panose="00000500000000000000" pitchFamily="50" charset="0"/>
                <a:ea typeface="Open Sans Light" panose="020B0306030504020204" pitchFamily="34" charset="0"/>
                <a:cs typeface="Open Sans Light" panose="020B0306030504020204" pitchFamily="34" charset="0"/>
              </a:rPr>
              <a:t>Shipping logistics m</a:t>
            </a:r>
            <a:r>
              <a:rPr lang="en-US" sz="2000" dirty="0">
                <a:solidFill>
                  <a:srgbClr val="000000"/>
                </a:solidFill>
                <a:latin typeface="D2L Sans" panose="00000500000000000000" pitchFamily="50" charset="0"/>
                <a:ea typeface="Open Sans Light" panose="020B0306030504020204" pitchFamily="34" charset="0"/>
                <a:cs typeface="Open Sans Light" panose="020B0306030504020204" pitchFamily="34" charset="0"/>
              </a:rPr>
              <a:t>istakes</a:t>
            </a:r>
          </a:p>
          <a:p>
            <a:pPr marL="285750" marR="0" lvl="0" indent="-285750" algn="l" defTabSz="914400" rtl="0" eaLnBrk="1" fontAlgn="auto" latinLnBrk="0" hangingPunct="1">
              <a:lnSpc>
                <a:spcPct val="100000"/>
              </a:lnSpc>
              <a:spcBef>
                <a:spcPts val="1000"/>
              </a:spcBef>
              <a:spcAft>
                <a:spcPts val="60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000000"/>
                </a:solidFill>
                <a:effectLst/>
                <a:uLnTx/>
                <a:uFillTx/>
                <a:latin typeface="D2L Sans" panose="00000500000000000000" pitchFamily="50" charset="0"/>
                <a:ea typeface="Open Sans Light" panose="020B0306030504020204" pitchFamily="34" charset="0"/>
                <a:cs typeface="Open Sans Light" panose="020B0306030504020204" pitchFamily="34" charset="0"/>
              </a:rPr>
              <a:t>High billings for project management services</a:t>
            </a:r>
          </a:p>
          <a:p>
            <a:pPr marL="285750" marR="0" lvl="0" indent="-285750" algn="l" defTabSz="914400" rtl="0" eaLnBrk="1" fontAlgn="auto" latinLnBrk="0" hangingPunct="1">
              <a:lnSpc>
                <a:spcPct val="100000"/>
              </a:lnSpc>
              <a:spcBef>
                <a:spcPts val="1000"/>
              </a:spcBef>
              <a:spcAft>
                <a:spcPts val="600"/>
              </a:spcAft>
              <a:buClrTx/>
              <a:buSzTx/>
              <a:buFont typeface="Wingdings" panose="05000000000000000000" pitchFamily="2" charset="2"/>
              <a:buChar char="§"/>
              <a:tabLst/>
              <a:defRPr/>
            </a:pPr>
            <a:r>
              <a:rPr lang="en-US" sz="2000" dirty="0">
                <a:solidFill>
                  <a:srgbClr val="000000"/>
                </a:solidFill>
                <a:latin typeface="D2L Sans" panose="00000500000000000000" pitchFamily="50" charset="0"/>
                <a:ea typeface="Open Sans Light" panose="020B0306030504020204" pitchFamily="34" charset="0"/>
                <a:cs typeface="Open Sans Light" panose="020B0306030504020204" pitchFamily="34" charset="0"/>
              </a:rPr>
              <a:t>No full breakdown of costs in invoice</a:t>
            </a:r>
          </a:p>
          <a:p>
            <a:pPr marL="285750" marR="0" lvl="0" indent="-285750" algn="l" defTabSz="914400" rtl="0" eaLnBrk="1" fontAlgn="auto" latinLnBrk="0" hangingPunct="1">
              <a:lnSpc>
                <a:spcPct val="100000"/>
              </a:lnSpc>
              <a:spcBef>
                <a:spcPts val="1000"/>
              </a:spcBef>
              <a:spcAft>
                <a:spcPts val="60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000000"/>
                </a:solidFill>
                <a:effectLst/>
                <a:uLnTx/>
                <a:uFillTx/>
                <a:latin typeface="D2L Sans" panose="00000500000000000000" pitchFamily="50" charset="0"/>
                <a:ea typeface="Open Sans Light" panose="020B0306030504020204" pitchFamily="34" charset="0"/>
                <a:cs typeface="Open Sans Light" panose="020B0306030504020204" pitchFamily="34" charset="0"/>
              </a:rPr>
              <a:t>Poor experience and </a:t>
            </a:r>
            <a:r>
              <a:rPr lang="en-US" sz="2000" dirty="0">
                <a:solidFill>
                  <a:srgbClr val="000000"/>
                </a:solidFill>
                <a:latin typeface="D2L Sans" panose="00000500000000000000" pitchFamily="50" charset="0"/>
                <a:ea typeface="Open Sans Light" panose="020B0306030504020204" pitchFamily="34" charset="0"/>
                <a:cs typeface="Open Sans Light" panose="020B0306030504020204" pitchFamily="34" charset="0"/>
              </a:rPr>
              <a:t>User Interface</a:t>
            </a:r>
            <a:endParaRPr kumimoji="0" lang="en-US" sz="2000" b="0" i="0" u="none" strike="noStrike" kern="1200" cap="none" spc="0" normalizeH="0" baseline="0" noProof="0" dirty="0">
              <a:ln>
                <a:noFill/>
              </a:ln>
              <a:solidFill>
                <a:srgbClr val="000000"/>
              </a:solidFill>
              <a:effectLst/>
              <a:uLnTx/>
              <a:uFillTx/>
              <a:latin typeface="D2L Sans" panose="00000500000000000000" pitchFamily="50" charset="0"/>
              <a:ea typeface="Open Sans Light" panose="020B0306030504020204" pitchFamily="34" charset="0"/>
              <a:cs typeface="Open Sans Light" panose="020B0306030504020204" pitchFamily="34" charset="0"/>
            </a:endParaRPr>
          </a:p>
        </p:txBody>
      </p:sp>
      <p:cxnSp>
        <p:nvCxnSpPr>
          <p:cNvPr id="6" name="Straight Connector 5">
            <a:extLst>
              <a:ext uri="{FF2B5EF4-FFF2-40B4-BE49-F238E27FC236}">
                <a16:creationId xmlns:a16="http://schemas.microsoft.com/office/drawing/2014/main" id="{9CAD96D8-D0F0-CA92-EDFA-D3CEFDE76AC5}"/>
              </a:ext>
            </a:extLst>
          </p:cNvPr>
          <p:cNvCxnSpPr>
            <a:cxnSpLocks/>
          </p:cNvCxnSpPr>
          <p:nvPr/>
        </p:nvCxnSpPr>
        <p:spPr>
          <a:xfrm>
            <a:off x="699982" y="1388254"/>
            <a:ext cx="5318760"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26" name="Picture 2" descr="Dissatisfied - Free communications icons">
            <a:extLst>
              <a:ext uri="{FF2B5EF4-FFF2-40B4-BE49-F238E27FC236}">
                <a16:creationId xmlns:a16="http://schemas.microsoft.com/office/drawing/2014/main" id="{D3F4D4C0-3BFD-7095-70B3-A884136DE0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6541" y="2640703"/>
            <a:ext cx="4506962" cy="450696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005858A-2751-BEF3-3E3A-05C027BC264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22115" y1="55725" x2="22115" y2="55725"/>
                        <a14:foregroundMark x1="36058" y1="63359" x2="36058" y2="63359"/>
                        <a14:foregroundMark x1="58173" y1="26718" x2="58173" y2="26718"/>
                        <a14:foregroundMark x1="61538" y1="17557" x2="61538" y2="17557"/>
                        <a14:foregroundMark x1="64423" y1="35878" x2="64423" y2="35878"/>
                      </a14:backgroundRemoval>
                    </a14:imgEffect>
                  </a14:imgLayer>
                </a14:imgProps>
              </a:ext>
            </a:extLst>
          </a:blip>
          <a:stretch>
            <a:fillRect/>
          </a:stretch>
        </p:blipFill>
        <p:spPr>
          <a:xfrm>
            <a:off x="9705697" y="300966"/>
            <a:ext cx="1981477" cy="1247949"/>
          </a:xfrm>
          <a:prstGeom prst="rect">
            <a:avLst/>
          </a:prstGeom>
        </p:spPr>
      </p:pic>
    </p:spTree>
    <p:extLst>
      <p:ext uri="{BB962C8B-B14F-4D97-AF65-F5344CB8AC3E}">
        <p14:creationId xmlns:p14="http://schemas.microsoft.com/office/powerpoint/2010/main" val="31148816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additive="base">
                                        <p:cTn id="17" dur="500" fill="hold"/>
                                        <p:tgtEl>
                                          <p:spTgt spid="1026"/>
                                        </p:tgtEl>
                                        <p:attrNameLst>
                                          <p:attrName>ppt_x</p:attrName>
                                        </p:attrNameLst>
                                      </p:cBhvr>
                                      <p:tavLst>
                                        <p:tav tm="0">
                                          <p:val>
                                            <p:strVal val="#ppt_x"/>
                                          </p:val>
                                        </p:tav>
                                        <p:tav tm="100000">
                                          <p:val>
                                            <p:strVal val="#ppt_x"/>
                                          </p:val>
                                        </p:tav>
                                      </p:tavLst>
                                    </p:anim>
                                    <p:anim calcmode="lin" valueType="num">
                                      <p:cBhvr additive="base">
                                        <p:cTn id="1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500"/>
                                        <p:tgtEl>
                                          <p:spTgt spid="43"/>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arn(inVertical)">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5">
                                            <p:txEl>
                                              <p:pRg st="0" end="0"/>
                                            </p:txEl>
                                          </p:spTgt>
                                        </p:tgtEl>
                                        <p:attrNameLst>
                                          <p:attrName>style.visibility</p:attrName>
                                        </p:attrNameLst>
                                      </p:cBhvr>
                                      <p:to>
                                        <p:strVal val="visible"/>
                                      </p:to>
                                    </p:set>
                                    <p:animEffect transition="in" filter="fade">
                                      <p:cBhvr>
                                        <p:cTn id="33" dur="1000"/>
                                        <p:tgtEl>
                                          <p:spTgt spid="45">
                                            <p:txEl>
                                              <p:pRg st="0" end="0"/>
                                            </p:txEl>
                                          </p:spTgt>
                                        </p:tgtEl>
                                      </p:cBhvr>
                                    </p:animEffect>
                                    <p:anim calcmode="lin" valueType="num">
                                      <p:cBhvr>
                                        <p:cTn id="34" dur="1000" fill="hold"/>
                                        <p:tgtEl>
                                          <p:spTgt spid="45">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4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45">
                                            <p:txEl>
                                              <p:pRg st="1" end="1"/>
                                            </p:txEl>
                                          </p:spTgt>
                                        </p:tgtEl>
                                        <p:attrNameLst>
                                          <p:attrName>style.visibility</p:attrName>
                                        </p:attrNameLst>
                                      </p:cBhvr>
                                      <p:to>
                                        <p:strVal val="visible"/>
                                      </p:to>
                                    </p:set>
                                    <p:animEffect transition="in" filter="fade">
                                      <p:cBhvr>
                                        <p:cTn id="40" dur="1000"/>
                                        <p:tgtEl>
                                          <p:spTgt spid="45">
                                            <p:txEl>
                                              <p:pRg st="1" end="1"/>
                                            </p:txEl>
                                          </p:spTgt>
                                        </p:tgtEl>
                                      </p:cBhvr>
                                    </p:animEffect>
                                    <p:anim calcmode="lin" valueType="num">
                                      <p:cBhvr>
                                        <p:cTn id="41" dur="1000" fill="hold"/>
                                        <p:tgtEl>
                                          <p:spTgt spid="45">
                                            <p:txEl>
                                              <p:pRg st="1" end="1"/>
                                            </p:txEl>
                                          </p:spTgt>
                                        </p:tgtEl>
                                        <p:attrNameLst>
                                          <p:attrName>ppt_x</p:attrName>
                                        </p:attrNameLst>
                                      </p:cBhvr>
                                      <p:tavLst>
                                        <p:tav tm="0">
                                          <p:val>
                                            <p:strVal val="#ppt_x"/>
                                          </p:val>
                                        </p:tav>
                                        <p:tav tm="100000">
                                          <p:val>
                                            <p:strVal val="#ppt_x"/>
                                          </p:val>
                                        </p:tav>
                                      </p:tavLst>
                                    </p:anim>
                                    <p:anim calcmode="lin" valueType="num">
                                      <p:cBhvr>
                                        <p:cTn id="42" dur="1000" fill="hold"/>
                                        <p:tgtEl>
                                          <p:spTgt spid="4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45">
                                            <p:txEl>
                                              <p:pRg st="2" end="2"/>
                                            </p:txEl>
                                          </p:spTgt>
                                        </p:tgtEl>
                                        <p:attrNameLst>
                                          <p:attrName>style.visibility</p:attrName>
                                        </p:attrNameLst>
                                      </p:cBhvr>
                                      <p:to>
                                        <p:strVal val="visible"/>
                                      </p:to>
                                    </p:set>
                                    <p:animEffect transition="in" filter="fade">
                                      <p:cBhvr>
                                        <p:cTn id="47" dur="1000"/>
                                        <p:tgtEl>
                                          <p:spTgt spid="45">
                                            <p:txEl>
                                              <p:pRg st="2" end="2"/>
                                            </p:txEl>
                                          </p:spTgt>
                                        </p:tgtEl>
                                      </p:cBhvr>
                                    </p:animEffect>
                                    <p:anim calcmode="lin" valueType="num">
                                      <p:cBhvr>
                                        <p:cTn id="48" dur="1000" fill="hold"/>
                                        <p:tgtEl>
                                          <p:spTgt spid="45">
                                            <p:txEl>
                                              <p:pRg st="2" end="2"/>
                                            </p:txEl>
                                          </p:spTgt>
                                        </p:tgtEl>
                                        <p:attrNameLst>
                                          <p:attrName>ppt_x</p:attrName>
                                        </p:attrNameLst>
                                      </p:cBhvr>
                                      <p:tavLst>
                                        <p:tav tm="0">
                                          <p:val>
                                            <p:strVal val="#ppt_x"/>
                                          </p:val>
                                        </p:tav>
                                        <p:tav tm="100000">
                                          <p:val>
                                            <p:strVal val="#ppt_x"/>
                                          </p:val>
                                        </p:tav>
                                      </p:tavLst>
                                    </p:anim>
                                    <p:anim calcmode="lin" valueType="num">
                                      <p:cBhvr>
                                        <p:cTn id="49" dur="1000" fill="hold"/>
                                        <p:tgtEl>
                                          <p:spTgt spid="4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45">
                                            <p:txEl>
                                              <p:pRg st="3" end="3"/>
                                            </p:txEl>
                                          </p:spTgt>
                                        </p:tgtEl>
                                        <p:attrNameLst>
                                          <p:attrName>style.visibility</p:attrName>
                                        </p:attrNameLst>
                                      </p:cBhvr>
                                      <p:to>
                                        <p:strVal val="visible"/>
                                      </p:to>
                                    </p:set>
                                    <p:animEffect transition="in" filter="fade">
                                      <p:cBhvr>
                                        <p:cTn id="54" dur="1000"/>
                                        <p:tgtEl>
                                          <p:spTgt spid="45">
                                            <p:txEl>
                                              <p:pRg st="3" end="3"/>
                                            </p:txEl>
                                          </p:spTgt>
                                        </p:tgtEl>
                                      </p:cBhvr>
                                    </p:animEffect>
                                    <p:anim calcmode="lin" valueType="num">
                                      <p:cBhvr>
                                        <p:cTn id="55" dur="1000" fill="hold"/>
                                        <p:tgtEl>
                                          <p:spTgt spid="45">
                                            <p:txEl>
                                              <p:pRg st="3" end="3"/>
                                            </p:txEl>
                                          </p:spTgt>
                                        </p:tgtEl>
                                        <p:attrNameLst>
                                          <p:attrName>ppt_x</p:attrName>
                                        </p:attrNameLst>
                                      </p:cBhvr>
                                      <p:tavLst>
                                        <p:tav tm="0">
                                          <p:val>
                                            <p:strVal val="#ppt_x"/>
                                          </p:val>
                                        </p:tav>
                                        <p:tav tm="100000">
                                          <p:val>
                                            <p:strVal val="#ppt_x"/>
                                          </p:val>
                                        </p:tav>
                                      </p:tavLst>
                                    </p:anim>
                                    <p:anim calcmode="lin" valueType="num">
                                      <p:cBhvr>
                                        <p:cTn id="56" dur="1000" fill="hold"/>
                                        <p:tgtEl>
                                          <p:spTgt spid="4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45">
                                            <p:txEl>
                                              <p:pRg st="4" end="4"/>
                                            </p:txEl>
                                          </p:spTgt>
                                        </p:tgtEl>
                                        <p:attrNameLst>
                                          <p:attrName>style.visibility</p:attrName>
                                        </p:attrNameLst>
                                      </p:cBhvr>
                                      <p:to>
                                        <p:strVal val="visible"/>
                                      </p:to>
                                    </p:set>
                                    <p:animEffect transition="in" filter="fade">
                                      <p:cBhvr>
                                        <p:cTn id="61" dur="1000"/>
                                        <p:tgtEl>
                                          <p:spTgt spid="45">
                                            <p:txEl>
                                              <p:pRg st="4" end="4"/>
                                            </p:txEl>
                                          </p:spTgt>
                                        </p:tgtEl>
                                      </p:cBhvr>
                                    </p:animEffect>
                                    <p:anim calcmode="lin" valueType="num">
                                      <p:cBhvr>
                                        <p:cTn id="62" dur="1000" fill="hold"/>
                                        <p:tgtEl>
                                          <p:spTgt spid="45">
                                            <p:txEl>
                                              <p:pRg st="4" end="4"/>
                                            </p:txEl>
                                          </p:spTgt>
                                        </p:tgtEl>
                                        <p:attrNameLst>
                                          <p:attrName>ppt_x</p:attrName>
                                        </p:attrNameLst>
                                      </p:cBhvr>
                                      <p:tavLst>
                                        <p:tav tm="0">
                                          <p:val>
                                            <p:strVal val="#ppt_x"/>
                                          </p:val>
                                        </p:tav>
                                        <p:tav tm="100000">
                                          <p:val>
                                            <p:strVal val="#ppt_x"/>
                                          </p:val>
                                        </p:tav>
                                      </p:tavLst>
                                    </p:anim>
                                    <p:anim calcmode="lin" valueType="num">
                                      <p:cBhvr>
                                        <p:cTn id="63" dur="1000" fill="hold"/>
                                        <p:tgtEl>
                                          <p:spTgt spid="4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45">
                                            <p:txEl>
                                              <p:pRg st="5" end="5"/>
                                            </p:txEl>
                                          </p:spTgt>
                                        </p:tgtEl>
                                        <p:attrNameLst>
                                          <p:attrName>style.visibility</p:attrName>
                                        </p:attrNameLst>
                                      </p:cBhvr>
                                      <p:to>
                                        <p:strVal val="visible"/>
                                      </p:to>
                                    </p:set>
                                    <p:animEffect transition="in" filter="fade">
                                      <p:cBhvr>
                                        <p:cTn id="68" dur="1000"/>
                                        <p:tgtEl>
                                          <p:spTgt spid="45">
                                            <p:txEl>
                                              <p:pRg st="5" end="5"/>
                                            </p:txEl>
                                          </p:spTgt>
                                        </p:tgtEl>
                                      </p:cBhvr>
                                    </p:animEffect>
                                    <p:anim calcmode="lin" valueType="num">
                                      <p:cBhvr>
                                        <p:cTn id="69" dur="1000" fill="hold"/>
                                        <p:tgtEl>
                                          <p:spTgt spid="45">
                                            <p:txEl>
                                              <p:pRg st="5" end="5"/>
                                            </p:txEl>
                                          </p:spTgt>
                                        </p:tgtEl>
                                        <p:attrNameLst>
                                          <p:attrName>ppt_x</p:attrName>
                                        </p:attrNameLst>
                                      </p:cBhvr>
                                      <p:tavLst>
                                        <p:tav tm="0">
                                          <p:val>
                                            <p:strVal val="#ppt_x"/>
                                          </p:val>
                                        </p:tav>
                                        <p:tav tm="100000">
                                          <p:val>
                                            <p:strVal val="#ppt_x"/>
                                          </p:val>
                                        </p:tav>
                                      </p:tavLst>
                                    </p:anim>
                                    <p:anim calcmode="lin" valueType="num">
                                      <p:cBhvr>
                                        <p:cTn id="70" dur="1000" fill="hold"/>
                                        <p:tgtEl>
                                          <p:spTgt spid="4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45">
                                            <p:txEl>
                                              <p:pRg st="6" end="6"/>
                                            </p:txEl>
                                          </p:spTgt>
                                        </p:tgtEl>
                                        <p:attrNameLst>
                                          <p:attrName>style.visibility</p:attrName>
                                        </p:attrNameLst>
                                      </p:cBhvr>
                                      <p:to>
                                        <p:strVal val="visible"/>
                                      </p:to>
                                    </p:set>
                                    <p:animEffect transition="in" filter="fade">
                                      <p:cBhvr>
                                        <p:cTn id="75" dur="1000"/>
                                        <p:tgtEl>
                                          <p:spTgt spid="45">
                                            <p:txEl>
                                              <p:pRg st="6" end="6"/>
                                            </p:txEl>
                                          </p:spTgt>
                                        </p:tgtEl>
                                      </p:cBhvr>
                                    </p:animEffect>
                                    <p:anim calcmode="lin" valueType="num">
                                      <p:cBhvr>
                                        <p:cTn id="76" dur="1000" fill="hold"/>
                                        <p:tgtEl>
                                          <p:spTgt spid="45">
                                            <p:txEl>
                                              <p:pRg st="6" end="6"/>
                                            </p:txEl>
                                          </p:spTgt>
                                        </p:tgtEl>
                                        <p:attrNameLst>
                                          <p:attrName>ppt_x</p:attrName>
                                        </p:attrNameLst>
                                      </p:cBhvr>
                                      <p:tavLst>
                                        <p:tav tm="0">
                                          <p:val>
                                            <p:strVal val="#ppt_x"/>
                                          </p:val>
                                        </p:tav>
                                        <p:tav tm="100000">
                                          <p:val>
                                            <p:strVal val="#ppt_x"/>
                                          </p:val>
                                        </p:tav>
                                      </p:tavLst>
                                    </p:anim>
                                    <p:anim calcmode="lin" valueType="num">
                                      <p:cBhvr>
                                        <p:cTn id="77" dur="1000" fill="hold"/>
                                        <p:tgtEl>
                                          <p:spTgt spid="4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3" grpId="0"/>
      <p:bldP spid="4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7" name="Rectangle 1056">
            <a:extLst>
              <a:ext uri="{FF2B5EF4-FFF2-40B4-BE49-F238E27FC236}">
                <a16:creationId xmlns:a16="http://schemas.microsoft.com/office/drawing/2014/main" id="{A600C9B1-FACE-10BB-6CFB-60EE55A18ACF}"/>
              </a:ext>
            </a:extLst>
          </p:cNvPr>
          <p:cNvSpPr/>
          <p:nvPr/>
        </p:nvSpPr>
        <p:spPr>
          <a:xfrm>
            <a:off x="9285470" y="0"/>
            <a:ext cx="2906530"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3" name="Title 1">
            <a:extLst>
              <a:ext uri="{FF2B5EF4-FFF2-40B4-BE49-F238E27FC236}">
                <a16:creationId xmlns:a16="http://schemas.microsoft.com/office/drawing/2014/main" id="{9CC4F9A5-7996-6BBA-2641-9B692C9E171C}"/>
              </a:ext>
            </a:extLst>
          </p:cNvPr>
          <p:cNvSpPr txBox="1">
            <a:spLocks/>
          </p:cNvSpPr>
          <p:nvPr/>
        </p:nvSpPr>
        <p:spPr>
          <a:xfrm>
            <a:off x="8806378" y="3160422"/>
            <a:ext cx="3864713" cy="827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effectLst/>
                <a:uLnTx/>
                <a:uFillTx/>
                <a:latin typeface="D2L Sans Black" panose="00000A00000000000000" pitchFamily="50" charset="0"/>
              </a:rPr>
              <a:t>Criteria</a:t>
            </a:r>
          </a:p>
        </p:txBody>
      </p:sp>
      <p:sp>
        <p:nvSpPr>
          <p:cNvPr id="1058" name="TextBox 1057">
            <a:extLst>
              <a:ext uri="{FF2B5EF4-FFF2-40B4-BE49-F238E27FC236}">
                <a16:creationId xmlns:a16="http://schemas.microsoft.com/office/drawing/2014/main" id="{FCBD79F4-DFF2-549B-98ED-25BE271E5999}"/>
              </a:ext>
            </a:extLst>
          </p:cNvPr>
          <p:cNvSpPr txBox="1"/>
          <p:nvPr/>
        </p:nvSpPr>
        <p:spPr>
          <a:xfrm>
            <a:off x="753550" y="620442"/>
            <a:ext cx="3341637" cy="369332"/>
          </a:xfrm>
          <a:prstGeom prst="rect">
            <a:avLst/>
          </a:prstGeom>
          <a:noFill/>
        </p:spPr>
        <p:txBody>
          <a:bodyPr wrap="square" lIns="0" tIns="0" rIns="0" bIns="0" rtlCol="0">
            <a:spAutoFit/>
          </a:bodyPr>
          <a:lstStyle/>
          <a:p>
            <a:pPr algn="ctr"/>
            <a:r>
              <a:rPr lang="en-US" sz="2400" b="1" dirty="0">
                <a:solidFill>
                  <a:schemeClr val="bg1"/>
                </a:solidFill>
                <a:latin typeface="D2L Sans" panose="00000500000000000000" pitchFamily="50" charset="0"/>
              </a:rPr>
              <a:t>Inventory Management</a:t>
            </a:r>
            <a:endParaRPr lang="en-CA" sz="2400" b="1" dirty="0">
              <a:solidFill>
                <a:schemeClr val="bg1"/>
              </a:solidFill>
              <a:latin typeface="D2L Sans" panose="00000500000000000000" pitchFamily="50" charset="0"/>
            </a:endParaRPr>
          </a:p>
        </p:txBody>
      </p:sp>
      <p:sp>
        <p:nvSpPr>
          <p:cNvPr id="1059" name="TextBox 1058">
            <a:extLst>
              <a:ext uri="{FF2B5EF4-FFF2-40B4-BE49-F238E27FC236}">
                <a16:creationId xmlns:a16="http://schemas.microsoft.com/office/drawing/2014/main" id="{1856D0F5-C976-BB41-DD31-AC74C024D85D}"/>
              </a:ext>
            </a:extLst>
          </p:cNvPr>
          <p:cNvSpPr txBox="1"/>
          <p:nvPr/>
        </p:nvSpPr>
        <p:spPr>
          <a:xfrm>
            <a:off x="5063303" y="634253"/>
            <a:ext cx="3501922" cy="369332"/>
          </a:xfrm>
          <a:prstGeom prst="rect">
            <a:avLst/>
          </a:prstGeom>
          <a:noFill/>
        </p:spPr>
        <p:txBody>
          <a:bodyPr wrap="square" lIns="0" tIns="0" rIns="0" bIns="0" rtlCol="0">
            <a:spAutoFit/>
          </a:bodyPr>
          <a:lstStyle/>
          <a:p>
            <a:r>
              <a:rPr lang="en-US" sz="2400" b="1" dirty="0">
                <a:solidFill>
                  <a:schemeClr val="bg1"/>
                </a:solidFill>
                <a:latin typeface="D2L Sans" panose="00000500000000000000" pitchFamily="50" charset="0"/>
              </a:rPr>
              <a:t>Shipping Services</a:t>
            </a:r>
            <a:endParaRPr lang="en-CA" sz="2400" b="1" dirty="0">
              <a:solidFill>
                <a:schemeClr val="bg1"/>
              </a:solidFill>
              <a:latin typeface="D2L Sans" panose="00000500000000000000" pitchFamily="50" charset="0"/>
            </a:endParaRPr>
          </a:p>
        </p:txBody>
      </p:sp>
      <p:sp>
        <p:nvSpPr>
          <p:cNvPr id="1060" name="TextBox 1059">
            <a:extLst>
              <a:ext uri="{FF2B5EF4-FFF2-40B4-BE49-F238E27FC236}">
                <a16:creationId xmlns:a16="http://schemas.microsoft.com/office/drawing/2014/main" id="{C8BA4DD6-CC70-9200-751F-D1C936CEB6D0}"/>
              </a:ext>
            </a:extLst>
          </p:cNvPr>
          <p:cNvSpPr txBox="1"/>
          <p:nvPr/>
        </p:nvSpPr>
        <p:spPr>
          <a:xfrm>
            <a:off x="5077198" y="2123081"/>
            <a:ext cx="2476500" cy="369332"/>
          </a:xfrm>
          <a:prstGeom prst="rect">
            <a:avLst/>
          </a:prstGeom>
          <a:noFill/>
        </p:spPr>
        <p:txBody>
          <a:bodyPr wrap="square" lIns="0" tIns="0" rIns="0" bIns="0" rtlCol="0">
            <a:spAutoFit/>
          </a:bodyPr>
          <a:lstStyle/>
          <a:p>
            <a:pPr algn="l"/>
            <a:r>
              <a:rPr lang="en-US" sz="2400" b="1" dirty="0">
                <a:solidFill>
                  <a:schemeClr val="bg1"/>
                </a:solidFill>
                <a:latin typeface="D2L Sans" panose="00000500000000000000" pitchFamily="50" charset="0"/>
              </a:rPr>
              <a:t>User Portal</a:t>
            </a:r>
            <a:endParaRPr lang="en-CA" sz="2400" b="1" dirty="0">
              <a:solidFill>
                <a:schemeClr val="bg1"/>
              </a:solidFill>
              <a:latin typeface="D2L Sans" panose="00000500000000000000" pitchFamily="50" charset="0"/>
            </a:endParaRPr>
          </a:p>
        </p:txBody>
      </p:sp>
      <p:sp>
        <p:nvSpPr>
          <p:cNvPr id="1061" name="TextBox 1060">
            <a:extLst>
              <a:ext uri="{FF2B5EF4-FFF2-40B4-BE49-F238E27FC236}">
                <a16:creationId xmlns:a16="http://schemas.microsoft.com/office/drawing/2014/main" id="{DEB36E81-98A8-B563-92BF-E2D2AD69D567}"/>
              </a:ext>
            </a:extLst>
          </p:cNvPr>
          <p:cNvSpPr txBox="1"/>
          <p:nvPr/>
        </p:nvSpPr>
        <p:spPr>
          <a:xfrm>
            <a:off x="753549" y="2100562"/>
            <a:ext cx="3874770" cy="369332"/>
          </a:xfrm>
          <a:prstGeom prst="rect">
            <a:avLst/>
          </a:prstGeom>
          <a:noFill/>
        </p:spPr>
        <p:txBody>
          <a:bodyPr wrap="square" lIns="0" tIns="0" rIns="0" bIns="0" rtlCol="0">
            <a:spAutoFit/>
          </a:bodyPr>
          <a:lstStyle/>
          <a:p>
            <a:pPr algn="l"/>
            <a:r>
              <a:rPr lang="en-US" sz="2400" b="1" dirty="0">
                <a:solidFill>
                  <a:schemeClr val="bg1"/>
                </a:solidFill>
                <a:latin typeface="D2L Sans" panose="00000500000000000000" pitchFamily="50" charset="0"/>
              </a:rPr>
              <a:t>Project Management</a:t>
            </a:r>
            <a:endParaRPr lang="en-CA" sz="2400" b="1" dirty="0">
              <a:solidFill>
                <a:schemeClr val="bg1"/>
              </a:solidFill>
              <a:latin typeface="D2L Sans" panose="00000500000000000000" pitchFamily="50" charset="0"/>
            </a:endParaRPr>
          </a:p>
        </p:txBody>
      </p:sp>
      <p:sp>
        <p:nvSpPr>
          <p:cNvPr id="1062" name="TextBox 1061">
            <a:extLst>
              <a:ext uri="{FF2B5EF4-FFF2-40B4-BE49-F238E27FC236}">
                <a16:creationId xmlns:a16="http://schemas.microsoft.com/office/drawing/2014/main" id="{9EE7B198-0F14-3BAE-A455-0C9F93B48D54}"/>
              </a:ext>
            </a:extLst>
          </p:cNvPr>
          <p:cNvSpPr txBox="1"/>
          <p:nvPr/>
        </p:nvSpPr>
        <p:spPr>
          <a:xfrm>
            <a:off x="5105250" y="5396896"/>
            <a:ext cx="2476500" cy="369332"/>
          </a:xfrm>
          <a:prstGeom prst="rect">
            <a:avLst/>
          </a:prstGeom>
          <a:noFill/>
        </p:spPr>
        <p:txBody>
          <a:bodyPr wrap="square" lIns="0" tIns="0" rIns="0" bIns="0" rtlCol="0">
            <a:spAutoFit/>
          </a:bodyPr>
          <a:lstStyle/>
          <a:p>
            <a:pPr algn="l"/>
            <a:r>
              <a:rPr lang="en-US" sz="2400" b="1" dirty="0">
                <a:solidFill>
                  <a:schemeClr val="bg1"/>
                </a:solidFill>
                <a:latin typeface="D2L Sans" panose="00000500000000000000" pitchFamily="50" charset="0"/>
              </a:rPr>
              <a:t>Sustainability</a:t>
            </a:r>
            <a:endParaRPr lang="en-CA" sz="2400" b="1" dirty="0">
              <a:solidFill>
                <a:schemeClr val="bg1"/>
              </a:solidFill>
              <a:latin typeface="D2L Sans" panose="00000500000000000000" pitchFamily="50" charset="0"/>
            </a:endParaRPr>
          </a:p>
        </p:txBody>
      </p:sp>
      <p:sp>
        <p:nvSpPr>
          <p:cNvPr id="1063" name="TextBox 1062">
            <a:extLst>
              <a:ext uri="{FF2B5EF4-FFF2-40B4-BE49-F238E27FC236}">
                <a16:creationId xmlns:a16="http://schemas.microsoft.com/office/drawing/2014/main" id="{857FA345-2E39-E27F-C410-2FC16C196EAD}"/>
              </a:ext>
            </a:extLst>
          </p:cNvPr>
          <p:cNvSpPr txBox="1"/>
          <p:nvPr/>
        </p:nvSpPr>
        <p:spPr>
          <a:xfrm>
            <a:off x="787400" y="4761888"/>
            <a:ext cx="4124575" cy="369332"/>
          </a:xfrm>
          <a:prstGeom prst="rect">
            <a:avLst/>
          </a:prstGeom>
          <a:noFill/>
        </p:spPr>
        <p:txBody>
          <a:bodyPr wrap="square" lIns="0" tIns="0" rIns="0" bIns="0" rtlCol="0">
            <a:spAutoFit/>
          </a:bodyPr>
          <a:lstStyle/>
          <a:p>
            <a:pPr algn="l"/>
            <a:r>
              <a:rPr lang="en-US" sz="2400" b="1" dirty="0">
                <a:solidFill>
                  <a:schemeClr val="bg1"/>
                </a:solidFill>
                <a:latin typeface="D2L Sans" panose="00000500000000000000" pitchFamily="50" charset="0"/>
              </a:rPr>
              <a:t>Customer Support</a:t>
            </a:r>
            <a:endParaRPr lang="en-CA" sz="2400" b="1" dirty="0">
              <a:solidFill>
                <a:schemeClr val="bg1"/>
              </a:solidFill>
              <a:latin typeface="D2L Sans" panose="00000500000000000000" pitchFamily="50" charset="0"/>
            </a:endParaRPr>
          </a:p>
        </p:txBody>
      </p:sp>
      <p:sp>
        <p:nvSpPr>
          <p:cNvPr id="1064" name="TextBox 1063">
            <a:extLst>
              <a:ext uri="{FF2B5EF4-FFF2-40B4-BE49-F238E27FC236}">
                <a16:creationId xmlns:a16="http://schemas.microsoft.com/office/drawing/2014/main" id="{237B1773-3CF0-D676-867B-B41BAD818929}"/>
              </a:ext>
            </a:extLst>
          </p:cNvPr>
          <p:cNvSpPr txBox="1"/>
          <p:nvPr/>
        </p:nvSpPr>
        <p:spPr>
          <a:xfrm>
            <a:off x="756676" y="1055662"/>
            <a:ext cx="3341637" cy="619400"/>
          </a:xfrm>
          <a:prstGeom prst="rect">
            <a:avLst/>
          </a:prstGeom>
          <a:noFill/>
        </p:spPr>
        <p:txBody>
          <a:bodyPr wrap="square" lIns="0" tIns="0" rIns="0" bIns="0" rtlCol="0">
            <a:spAutoFit/>
          </a:bodyPr>
          <a:lstStyle/>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Store variety of items long-term</a:t>
            </a:r>
          </a:p>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Reserve admin-use items</a:t>
            </a:r>
          </a:p>
        </p:txBody>
      </p:sp>
      <p:sp>
        <p:nvSpPr>
          <p:cNvPr id="1066" name="TextBox 1065">
            <a:extLst>
              <a:ext uri="{FF2B5EF4-FFF2-40B4-BE49-F238E27FC236}">
                <a16:creationId xmlns:a16="http://schemas.microsoft.com/office/drawing/2014/main" id="{264E494C-EB1A-2C06-5124-27815FF07FD8}"/>
              </a:ext>
            </a:extLst>
          </p:cNvPr>
          <p:cNvSpPr txBox="1"/>
          <p:nvPr/>
        </p:nvSpPr>
        <p:spPr>
          <a:xfrm>
            <a:off x="5068223" y="1078210"/>
            <a:ext cx="3869850" cy="942566"/>
          </a:xfrm>
          <a:prstGeom prst="rect">
            <a:avLst/>
          </a:prstGeom>
          <a:noFill/>
        </p:spPr>
        <p:txBody>
          <a:bodyPr wrap="square" lIns="0" tIns="0" rIns="0" bIns="0" rtlCol="0">
            <a:spAutoFit/>
          </a:bodyPr>
          <a:lstStyle/>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Ship to/from warehouse</a:t>
            </a:r>
          </a:p>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Use multiple carriers (UPS, FedEx, UPS, DHL)</a:t>
            </a:r>
          </a:p>
          <a:p>
            <a:pPr marL="285750" indent="-285750">
              <a:lnSpc>
                <a:spcPct val="150000"/>
              </a:lnSpc>
              <a:buFont typeface="Wingdings" panose="05000000000000000000" pitchFamily="2" charset="2"/>
              <a:buChar char="§"/>
            </a:pPr>
            <a:r>
              <a:rPr lang="en-US" sz="1400" dirty="0">
                <a:solidFill>
                  <a:schemeClr val="bg1"/>
                </a:solidFill>
                <a:latin typeface="D2L Sans" panose="00000500000000000000" pitchFamily="50" charset="0"/>
              </a:rPr>
              <a:t>Return labels</a:t>
            </a:r>
            <a:endParaRPr lang="en-US" sz="1400" i="0" dirty="0">
              <a:solidFill>
                <a:schemeClr val="bg1"/>
              </a:solidFill>
              <a:effectLst/>
              <a:latin typeface="D2L Sans" panose="00000500000000000000" pitchFamily="50" charset="0"/>
            </a:endParaRPr>
          </a:p>
        </p:txBody>
      </p:sp>
      <p:sp>
        <p:nvSpPr>
          <p:cNvPr id="1067" name="TextBox 1066">
            <a:extLst>
              <a:ext uri="{FF2B5EF4-FFF2-40B4-BE49-F238E27FC236}">
                <a16:creationId xmlns:a16="http://schemas.microsoft.com/office/drawing/2014/main" id="{01AE5464-8412-9F7B-ACEF-B81E9C37A890}"/>
              </a:ext>
            </a:extLst>
          </p:cNvPr>
          <p:cNvSpPr txBox="1"/>
          <p:nvPr/>
        </p:nvSpPr>
        <p:spPr>
          <a:xfrm>
            <a:off x="5091704" y="2655981"/>
            <a:ext cx="3489960" cy="2558393"/>
          </a:xfrm>
          <a:prstGeom prst="rect">
            <a:avLst/>
          </a:prstGeom>
          <a:noFill/>
        </p:spPr>
        <p:txBody>
          <a:bodyPr wrap="square" lIns="0" tIns="0" rIns="0" bIns="0" rtlCol="0">
            <a:spAutoFit/>
          </a:bodyPr>
          <a:lstStyle/>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Accessible order placement</a:t>
            </a:r>
          </a:p>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Varied access levels</a:t>
            </a:r>
          </a:p>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Admin view </a:t>
            </a:r>
          </a:p>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Order and user tracking</a:t>
            </a:r>
          </a:p>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Item tagging and categorization</a:t>
            </a:r>
          </a:p>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Budget code input</a:t>
            </a:r>
          </a:p>
          <a:p>
            <a:pPr marL="285750" indent="-285750">
              <a:lnSpc>
                <a:spcPct val="150000"/>
              </a:lnSpc>
              <a:buFont typeface="Wingdings" panose="05000000000000000000" pitchFamily="2" charset="2"/>
              <a:buChar char="§"/>
            </a:pPr>
            <a:r>
              <a:rPr lang="en-US" sz="1400" dirty="0">
                <a:solidFill>
                  <a:schemeClr val="bg1"/>
                </a:solidFill>
                <a:latin typeface="D2L Sans" panose="00000500000000000000" pitchFamily="50" charset="0"/>
              </a:rPr>
              <a:t>User-friendly UI</a:t>
            </a:r>
          </a:p>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Salesforce &amp; Marketo integration</a:t>
            </a:r>
          </a:p>
        </p:txBody>
      </p:sp>
      <p:sp>
        <p:nvSpPr>
          <p:cNvPr id="1068" name="TextBox 1067">
            <a:extLst>
              <a:ext uri="{FF2B5EF4-FFF2-40B4-BE49-F238E27FC236}">
                <a16:creationId xmlns:a16="http://schemas.microsoft.com/office/drawing/2014/main" id="{D67CB1A7-2B59-4C1B-3DB5-5E967AD72A0F}"/>
              </a:ext>
            </a:extLst>
          </p:cNvPr>
          <p:cNvSpPr txBox="1"/>
          <p:nvPr/>
        </p:nvSpPr>
        <p:spPr>
          <a:xfrm>
            <a:off x="756676" y="2618226"/>
            <a:ext cx="3635215" cy="1912062"/>
          </a:xfrm>
          <a:prstGeom prst="rect">
            <a:avLst/>
          </a:prstGeom>
          <a:noFill/>
        </p:spPr>
        <p:txBody>
          <a:bodyPr wrap="square" lIns="0" tIns="0" rIns="0" bIns="0" rtlCol="0">
            <a:spAutoFit/>
          </a:bodyPr>
          <a:lstStyle/>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Detailed monthly reports of: financials, budget code, purchaser, billed management fee and inventory</a:t>
            </a:r>
          </a:p>
          <a:p>
            <a:pPr marL="285750" indent="-285750">
              <a:lnSpc>
                <a:spcPct val="150000"/>
              </a:lnSpc>
              <a:buFont typeface="Wingdings" panose="05000000000000000000" pitchFamily="2" charset="2"/>
              <a:buChar char="§"/>
            </a:pPr>
            <a:r>
              <a:rPr lang="en-US" sz="1400" dirty="0">
                <a:solidFill>
                  <a:schemeClr val="bg1"/>
                </a:solidFill>
                <a:latin typeface="D2L Sans" panose="00000500000000000000" pitchFamily="50" charset="0"/>
              </a:rPr>
              <a:t>Flag damaged items</a:t>
            </a:r>
          </a:p>
          <a:p>
            <a:pPr marL="285750" indent="-285750">
              <a:lnSpc>
                <a:spcPct val="150000"/>
              </a:lnSpc>
              <a:buFont typeface="Wingdings" panose="05000000000000000000" pitchFamily="2" charset="2"/>
              <a:buChar char="§"/>
            </a:pPr>
            <a:r>
              <a:rPr lang="en-US" sz="1400" dirty="0">
                <a:solidFill>
                  <a:schemeClr val="bg1"/>
                </a:solidFill>
                <a:latin typeface="D2L Sans" panose="00000500000000000000" pitchFamily="50" charset="0"/>
              </a:rPr>
              <a:t>Notify for replacements</a:t>
            </a:r>
          </a:p>
          <a:p>
            <a:pPr marL="285750" indent="-285750">
              <a:lnSpc>
                <a:spcPct val="150000"/>
              </a:lnSpc>
              <a:buFont typeface="Wingdings" panose="05000000000000000000" pitchFamily="2" charset="2"/>
              <a:buChar char="§"/>
            </a:pPr>
            <a:r>
              <a:rPr lang="en-US" sz="1400" dirty="0">
                <a:solidFill>
                  <a:schemeClr val="bg1"/>
                </a:solidFill>
                <a:latin typeface="D2L Sans" panose="00000500000000000000" pitchFamily="50" charset="0"/>
              </a:rPr>
              <a:t>Low inventory alerts</a:t>
            </a:r>
          </a:p>
        </p:txBody>
      </p:sp>
      <p:sp>
        <p:nvSpPr>
          <p:cNvPr id="1069" name="TextBox 1068">
            <a:extLst>
              <a:ext uri="{FF2B5EF4-FFF2-40B4-BE49-F238E27FC236}">
                <a16:creationId xmlns:a16="http://schemas.microsoft.com/office/drawing/2014/main" id="{014E80E5-A834-E68B-3F62-421734268054}"/>
              </a:ext>
            </a:extLst>
          </p:cNvPr>
          <p:cNvSpPr txBox="1"/>
          <p:nvPr/>
        </p:nvSpPr>
        <p:spPr>
          <a:xfrm>
            <a:off x="756676" y="5219298"/>
            <a:ext cx="3489960" cy="942566"/>
          </a:xfrm>
          <a:prstGeom prst="rect">
            <a:avLst/>
          </a:prstGeom>
          <a:noFill/>
        </p:spPr>
        <p:txBody>
          <a:bodyPr wrap="square" lIns="0" tIns="0" rIns="0" bIns="0" rtlCol="0">
            <a:spAutoFit/>
          </a:bodyPr>
          <a:lstStyle/>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Dedicated POC – CSM</a:t>
            </a:r>
          </a:p>
          <a:p>
            <a:pPr marL="285750" indent="-285750">
              <a:lnSpc>
                <a:spcPct val="150000"/>
              </a:lnSpc>
              <a:buFont typeface="Wingdings" panose="05000000000000000000" pitchFamily="2" charset="2"/>
              <a:buChar char="§"/>
            </a:pPr>
            <a:r>
              <a:rPr lang="en-US" sz="1400" dirty="0">
                <a:solidFill>
                  <a:schemeClr val="bg1"/>
                </a:solidFill>
                <a:latin typeface="D2L Sans" panose="00000500000000000000" pitchFamily="50" charset="0"/>
              </a:rPr>
              <a:t>Live chat support</a:t>
            </a:r>
            <a:endParaRPr lang="en-US" sz="1400" i="0" dirty="0">
              <a:solidFill>
                <a:schemeClr val="bg1"/>
              </a:solidFill>
              <a:effectLst/>
              <a:latin typeface="D2L Sans" panose="00000500000000000000" pitchFamily="50" charset="0"/>
            </a:endParaRPr>
          </a:p>
          <a:p>
            <a:pPr marL="742950" lvl="1" indent="-285750" algn="l">
              <a:lnSpc>
                <a:spcPct val="150000"/>
              </a:lnSpc>
              <a:buFont typeface="Wingdings" panose="05000000000000000000" pitchFamily="2" charset="2"/>
              <a:buChar char="§"/>
            </a:pPr>
            <a:endParaRPr lang="en-US" sz="1400" i="0" dirty="0">
              <a:solidFill>
                <a:schemeClr val="bg1"/>
              </a:solidFill>
              <a:effectLst/>
              <a:latin typeface="D2L Sans" panose="00000500000000000000" pitchFamily="50" charset="0"/>
            </a:endParaRPr>
          </a:p>
        </p:txBody>
      </p:sp>
      <p:sp>
        <p:nvSpPr>
          <p:cNvPr id="1070" name="TextBox 1069">
            <a:extLst>
              <a:ext uri="{FF2B5EF4-FFF2-40B4-BE49-F238E27FC236}">
                <a16:creationId xmlns:a16="http://schemas.microsoft.com/office/drawing/2014/main" id="{956343C7-7C50-A5A1-0A0D-748E41AC6EC6}"/>
              </a:ext>
            </a:extLst>
          </p:cNvPr>
          <p:cNvSpPr txBox="1"/>
          <p:nvPr/>
        </p:nvSpPr>
        <p:spPr>
          <a:xfrm>
            <a:off x="5146128" y="5868285"/>
            <a:ext cx="3489960" cy="296235"/>
          </a:xfrm>
          <a:prstGeom prst="rect">
            <a:avLst/>
          </a:prstGeom>
          <a:noFill/>
        </p:spPr>
        <p:txBody>
          <a:bodyPr wrap="square" lIns="0" tIns="0" rIns="0" bIns="0" rtlCol="0">
            <a:spAutoFit/>
          </a:bodyPr>
          <a:lstStyle/>
          <a:p>
            <a:pPr marL="285750" indent="-285750">
              <a:lnSpc>
                <a:spcPct val="150000"/>
              </a:lnSpc>
              <a:buFont typeface="Wingdings" panose="05000000000000000000" pitchFamily="2" charset="2"/>
              <a:buChar char="§"/>
            </a:pPr>
            <a:r>
              <a:rPr lang="en-US" sz="1400" i="0" dirty="0">
                <a:solidFill>
                  <a:schemeClr val="bg1"/>
                </a:solidFill>
                <a:effectLst/>
                <a:latin typeface="D2L Sans" panose="00000500000000000000" pitchFamily="50" charset="0"/>
              </a:rPr>
              <a:t>Sustainable practices</a:t>
            </a:r>
          </a:p>
        </p:txBody>
      </p:sp>
      <p:cxnSp>
        <p:nvCxnSpPr>
          <p:cNvPr id="1071" name="Straight Connector 1070">
            <a:extLst>
              <a:ext uri="{FF2B5EF4-FFF2-40B4-BE49-F238E27FC236}">
                <a16:creationId xmlns:a16="http://schemas.microsoft.com/office/drawing/2014/main" id="{5FC339F5-E9DE-DE21-06BC-71D2E6BBC73A}"/>
              </a:ext>
            </a:extLst>
          </p:cNvPr>
          <p:cNvCxnSpPr>
            <a:cxnSpLocks/>
          </p:cNvCxnSpPr>
          <p:nvPr/>
        </p:nvCxnSpPr>
        <p:spPr>
          <a:xfrm>
            <a:off x="787400" y="1017439"/>
            <a:ext cx="330778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73" name="Straight Connector 1072">
            <a:extLst>
              <a:ext uri="{FF2B5EF4-FFF2-40B4-BE49-F238E27FC236}">
                <a16:creationId xmlns:a16="http://schemas.microsoft.com/office/drawing/2014/main" id="{8615A94A-25D3-0836-B7AC-8D67E9D2B046}"/>
              </a:ext>
            </a:extLst>
          </p:cNvPr>
          <p:cNvCxnSpPr>
            <a:cxnSpLocks/>
          </p:cNvCxnSpPr>
          <p:nvPr/>
        </p:nvCxnSpPr>
        <p:spPr>
          <a:xfrm>
            <a:off x="5063303" y="1017439"/>
            <a:ext cx="2497430" cy="806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75" name="Straight Connector 1074">
            <a:extLst>
              <a:ext uri="{FF2B5EF4-FFF2-40B4-BE49-F238E27FC236}">
                <a16:creationId xmlns:a16="http://schemas.microsoft.com/office/drawing/2014/main" id="{765E8A73-73D3-171D-468C-68B5D49105BC}"/>
              </a:ext>
            </a:extLst>
          </p:cNvPr>
          <p:cNvCxnSpPr>
            <a:cxnSpLocks/>
          </p:cNvCxnSpPr>
          <p:nvPr/>
        </p:nvCxnSpPr>
        <p:spPr>
          <a:xfrm>
            <a:off x="5097979" y="2507991"/>
            <a:ext cx="158523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1D7FA808-7C97-B4B8-5CF6-7AEC6DA823C9}"/>
              </a:ext>
            </a:extLst>
          </p:cNvPr>
          <p:cNvCxnSpPr>
            <a:cxnSpLocks/>
          </p:cNvCxnSpPr>
          <p:nvPr/>
        </p:nvCxnSpPr>
        <p:spPr>
          <a:xfrm>
            <a:off x="749253" y="2507991"/>
            <a:ext cx="297767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82" name="Straight Connector 1081">
            <a:extLst>
              <a:ext uri="{FF2B5EF4-FFF2-40B4-BE49-F238E27FC236}">
                <a16:creationId xmlns:a16="http://schemas.microsoft.com/office/drawing/2014/main" id="{2F194840-42A6-F3DA-D3C6-EE9B734D2011}"/>
              </a:ext>
            </a:extLst>
          </p:cNvPr>
          <p:cNvCxnSpPr>
            <a:cxnSpLocks/>
          </p:cNvCxnSpPr>
          <p:nvPr/>
        </p:nvCxnSpPr>
        <p:spPr>
          <a:xfrm>
            <a:off x="5105250" y="5780082"/>
            <a:ext cx="189681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84" name="Straight Connector 1083">
            <a:extLst>
              <a:ext uri="{FF2B5EF4-FFF2-40B4-BE49-F238E27FC236}">
                <a16:creationId xmlns:a16="http://schemas.microsoft.com/office/drawing/2014/main" id="{353B42C4-CFF1-8831-E769-57B673DA834F}"/>
              </a:ext>
            </a:extLst>
          </p:cNvPr>
          <p:cNvCxnSpPr>
            <a:cxnSpLocks/>
          </p:cNvCxnSpPr>
          <p:nvPr/>
        </p:nvCxnSpPr>
        <p:spPr>
          <a:xfrm>
            <a:off x="787400" y="5171930"/>
            <a:ext cx="2614168"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87" name="Picture 1086" descr="A black check mark in a square&#10;&#10;Description automatically generated">
            <a:extLst>
              <a:ext uri="{FF2B5EF4-FFF2-40B4-BE49-F238E27FC236}">
                <a16:creationId xmlns:a16="http://schemas.microsoft.com/office/drawing/2014/main" id="{90B21E21-D0D2-2AD5-F7E3-FFD2DFF3E6C7}"/>
              </a:ext>
            </a:extLst>
          </p:cNvPr>
          <p:cNvPicPr>
            <a:picLocks noChangeAspect="1"/>
          </p:cNvPicPr>
          <p:nvPr/>
        </p:nvPicPr>
        <p:blipFill>
          <a:blip r:embed="rId3"/>
          <a:stretch>
            <a:fillRect/>
          </a:stretch>
        </p:blipFill>
        <p:spPr>
          <a:xfrm>
            <a:off x="430565" y="659687"/>
            <a:ext cx="241092" cy="226823"/>
          </a:xfrm>
          <a:prstGeom prst="rect">
            <a:avLst/>
          </a:prstGeom>
        </p:spPr>
      </p:pic>
      <p:pic>
        <p:nvPicPr>
          <p:cNvPr id="1088" name="Picture 1087" descr="A black check mark in a square&#10;&#10;Description automatically generated">
            <a:extLst>
              <a:ext uri="{FF2B5EF4-FFF2-40B4-BE49-F238E27FC236}">
                <a16:creationId xmlns:a16="http://schemas.microsoft.com/office/drawing/2014/main" id="{056AB255-E02B-2416-3A24-F101D5EF0B2F}"/>
              </a:ext>
            </a:extLst>
          </p:cNvPr>
          <p:cNvPicPr>
            <a:picLocks noChangeAspect="1"/>
          </p:cNvPicPr>
          <p:nvPr/>
        </p:nvPicPr>
        <p:blipFill>
          <a:blip r:embed="rId3"/>
          <a:stretch>
            <a:fillRect/>
          </a:stretch>
        </p:blipFill>
        <p:spPr>
          <a:xfrm>
            <a:off x="430565" y="2133154"/>
            <a:ext cx="241092" cy="226823"/>
          </a:xfrm>
          <a:prstGeom prst="rect">
            <a:avLst/>
          </a:prstGeom>
        </p:spPr>
      </p:pic>
      <p:pic>
        <p:nvPicPr>
          <p:cNvPr id="1089" name="Picture 1088" descr="A black check mark in a square&#10;&#10;Description automatically generated">
            <a:extLst>
              <a:ext uri="{FF2B5EF4-FFF2-40B4-BE49-F238E27FC236}">
                <a16:creationId xmlns:a16="http://schemas.microsoft.com/office/drawing/2014/main" id="{9CBC470B-AB68-1AC2-ADF2-6C061848630E}"/>
              </a:ext>
            </a:extLst>
          </p:cNvPr>
          <p:cNvPicPr>
            <a:picLocks noChangeAspect="1"/>
          </p:cNvPicPr>
          <p:nvPr/>
        </p:nvPicPr>
        <p:blipFill>
          <a:blip r:embed="rId3"/>
          <a:stretch>
            <a:fillRect/>
          </a:stretch>
        </p:blipFill>
        <p:spPr>
          <a:xfrm>
            <a:off x="428695" y="4791969"/>
            <a:ext cx="241092" cy="226823"/>
          </a:xfrm>
          <a:prstGeom prst="rect">
            <a:avLst/>
          </a:prstGeom>
        </p:spPr>
      </p:pic>
      <p:pic>
        <p:nvPicPr>
          <p:cNvPr id="1090" name="Picture 1089" descr="A black check mark in a square&#10;&#10;Description automatically generated">
            <a:extLst>
              <a:ext uri="{FF2B5EF4-FFF2-40B4-BE49-F238E27FC236}">
                <a16:creationId xmlns:a16="http://schemas.microsoft.com/office/drawing/2014/main" id="{622F7204-12E4-D5B4-0FF7-AD4CBF2EABA2}"/>
              </a:ext>
            </a:extLst>
          </p:cNvPr>
          <p:cNvPicPr>
            <a:picLocks noChangeAspect="1"/>
          </p:cNvPicPr>
          <p:nvPr/>
        </p:nvPicPr>
        <p:blipFill>
          <a:blip r:embed="rId3"/>
          <a:stretch>
            <a:fillRect/>
          </a:stretch>
        </p:blipFill>
        <p:spPr>
          <a:xfrm>
            <a:off x="4694886" y="670915"/>
            <a:ext cx="241092" cy="226823"/>
          </a:xfrm>
          <a:prstGeom prst="rect">
            <a:avLst/>
          </a:prstGeom>
        </p:spPr>
      </p:pic>
      <p:pic>
        <p:nvPicPr>
          <p:cNvPr id="1091" name="Picture 1090" descr="A black check mark in a square&#10;&#10;Description automatically generated">
            <a:extLst>
              <a:ext uri="{FF2B5EF4-FFF2-40B4-BE49-F238E27FC236}">
                <a16:creationId xmlns:a16="http://schemas.microsoft.com/office/drawing/2014/main" id="{709C5472-EF4D-132E-7997-B14779566FCB}"/>
              </a:ext>
            </a:extLst>
          </p:cNvPr>
          <p:cNvPicPr>
            <a:picLocks noChangeAspect="1"/>
          </p:cNvPicPr>
          <p:nvPr/>
        </p:nvPicPr>
        <p:blipFill>
          <a:blip r:embed="rId3"/>
          <a:stretch>
            <a:fillRect/>
          </a:stretch>
        </p:blipFill>
        <p:spPr>
          <a:xfrm>
            <a:off x="4698316" y="2159802"/>
            <a:ext cx="241092" cy="226823"/>
          </a:xfrm>
          <a:prstGeom prst="rect">
            <a:avLst/>
          </a:prstGeom>
        </p:spPr>
      </p:pic>
      <p:pic>
        <p:nvPicPr>
          <p:cNvPr id="1092" name="Picture 1091" descr="A black check mark in a square&#10;&#10;Description automatically generated">
            <a:extLst>
              <a:ext uri="{FF2B5EF4-FFF2-40B4-BE49-F238E27FC236}">
                <a16:creationId xmlns:a16="http://schemas.microsoft.com/office/drawing/2014/main" id="{66A9CC65-AB2F-898B-64C4-8B386FB96F67}"/>
              </a:ext>
            </a:extLst>
          </p:cNvPr>
          <p:cNvPicPr>
            <a:picLocks noChangeAspect="1"/>
          </p:cNvPicPr>
          <p:nvPr/>
        </p:nvPicPr>
        <p:blipFill>
          <a:blip r:embed="rId3"/>
          <a:stretch>
            <a:fillRect/>
          </a:stretch>
        </p:blipFill>
        <p:spPr>
          <a:xfrm>
            <a:off x="4752740" y="5432972"/>
            <a:ext cx="241092" cy="226823"/>
          </a:xfrm>
          <a:prstGeom prst="rect">
            <a:avLst/>
          </a:prstGeom>
        </p:spPr>
      </p:pic>
    </p:spTree>
    <p:extLst>
      <p:ext uri="{BB962C8B-B14F-4D97-AF65-F5344CB8AC3E}">
        <p14:creationId xmlns:p14="http://schemas.microsoft.com/office/powerpoint/2010/main" val="357078956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58"/>
                                        </p:tgtEl>
                                        <p:attrNameLst>
                                          <p:attrName>style.visibility</p:attrName>
                                        </p:attrNameLst>
                                      </p:cBhvr>
                                      <p:to>
                                        <p:strVal val="visible"/>
                                      </p:to>
                                    </p:set>
                                    <p:animEffect transition="in" filter="fade">
                                      <p:cBhvr>
                                        <p:cTn id="12" dur="1000"/>
                                        <p:tgtEl>
                                          <p:spTgt spid="1058"/>
                                        </p:tgtEl>
                                      </p:cBhvr>
                                    </p:animEffect>
                                    <p:anim calcmode="lin" valueType="num">
                                      <p:cBhvr>
                                        <p:cTn id="13" dur="1000" fill="hold"/>
                                        <p:tgtEl>
                                          <p:spTgt spid="1058"/>
                                        </p:tgtEl>
                                        <p:attrNameLst>
                                          <p:attrName>ppt_x</p:attrName>
                                        </p:attrNameLst>
                                      </p:cBhvr>
                                      <p:tavLst>
                                        <p:tav tm="0">
                                          <p:val>
                                            <p:strVal val="#ppt_x"/>
                                          </p:val>
                                        </p:tav>
                                        <p:tav tm="100000">
                                          <p:val>
                                            <p:strVal val="#ppt_x"/>
                                          </p:val>
                                        </p:tav>
                                      </p:tavLst>
                                    </p:anim>
                                    <p:anim calcmode="lin" valueType="num">
                                      <p:cBhvr>
                                        <p:cTn id="14" dur="1000" fill="hold"/>
                                        <p:tgtEl>
                                          <p:spTgt spid="105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59"/>
                                        </p:tgtEl>
                                        <p:attrNameLst>
                                          <p:attrName>style.visibility</p:attrName>
                                        </p:attrNameLst>
                                      </p:cBhvr>
                                      <p:to>
                                        <p:strVal val="visible"/>
                                      </p:to>
                                    </p:set>
                                    <p:animEffect transition="in" filter="fade">
                                      <p:cBhvr>
                                        <p:cTn id="17" dur="1000"/>
                                        <p:tgtEl>
                                          <p:spTgt spid="1059"/>
                                        </p:tgtEl>
                                      </p:cBhvr>
                                    </p:animEffect>
                                    <p:anim calcmode="lin" valueType="num">
                                      <p:cBhvr>
                                        <p:cTn id="18" dur="1000" fill="hold"/>
                                        <p:tgtEl>
                                          <p:spTgt spid="1059"/>
                                        </p:tgtEl>
                                        <p:attrNameLst>
                                          <p:attrName>ppt_x</p:attrName>
                                        </p:attrNameLst>
                                      </p:cBhvr>
                                      <p:tavLst>
                                        <p:tav tm="0">
                                          <p:val>
                                            <p:strVal val="#ppt_x"/>
                                          </p:val>
                                        </p:tav>
                                        <p:tav tm="100000">
                                          <p:val>
                                            <p:strVal val="#ppt_x"/>
                                          </p:val>
                                        </p:tav>
                                      </p:tavLst>
                                    </p:anim>
                                    <p:anim calcmode="lin" valueType="num">
                                      <p:cBhvr>
                                        <p:cTn id="19" dur="1000" fill="hold"/>
                                        <p:tgtEl>
                                          <p:spTgt spid="105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60"/>
                                        </p:tgtEl>
                                        <p:attrNameLst>
                                          <p:attrName>style.visibility</p:attrName>
                                        </p:attrNameLst>
                                      </p:cBhvr>
                                      <p:to>
                                        <p:strVal val="visible"/>
                                      </p:to>
                                    </p:set>
                                    <p:animEffect transition="in" filter="fade">
                                      <p:cBhvr>
                                        <p:cTn id="22" dur="1000"/>
                                        <p:tgtEl>
                                          <p:spTgt spid="1060"/>
                                        </p:tgtEl>
                                      </p:cBhvr>
                                    </p:animEffect>
                                    <p:anim calcmode="lin" valueType="num">
                                      <p:cBhvr>
                                        <p:cTn id="23" dur="1000" fill="hold"/>
                                        <p:tgtEl>
                                          <p:spTgt spid="1060"/>
                                        </p:tgtEl>
                                        <p:attrNameLst>
                                          <p:attrName>ppt_x</p:attrName>
                                        </p:attrNameLst>
                                      </p:cBhvr>
                                      <p:tavLst>
                                        <p:tav tm="0">
                                          <p:val>
                                            <p:strVal val="#ppt_x"/>
                                          </p:val>
                                        </p:tav>
                                        <p:tav tm="100000">
                                          <p:val>
                                            <p:strVal val="#ppt_x"/>
                                          </p:val>
                                        </p:tav>
                                      </p:tavLst>
                                    </p:anim>
                                    <p:anim calcmode="lin" valueType="num">
                                      <p:cBhvr>
                                        <p:cTn id="24" dur="1000" fill="hold"/>
                                        <p:tgtEl>
                                          <p:spTgt spid="106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61"/>
                                        </p:tgtEl>
                                        <p:attrNameLst>
                                          <p:attrName>style.visibility</p:attrName>
                                        </p:attrNameLst>
                                      </p:cBhvr>
                                      <p:to>
                                        <p:strVal val="visible"/>
                                      </p:to>
                                    </p:set>
                                    <p:animEffect transition="in" filter="fade">
                                      <p:cBhvr>
                                        <p:cTn id="27" dur="1000"/>
                                        <p:tgtEl>
                                          <p:spTgt spid="1061"/>
                                        </p:tgtEl>
                                      </p:cBhvr>
                                    </p:animEffect>
                                    <p:anim calcmode="lin" valueType="num">
                                      <p:cBhvr>
                                        <p:cTn id="28" dur="1000" fill="hold"/>
                                        <p:tgtEl>
                                          <p:spTgt spid="1061"/>
                                        </p:tgtEl>
                                        <p:attrNameLst>
                                          <p:attrName>ppt_x</p:attrName>
                                        </p:attrNameLst>
                                      </p:cBhvr>
                                      <p:tavLst>
                                        <p:tav tm="0">
                                          <p:val>
                                            <p:strVal val="#ppt_x"/>
                                          </p:val>
                                        </p:tav>
                                        <p:tav tm="100000">
                                          <p:val>
                                            <p:strVal val="#ppt_x"/>
                                          </p:val>
                                        </p:tav>
                                      </p:tavLst>
                                    </p:anim>
                                    <p:anim calcmode="lin" valueType="num">
                                      <p:cBhvr>
                                        <p:cTn id="29" dur="1000" fill="hold"/>
                                        <p:tgtEl>
                                          <p:spTgt spid="106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62"/>
                                        </p:tgtEl>
                                        <p:attrNameLst>
                                          <p:attrName>style.visibility</p:attrName>
                                        </p:attrNameLst>
                                      </p:cBhvr>
                                      <p:to>
                                        <p:strVal val="visible"/>
                                      </p:to>
                                    </p:set>
                                    <p:animEffect transition="in" filter="fade">
                                      <p:cBhvr>
                                        <p:cTn id="32" dur="1000"/>
                                        <p:tgtEl>
                                          <p:spTgt spid="1062"/>
                                        </p:tgtEl>
                                      </p:cBhvr>
                                    </p:animEffect>
                                    <p:anim calcmode="lin" valueType="num">
                                      <p:cBhvr>
                                        <p:cTn id="33" dur="1000" fill="hold"/>
                                        <p:tgtEl>
                                          <p:spTgt spid="1062"/>
                                        </p:tgtEl>
                                        <p:attrNameLst>
                                          <p:attrName>ppt_x</p:attrName>
                                        </p:attrNameLst>
                                      </p:cBhvr>
                                      <p:tavLst>
                                        <p:tav tm="0">
                                          <p:val>
                                            <p:strVal val="#ppt_x"/>
                                          </p:val>
                                        </p:tav>
                                        <p:tav tm="100000">
                                          <p:val>
                                            <p:strVal val="#ppt_x"/>
                                          </p:val>
                                        </p:tav>
                                      </p:tavLst>
                                    </p:anim>
                                    <p:anim calcmode="lin" valueType="num">
                                      <p:cBhvr>
                                        <p:cTn id="34" dur="1000" fill="hold"/>
                                        <p:tgtEl>
                                          <p:spTgt spid="106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63"/>
                                        </p:tgtEl>
                                        <p:attrNameLst>
                                          <p:attrName>style.visibility</p:attrName>
                                        </p:attrNameLst>
                                      </p:cBhvr>
                                      <p:to>
                                        <p:strVal val="visible"/>
                                      </p:to>
                                    </p:set>
                                    <p:animEffect transition="in" filter="fade">
                                      <p:cBhvr>
                                        <p:cTn id="37" dur="1000"/>
                                        <p:tgtEl>
                                          <p:spTgt spid="1063"/>
                                        </p:tgtEl>
                                      </p:cBhvr>
                                    </p:animEffect>
                                    <p:anim calcmode="lin" valueType="num">
                                      <p:cBhvr>
                                        <p:cTn id="38" dur="1000" fill="hold"/>
                                        <p:tgtEl>
                                          <p:spTgt spid="1063"/>
                                        </p:tgtEl>
                                        <p:attrNameLst>
                                          <p:attrName>ppt_x</p:attrName>
                                        </p:attrNameLst>
                                      </p:cBhvr>
                                      <p:tavLst>
                                        <p:tav tm="0">
                                          <p:val>
                                            <p:strVal val="#ppt_x"/>
                                          </p:val>
                                        </p:tav>
                                        <p:tav tm="100000">
                                          <p:val>
                                            <p:strVal val="#ppt_x"/>
                                          </p:val>
                                        </p:tav>
                                      </p:tavLst>
                                    </p:anim>
                                    <p:anim calcmode="lin" valueType="num">
                                      <p:cBhvr>
                                        <p:cTn id="39" dur="1000" fill="hold"/>
                                        <p:tgtEl>
                                          <p:spTgt spid="106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064"/>
                                        </p:tgtEl>
                                        <p:attrNameLst>
                                          <p:attrName>style.visibility</p:attrName>
                                        </p:attrNameLst>
                                      </p:cBhvr>
                                      <p:to>
                                        <p:strVal val="visible"/>
                                      </p:to>
                                    </p:set>
                                    <p:animEffect transition="in" filter="fade">
                                      <p:cBhvr>
                                        <p:cTn id="42" dur="1000"/>
                                        <p:tgtEl>
                                          <p:spTgt spid="1064"/>
                                        </p:tgtEl>
                                      </p:cBhvr>
                                    </p:animEffect>
                                    <p:anim calcmode="lin" valueType="num">
                                      <p:cBhvr>
                                        <p:cTn id="43" dur="1000" fill="hold"/>
                                        <p:tgtEl>
                                          <p:spTgt spid="1064"/>
                                        </p:tgtEl>
                                        <p:attrNameLst>
                                          <p:attrName>ppt_x</p:attrName>
                                        </p:attrNameLst>
                                      </p:cBhvr>
                                      <p:tavLst>
                                        <p:tav tm="0">
                                          <p:val>
                                            <p:strVal val="#ppt_x"/>
                                          </p:val>
                                        </p:tav>
                                        <p:tav tm="100000">
                                          <p:val>
                                            <p:strVal val="#ppt_x"/>
                                          </p:val>
                                        </p:tav>
                                      </p:tavLst>
                                    </p:anim>
                                    <p:anim calcmode="lin" valueType="num">
                                      <p:cBhvr>
                                        <p:cTn id="44" dur="1000" fill="hold"/>
                                        <p:tgtEl>
                                          <p:spTgt spid="106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066"/>
                                        </p:tgtEl>
                                        <p:attrNameLst>
                                          <p:attrName>style.visibility</p:attrName>
                                        </p:attrNameLst>
                                      </p:cBhvr>
                                      <p:to>
                                        <p:strVal val="visible"/>
                                      </p:to>
                                    </p:set>
                                    <p:animEffect transition="in" filter="fade">
                                      <p:cBhvr>
                                        <p:cTn id="47" dur="1000"/>
                                        <p:tgtEl>
                                          <p:spTgt spid="1066"/>
                                        </p:tgtEl>
                                      </p:cBhvr>
                                    </p:animEffect>
                                    <p:anim calcmode="lin" valueType="num">
                                      <p:cBhvr>
                                        <p:cTn id="48" dur="1000" fill="hold"/>
                                        <p:tgtEl>
                                          <p:spTgt spid="1066"/>
                                        </p:tgtEl>
                                        <p:attrNameLst>
                                          <p:attrName>ppt_x</p:attrName>
                                        </p:attrNameLst>
                                      </p:cBhvr>
                                      <p:tavLst>
                                        <p:tav tm="0">
                                          <p:val>
                                            <p:strVal val="#ppt_x"/>
                                          </p:val>
                                        </p:tav>
                                        <p:tav tm="100000">
                                          <p:val>
                                            <p:strVal val="#ppt_x"/>
                                          </p:val>
                                        </p:tav>
                                      </p:tavLst>
                                    </p:anim>
                                    <p:anim calcmode="lin" valueType="num">
                                      <p:cBhvr>
                                        <p:cTn id="49" dur="1000" fill="hold"/>
                                        <p:tgtEl>
                                          <p:spTgt spid="106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067"/>
                                        </p:tgtEl>
                                        <p:attrNameLst>
                                          <p:attrName>style.visibility</p:attrName>
                                        </p:attrNameLst>
                                      </p:cBhvr>
                                      <p:to>
                                        <p:strVal val="visible"/>
                                      </p:to>
                                    </p:set>
                                    <p:animEffect transition="in" filter="fade">
                                      <p:cBhvr>
                                        <p:cTn id="52" dur="1000"/>
                                        <p:tgtEl>
                                          <p:spTgt spid="1067"/>
                                        </p:tgtEl>
                                      </p:cBhvr>
                                    </p:animEffect>
                                    <p:anim calcmode="lin" valueType="num">
                                      <p:cBhvr>
                                        <p:cTn id="53" dur="1000" fill="hold"/>
                                        <p:tgtEl>
                                          <p:spTgt spid="1067"/>
                                        </p:tgtEl>
                                        <p:attrNameLst>
                                          <p:attrName>ppt_x</p:attrName>
                                        </p:attrNameLst>
                                      </p:cBhvr>
                                      <p:tavLst>
                                        <p:tav tm="0">
                                          <p:val>
                                            <p:strVal val="#ppt_x"/>
                                          </p:val>
                                        </p:tav>
                                        <p:tav tm="100000">
                                          <p:val>
                                            <p:strVal val="#ppt_x"/>
                                          </p:val>
                                        </p:tav>
                                      </p:tavLst>
                                    </p:anim>
                                    <p:anim calcmode="lin" valueType="num">
                                      <p:cBhvr>
                                        <p:cTn id="54" dur="1000" fill="hold"/>
                                        <p:tgtEl>
                                          <p:spTgt spid="1067"/>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068"/>
                                        </p:tgtEl>
                                        <p:attrNameLst>
                                          <p:attrName>style.visibility</p:attrName>
                                        </p:attrNameLst>
                                      </p:cBhvr>
                                      <p:to>
                                        <p:strVal val="visible"/>
                                      </p:to>
                                    </p:set>
                                    <p:animEffect transition="in" filter="fade">
                                      <p:cBhvr>
                                        <p:cTn id="57" dur="1000"/>
                                        <p:tgtEl>
                                          <p:spTgt spid="1068"/>
                                        </p:tgtEl>
                                      </p:cBhvr>
                                    </p:animEffect>
                                    <p:anim calcmode="lin" valueType="num">
                                      <p:cBhvr>
                                        <p:cTn id="58" dur="1000" fill="hold"/>
                                        <p:tgtEl>
                                          <p:spTgt spid="1068"/>
                                        </p:tgtEl>
                                        <p:attrNameLst>
                                          <p:attrName>ppt_x</p:attrName>
                                        </p:attrNameLst>
                                      </p:cBhvr>
                                      <p:tavLst>
                                        <p:tav tm="0">
                                          <p:val>
                                            <p:strVal val="#ppt_x"/>
                                          </p:val>
                                        </p:tav>
                                        <p:tav tm="100000">
                                          <p:val>
                                            <p:strVal val="#ppt_x"/>
                                          </p:val>
                                        </p:tav>
                                      </p:tavLst>
                                    </p:anim>
                                    <p:anim calcmode="lin" valueType="num">
                                      <p:cBhvr>
                                        <p:cTn id="59" dur="1000" fill="hold"/>
                                        <p:tgtEl>
                                          <p:spTgt spid="106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69"/>
                                        </p:tgtEl>
                                        <p:attrNameLst>
                                          <p:attrName>style.visibility</p:attrName>
                                        </p:attrNameLst>
                                      </p:cBhvr>
                                      <p:to>
                                        <p:strVal val="visible"/>
                                      </p:to>
                                    </p:set>
                                    <p:animEffect transition="in" filter="fade">
                                      <p:cBhvr>
                                        <p:cTn id="62" dur="1000"/>
                                        <p:tgtEl>
                                          <p:spTgt spid="1069"/>
                                        </p:tgtEl>
                                      </p:cBhvr>
                                    </p:animEffect>
                                    <p:anim calcmode="lin" valueType="num">
                                      <p:cBhvr>
                                        <p:cTn id="63" dur="1000" fill="hold"/>
                                        <p:tgtEl>
                                          <p:spTgt spid="1069"/>
                                        </p:tgtEl>
                                        <p:attrNameLst>
                                          <p:attrName>ppt_x</p:attrName>
                                        </p:attrNameLst>
                                      </p:cBhvr>
                                      <p:tavLst>
                                        <p:tav tm="0">
                                          <p:val>
                                            <p:strVal val="#ppt_x"/>
                                          </p:val>
                                        </p:tav>
                                        <p:tav tm="100000">
                                          <p:val>
                                            <p:strVal val="#ppt_x"/>
                                          </p:val>
                                        </p:tav>
                                      </p:tavLst>
                                    </p:anim>
                                    <p:anim calcmode="lin" valueType="num">
                                      <p:cBhvr>
                                        <p:cTn id="64" dur="1000" fill="hold"/>
                                        <p:tgtEl>
                                          <p:spTgt spid="1069"/>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070"/>
                                        </p:tgtEl>
                                        <p:attrNameLst>
                                          <p:attrName>style.visibility</p:attrName>
                                        </p:attrNameLst>
                                      </p:cBhvr>
                                      <p:to>
                                        <p:strVal val="visible"/>
                                      </p:to>
                                    </p:set>
                                    <p:animEffect transition="in" filter="fade">
                                      <p:cBhvr>
                                        <p:cTn id="67" dur="1000"/>
                                        <p:tgtEl>
                                          <p:spTgt spid="1070"/>
                                        </p:tgtEl>
                                      </p:cBhvr>
                                    </p:animEffect>
                                    <p:anim calcmode="lin" valueType="num">
                                      <p:cBhvr>
                                        <p:cTn id="68" dur="1000" fill="hold"/>
                                        <p:tgtEl>
                                          <p:spTgt spid="1070"/>
                                        </p:tgtEl>
                                        <p:attrNameLst>
                                          <p:attrName>ppt_x</p:attrName>
                                        </p:attrNameLst>
                                      </p:cBhvr>
                                      <p:tavLst>
                                        <p:tav tm="0">
                                          <p:val>
                                            <p:strVal val="#ppt_x"/>
                                          </p:val>
                                        </p:tav>
                                        <p:tav tm="100000">
                                          <p:val>
                                            <p:strVal val="#ppt_x"/>
                                          </p:val>
                                        </p:tav>
                                      </p:tavLst>
                                    </p:anim>
                                    <p:anim calcmode="lin" valueType="num">
                                      <p:cBhvr>
                                        <p:cTn id="69" dur="1000" fill="hold"/>
                                        <p:tgtEl>
                                          <p:spTgt spid="1070"/>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1071"/>
                                        </p:tgtEl>
                                        <p:attrNameLst>
                                          <p:attrName>style.visibility</p:attrName>
                                        </p:attrNameLst>
                                      </p:cBhvr>
                                      <p:to>
                                        <p:strVal val="visible"/>
                                      </p:to>
                                    </p:set>
                                    <p:animEffect transition="in" filter="fade">
                                      <p:cBhvr>
                                        <p:cTn id="72" dur="1000"/>
                                        <p:tgtEl>
                                          <p:spTgt spid="1071"/>
                                        </p:tgtEl>
                                      </p:cBhvr>
                                    </p:animEffect>
                                    <p:anim calcmode="lin" valueType="num">
                                      <p:cBhvr>
                                        <p:cTn id="73" dur="1000" fill="hold"/>
                                        <p:tgtEl>
                                          <p:spTgt spid="1071"/>
                                        </p:tgtEl>
                                        <p:attrNameLst>
                                          <p:attrName>ppt_x</p:attrName>
                                        </p:attrNameLst>
                                      </p:cBhvr>
                                      <p:tavLst>
                                        <p:tav tm="0">
                                          <p:val>
                                            <p:strVal val="#ppt_x"/>
                                          </p:val>
                                        </p:tav>
                                        <p:tav tm="100000">
                                          <p:val>
                                            <p:strVal val="#ppt_x"/>
                                          </p:val>
                                        </p:tav>
                                      </p:tavLst>
                                    </p:anim>
                                    <p:anim calcmode="lin" valueType="num">
                                      <p:cBhvr>
                                        <p:cTn id="74" dur="1000" fill="hold"/>
                                        <p:tgtEl>
                                          <p:spTgt spid="1071"/>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1073"/>
                                        </p:tgtEl>
                                        <p:attrNameLst>
                                          <p:attrName>style.visibility</p:attrName>
                                        </p:attrNameLst>
                                      </p:cBhvr>
                                      <p:to>
                                        <p:strVal val="visible"/>
                                      </p:to>
                                    </p:set>
                                    <p:animEffect transition="in" filter="fade">
                                      <p:cBhvr>
                                        <p:cTn id="77" dur="1000"/>
                                        <p:tgtEl>
                                          <p:spTgt spid="1073"/>
                                        </p:tgtEl>
                                      </p:cBhvr>
                                    </p:animEffect>
                                    <p:anim calcmode="lin" valueType="num">
                                      <p:cBhvr>
                                        <p:cTn id="78" dur="1000" fill="hold"/>
                                        <p:tgtEl>
                                          <p:spTgt spid="1073"/>
                                        </p:tgtEl>
                                        <p:attrNameLst>
                                          <p:attrName>ppt_x</p:attrName>
                                        </p:attrNameLst>
                                      </p:cBhvr>
                                      <p:tavLst>
                                        <p:tav tm="0">
                                          <p:val>
                                            <p:strVal val="#ppt_x"/>
                                          </p:val>
                                        </p:tav>
                                        <p:tav tm="100000">
                                          <p:val>
                                            <p:strVal val="#ppt_x"/>
                                          </p:val>
                                        </p:tav>
                                      </p:tavLst>
                                    </p:anim>
                                    <p:anim calcmode="lin" valueType="num">
                                      <p:cBhvr>
                                        <p:cTn id="79" dur="1000" fill="hold"/>
                                        <p:tgtEl>
                                          <p:spTgt spid="1073"/>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1075"/>
                                        </p:tgtEl>
                                        <p:attrNameLst>
                                          <p:attrName>style.visibility</p:attrName>
                                        </p:attrNameLst>
                                      </p:cBhvr>
                                      <p:to>
                                        <p:strVal val="visible"/>
                                      </p:to>
                                    </p:set>
                                    <p:animEffect transition="in" filter="fade">
                                      <p:cBhvr>
                                        <p:cTn id="82" dur="1000"/>
                                        <p:tgtEl>
                                          <p:spTgt spid="1075"/>
                                        </p:tgtEl>
                                      </p:cBhvr>
                                    </p:animEffect>
                                    <p:anim calcmode="lin" valueType="num">
                                      <p:cBhvr>
                                        <p:cTn id="83" dur="1000" fill="hold"/>
                                        <p:tgtEl>
                                          <p:spTgt spid="1075"/>
                                        </p:tgtEl>
                                        <p:attrNameLst>
                                          <p:attrName>ppt_x</p:attrName>
                                        </p:attrNameLst>
                                      </p:cBhvr>
                                      <p:tavLst>
                                        <p:tav tm="0">
                                          <p:val>
                                            <p:strVal val="#ppt_x"/>
                                          </p:val>
                                        </p:tav>
                                        <p:tav tm="100000">
                                          <p:val>
                                            <p:strVal val="#ppt_x"/>
                                          </p:val>
                                        </p:tav>
                                      </p:tavLst>
                                    </p:anim>
                                    <p:anim calcmode="lin" valueType="num">
                                      <p:cBhvr>
                                        <p:cTn id="84" dur="1000" fill="hold"/>
                                        <p:tgtEl>
                                          <p:spTgt spid="1075"/>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1080"/>
                                        </p:tgtEl>
                                        <p:attrNameLst>
                                          <p:attrName>style.visibility</p:attrName>
                                        </p:attrNameLst>
                                      </p:cBhvr>
                                      <p:to>
                                        <p:strVal val="visible"/>
                                      </p:to>
                                    </p:set>
                                    <p:animEffect transition="in" filter="fade">
                                      <p:cBhvr>
                                        <p:cTn id="87" dur="1000"/>
                                        <p:tgtEl>
                                          <p:spTgt spid="1080"/>
                                        </p:tgtEl>
                                      </p:cBhvr>
                                    </p:animEffect>
                                    <p:anim calcmode="lin" valueType="num">
                                      <p:cBhvr>
                                        <p:cTn id="88" dur="1000" fill="hold"/>
                                        <p:tgtEl>
                                          <p:spTgt spid="1080"/>
                                        </p:tgtEl>
                                        <p:attrNameLst>
                                          <p:attrName>ppt_x</p:attrName>
                                        </p:attrNameLst>
                                      </p:cBhvr>
                                      <p:tavLst>
                                        <p:tav tm="0">
                                          <p:val>
                                            <p:strVal val="#ppt_x"/>
                                          </p:val>
                                        </p:tav>
                                        <p:tav tm="100000">
                                          <p:val>
                                            <p:strVal val="#ppt_x"/>
                                          </p:val>
                                        </p:tav>
                                      </p:tavLst>
                                    </p:anim>
                                    <p:anim calcmode="lin" valueType="num">
                                      <p:cBhvr>
                                        <p:cTn id="89" dur="1000" fill="hold"/>
                                        <p:tgtEl>
                                          <p:spTgt spid="1080"/>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1082"/>
                                        </p:tgtEl>
                                        <p:attrNameLst>
                                          <p:attrName>style.visibility</p:attrName>
                                        </p:attrNameLst>
                                      </p:cBhvr>
                                      <p:to>
                                        <p:strVal val="visible"/>
                                      </p:to>
                                    </p:set>
                                    <p:animEffect transition="in" filter="fade">
                                      <p:cBhvr>
                                        <p:cTn id="92" dur="1000"/>
                                        <p:tgtEl>
                                          <p:spTgt spid="1082"/>
                                        </p:tgtEl>
                                      </p:cBhvr>
                                    </p:animEffect>
                                    <p:anim calcmode="lin" valueType="num">
                                      <p:cBhvr>
                                        <p:cTn id="93" dur="1000" fill="hold"/>
                                        <p:tgtEl>
                                          <p:spTgt spid="1082"/>
                                        </p:tgtEl>
                                        <p:attrNameLst>
                                          <p:attrName>ppt_x</p:attrName>
                                        </p:attrNameLst>
                                      </p:cBhvr>
                                      <p:tavLst>
                                        <p:tav tm="0">
                                          <p:val>
                                            <p:strVal val="#ppt_x"/>
                                          </p:val>
                                        </p:tav>
                                        <p:tav tm="100000">
                                          <p:val>
                                            <p:strVal val="#ppt_x"/>
                                          </p:val>
                                        </p:tav>
                                      </p:tavLst>
                                    </p:anim>
                                    <p:anim calcmode="lin" valueType="num">
                                      <p:cBhvr>
                                        <p:cTn id="94" dur="1000" fill="hold"/>
                                        <p:tgtEl>
                                          <p:spTgt spid="1082"/>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1084"/>
                                        </p:tgtEl>
                                        <p:attrNameLst>
                                          <p:attrName>style.visibility</p:attrName>
                                        </p:attrNameLst>
                                      </p:cBhvr>
                                      <p:to>
                                        <p:strVal val="visible"/>
                                      </p:to>
                                    </p:set>
                                    <p:animEffect transition="in" filter="fade">
                                      <p:cBhvr>
                                        <p:cTn id="97" dur="1000"/>
                                        <p:tgtEl>
                                          <p:spTgt spid="1084"/>
                                        </p:tgtEl>
                                      </p:cBhvr>
                                    </p:animEffect>
                                    <p:anim calcmode="lin" valueType="num">
                                      <p:cBhvr>
                                        <p:cTn id="98" dur="1000" fill="hold"/>
                                        <p:tgtEl>
                                          <p:spTgt spid="1084"/>
                                        </p:tgtEl>
                                        <p:attrNameLst>
                                          <p:attrName>ppt_x</p:attrName>
                                        </p:attrNameLst>
                                      </p:cBhvr>
                                      <p:tavLst>
                                        <p:tav tm="0">
                                          <p:val>
                                            <p:strVal val="#ppt_x"/>
                                          </p:val>
                                        </p:tav>
                                        <p:tav tm="100000">
                                          <p:val>
                                            <p:strVal val="#ppt_x"/>
                                          </p:val>
                                        </p:tav>
                                      </p:tavLst>
                                    </p:anim>
                                    <p:anim calcmode="lin" valueType="num">
                                      <p:cBhvr>
                                        <p:cTn id="99" dur="1000" fill="hold"/>
                                        <p:tgtEl>
                                          <p:spTgt spid="1084"/>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nodeType="clickEffect">
                                  <p:stCondLst>
                                    <p:cond delay="0"/>
                                  </p:stCondLst>
                                  <p:childTnLst>
                                    <p:set>
                                      <p:cBhvr>
                                        <p:cTn id="103" dur="1" fill="hold">
                                          <p:stCondLst>
                                            <p:cond delay="0"/>
                                          </p:stCondLst>
                                        </p:cTn>
                                        <p:tgtEl>
                                          <p:spTgt spid="1087"/>
                                        </p:tgtEl>
                                        <p:attrNameLst>
                                          <p:attrName>style.visibility</p:attrName>
                                        </p:attrNameLst>
                                      </p:cBhvr>
                                      <p:to>
                                        <p:strVal val="visible"/>
                                      </p:to>
                                    </p:set>
                                    <p:anim calcmode="lin" valueType="num">
                                      <p:cBhvr>
                                        <p:cTn id="104" dur="500" fill="hold"/>
                                        <p:tgtEl>
                                          <p:spTgt spid="1087"/>
                                        </p:tgtEl>
                                        <p:attrNameLst>
                                          <p:attrName>ppt_w</p:attrName>
                                        </p:attrNameLst>
                                      </p:cBhvr>
                                      <p:tavLst>
                                        <p:tav tm="0">
                                          <p:val>
                                            <p:fltVal val="0"/>
                                          </p:val>
                                        </p:tav>
                                        <p:tav tm="100000">
                                          <p:val>
                                            <p:strVal val="#ppt_w"/>
                                          </p:val>
                                        </p:tav>
                                      </p:tavLst>
                                    </p:anim>
                                    <p:anim calcmode="lin" valueType="num">
                                      <p:cBhvr>
                                        <p:cTn id="105" dur="500" fill="hold"/>
                                        <p:tgtEl>
                                          <p:spTgt spid="1087"/>
                                        </p:tgtEl>
                                        <p:attrNameLst>
                                          <p:attrName>ppt_h</p:attrName>
                                        </p:attrNameLst>
                                      </p:cBhvr>
                                      <p:tavLst>
                                        <p:tav tm="0">
                                          <p:val>
                                            <p:fltVal val="0"/>
                                          </p:val>
                                        </p:tav>
                                        <p:tav tm="100000">
                                          <p:val>
                                            <p:strVal val="#ppt_h"/>
                                          </p:val>
                                        </p:tav>
                                      </p:tavLst>
                                    </p:anim>
                                    <p:animEffect transition="in" filter="fade">
                                      <p:cBhvr>
                                        <p:cTn id="106" dur="500"/>
                                        <p:tgtEl>
                                          <p:spTgt spid="1087"/>
                                        </p:tgtEl>
                                      </p:cBhvr>
                                    </p:animEffect>
                                  </p:childTnLst>
                                </p:cTn>
                              </p:par>
                            </p:childTnLst>
                          </p:cTn>
                        </p:par>
                      </p:childTnLst>
                    </p:cTn>
                  </p:par>
                  <p:par>
                    <p:cTn id="107" fill="hold">
                      <p:stCondLst>
                        <p:cond delay="indefinite"/>
                      </p:stCondLst>
                      <p:childTnLst>
                        <p:par>
                          <p:cTn id="108" fill="hold">
                            <p:stCondLst>
                              <p:cond delay="0"/>
                            </p:stCondLst>
                            <p:childTnLst>
                              <p:par>
                                <p:cTn id="109" presetID="53" presetClass="entr" presetSubtype="16" fill="hold" nodeType="clickEffect">
                                  <p:stCondLst>
                                    <p:cond delay="0"/>
                                  </p:stCondLst>
                                  <p:childTnLst>
                                    <p:set>
                                      <p:cBhvr>
                                        <p:cTn id="110" dur="1" fill="hold">
                                          <p:stCondLst>
                                            <p:cond delay="0"/>
                                          </p:stCondLst>
                                        </p:cTn>
                                        <p:tgtEl>
                                          <p:spTgt spid="1090"/>
                                        </p:tgtEl>
                                        <p:attrNameLst>
                                          <p:attrName>style.visibility</p:attrName>
                                        </p:attrNameLst>
                                      </p:cBhvr>
                                      <p:to>
                                        <p:strVal val="visible"/>
                                      </p:to>
                                    </p:set>
                                    <p:anim calcmode="lin" valueType="num">
                                      <p:cBhvr>
                                        <p:cTn id="111" dur="500" fill="hold"/>
                                        <p:tgtEl>
                                          <p:spTgt spid="1090"/>
                                        </p:tgtEl>
                                        <p:attrNameLst>
                                          <p:attrName>ppt_w</p:attrName>
                                        </p:attrNameLst>
                                      </p:cBhvr>
                                      <p:tavLst>
                                        <p:tav tm="0">
                                          <p:val>
                                            <p:fltVal val="0"/>
                                          </p:val>
                                        </p:tav>
                                        <p:tav tm="100000">
                                          <p:val>
                                            <p:strVal val="#ppt_w"/>
                                          </p:val>
                                        </p:tav>
                                      </p:tavLst>
                                    </p:anim>
                                    <p:anim calcmode="lin" valueType="num">
                                      <p:cBhvr>
                                        <p:cTn id="112" dur="500" fill="hold"/>
                                        <p:tgtEl>
                                          <p:spTgt spid="1090"/>
                                        </p:tgtEl>
                                        <p:attrNameLst>
                                          <p:attrName>ppt_h</p:attrName>
                                        </p:attrNameLst>
                                      </p:cBhvr>
                                      <p:tavLst>
                                        <p:tav tm="0">
                                          <p:val>
                                            <p:fltVal val="0"/>
                                          </p:val>
                                        </p:tav>
                                        <p:tav tm="100000">
                                          <p:val>
                                            <p:strVal val="#ppt_h"/>
                                          </p:val>
                                        </p:tav>
                                      </p:tavLst>
                                    </p:anim>
                                    <p:animEffect transition="in" filter="fade">
                                      <p:cBhvr>
                                        <p:cTn id="113" dur="500"/>
                                        <p:tgtEl>
                                          <p:spTgt spid="1090"/>
                                        </p:tgtEl>
                                      </p:cBhvr>
                                    </p:animEffect>
                                  </p:childTnLst>
                                </p:cTn>
                              </p:par>
                            </p:childTnLst>
                          </p:cTn>
                        </p:par>
                      </p:childTnLst>
                    </p:cTn>
                  </p:par>
                  <p:par>
                    <p:cTn id="114" fill="hold">
                      <p:stCondLst>
                        <p:cond delay="indefinite"/>
                      </p:stCondLst>
                      <p:childTnLst>
                        <p:par>
                          <p:cTn id="115" fill="hold">
                            <p:stCondLst>
                              <p:cond delay="0"/>
                            </p:stCondLst>
                            <p:childTnLst>
                              <p:par>
                                <p:cTn id="116" presetID="53" presetClass="entr" presetSubtype="16" fill="hold" nodeType="clickEffect">
                                  <p:stCondLst>
                                    <p:cond delay="0"/>
                                  </p:stCondLst>
                                  <p:childTnLst>
                                    <p:set>
                                      <p:cBhvr>
                                        <p:cTn id="117" dur="1" fill="hold">
                                          <p:stCondLst>
                                            <p:cond delay="0"/>
                                          </p:stCondLst>
                                        </p:cTn>
                                        <p:tgtEl>
                                          <p:spTgt spid="1088"/>
                                        </p:tgtEl>
                                        <p:attrNameLst>
                                          <p:attrName>style.visibility</p:attrName>
                                        </p:attrNameLst>
                                      </p:cBhvr>
                                      <p:to>
                                        <p:strVal val="visible"/>
                                      </p:to>
                                    </p:set>
                                    <p:anim calcmode="lin" valueType="num">
                                      <p:cBhvr>
                                        <p:cTn id="118" dur="500" fill="hold"/>
                                        <p:tgtEl>
                                          <p:spTgt spid="1088"/>
                                        </p:tgtEl>
                                        <p:attrNameLst>
                                          <p:attrName>ppt_w</p:attrName>
                                        </p:attrNameLst>
                                      </p:cBhvr>
                                      <p:tavLst>
                                        <p:tav tm="0">
                                          <p:val>
                                            <p:fltVal val="0"/>
                                          </p:val>
                                        </p:tav>
                                        <p:tav tm="100000">
                                          <p:val>
                                            <p:strVal val="#ppt_w"/>
                                          </p:val>
                                        </p:tav>
                                      </p:tavLst>
                                    </p:anim>
                                    <p:anim calcmode="lin" valueType="num">
                                      <p:cBhvr>
                                        <p:cTn id="119" dur="500" fill="hold"/>
                                        <p:tgtEl>
                                          <p:spTgt spid="1088"/>
                                        </p:tgtEl>
                                        <p:attrNameLst>
                                          <p:attrName>ppt_h</p:attrName>
                                        </p:attrNameLst>
                                      </p:cBhvr>
                                      <p:tavLst>
                                        <p:tav tm="0">
                                          <p:val>
                                            <p:fltVal val="0"/>
                                          </p:val>
                                        </p:tav>
                                        <p:tav tm="100000">
                                          <p:val>
                                            <p:strVal val="#ppt_h"/>
                                          </p:val>
                                        </p:tav>
                                      </p:tavLst>
                                    </p:anim>
                                    <p:animEffect transition="in" filter="fade">
                                      <p:cBhvr>
                                        <p:cTn id="120" dur="500"/>
                                        <p:tgtEl>
                                          <p:spTgt spid="1088"/>
                                        </p:tgtEl>
                                      </p:cBhvr>
                                    </p:animEffect>
                                  </p:childTnLst>
                                </p:cTn>
                              </p:par>
                            </p:childTnLst>
                          </p:cTn>
                        </p:par>
                      </p:childTnLst>
                    </p:cTn>
                  </p:par>
                  <p:par>
                    <p:cTn id="121" fill="hold">
                      <p:stCondLst>
                        <p:cond delay="indefinite"/>
                      </p:stCondLst>
                      <p:childTnLst>
                        <p:par>
                          <p:cTn id="122" fill="hold">
                            <p:stCondLst>
                              <p:cond delay="0"/>
                            </p:stCondLst>
                            <p:childTnLst>
                              <p:par>
                                <p:cTn id="123" presetID="53" presetClass="entr" presetSubtype="16" fill="hold" nodeType="clickEffect">
                                  <p:stCondLst>
                                    <p:cond delay="0"/>
                                  </p:stCondLst>
                                  <p:childTnLst>
                                    <p:set>
                                      <p:cBhvr>
                                        <p:cTn id="124" dur="1" fill="hold">
                                          <p:stCondLst>
                                            <p:cond delay="0"/>
                                          </p:stCondLst>
                                        </p:cTn>
                                        <p:tgtEl>
                                          <p:spTgt spid="1091"/>
                                        </p:tgtEl>
                                        <p:attrNameLst>
                                          <p:attrName>style.visibility</p:attrName>
                                        </p:attrNameLst>
                                      </p:cBhvr>
                                      <p:to>
                                        <p:strVal val="visible"/>
                                      </p:to>
                                    </p:set>
                                    <p:anim calcmode="lin" valueType="num">
                                      <p:cBhvr>
                                        <p:cTn id="125" dur="500" fill="hold"/>
                                        <p:tgtEl>
                                          <p:spTgt spid="1091"/>
                                        </p:tgtEl>
                                        <p:attrNameLst>
                                          <p:attrName>ppt_w</p:attrName>
                                        </p:attrNameLst>
                                      </p:cBhvr>
                                      <p:tavLst>
                                        <p:tav tm="0">
                                          <p:val>
                                            <p:fltVal val="0"/>
                                          </p:val>
                                        </p:tav>
                                        <p:tav tm="100000">
                                          <p:val>
                                            <p:strVal val="#ppt_w"/>
                                          </p:val>
                                        </p:tav>
                                      </p:tavLst>
                                    </p:anim>
                                    <p:anim calcmode="lin" valueType="num">
                                      <p:cBhvr>
                                        <p:cTn id="126" dur="500" fill="hold"/>
                                        <p:tgtEl>
                                          <p:spTgt spid="1091"/>
                                        </p:tgtEl>
                                        <p:attrNameLst>
                                          <p:attrName>ppt_h</p:attrName>
                                        </p:attrNameLst>
                                      </p:cBhvr>
                                      <p:tavLst>
                                        <p:tav tm="0">
                                          <p:val>
                                            <p:fltVal val="0"/>
                                          </p:val>
                                        </p:tav>
                                        <p:tav tm="100000">
                                          <p:val>
                                            <p:strVal val="#ppt_h"/>
                                          </p:val>
                                        </p:tav>
                                      </p:tavLst>
                                    </p:anim>
                                    <p:animEffect transition="in" filter="fade">
                                      <p:cBhvr>
                                        <p:cTn id="127" dur="500"/>
                                        <p:tgtEl>
                                          <p:spTgt spid="1091"/>
                                        </p:tgtEl>
                                      </p:cBhvr>
                                    </p:animEffect>
                                  </p:childTnLst>
                                </p:cTn>
                              </p:par>
                            </p:childTnLst>
                          </p:cTn>
                        </p:par>
                      </p:childTnLst>
                    </p:cTn>
                  </p:par>
                  <p:par>
                    <p:cTn id="128" fill="hold">
                      <p:stCondLst>
                        <p:cond delay="indefinite"/>
                      </p:stCondLst>
                      <p:childTnLst>
                        <p:par>
                          <p:cTn id="129" fill="hold">
                            <p:stCondLst>
                              <p:cond delay="0"/>
                            </p:stCondLst>
                            <p:childTnLst>
                              <p:par>
                                <p:cTn id="130" presetID="53" presetClass="entr" presetSubtype="16" fill="hold" nodeType="clickEffect">
                                  <p:stCondLst>
                                    <p:cond delay="0"/>
                                  </p:stCondLst>
                                  <p:childTnLst>
                                    <p:set>
                                      <p:cBhvr>
                                        <p:cTn id="131" dur="1" fill="hold">
                                          <p:stCondLst>
                                            <p:cond delay="0"/>
                                          </p:stCondLst>
                                        </p:cTn>
                                        <p:tgtEl>
                                          <p:spTgt spid="1089"/>
                                        </p:tgtEl>
                                        <p:attrNameLst>
                                          <p:attrName>style.visibility</p:attrName>
                                        </p:attrNameLst>
                                      </p:cBhvr>
                                      <p:to>
                                        <p:strVal val="visible"/>
                                      </p:to>
                                    </p:set>
                                    <p:anim calcmode="lin" valueType="num">
                                      <p:cBhvr>
                                        <p:cTn id="132" dur="500" fill="hold"/>
                                        <p:tgtEl>
                                          <p:spTgt spid="1089"/>
                                        </p:tgtEl>
                                        <p:attrNameLst>
                                          <p:attrName>ppt_w</p:attrName>
                                        </p:attrNameLst>
                                      </p:cBhvr>
                                      <p:tavLst>
                                        <p:tav tm="0">
                                          <p:val>
                                            <p:fltVal val="0"/>
                                          </p:val>
                                        </p:tav>
                                        <p:tav tm="100000">
                                          <p:val>
                                            <p:strVal val="#ppt_w"/>
                                          </p:val>
                                        </p:tav>
                                      </p:tavLst>
                                    </p:anim>
                                    <p:anim calcmode="lin" valueType="num">
                                      <p:cBhvr>
                                        <p:cTn id="133" dur="500" fill="hold"/>
                                        <p:tgtEl>
                                          <p:spTgt spid="1089"/>
                                        </p:tgtEl>
                                        <p:attrNameLst>
                                          <p:attrName>ppt_h</p:attrName>
                                        </p:attrNameLst>
                                      </p:cBhvr>
                                      <p:tavLst>
                                        <p:tav tm="0">
                                          <p:val>
                                            <p:fltVal val="0"/>
                                          </p:val>
                                        </p:tav>
                                        <p:tav tm="100000">
                                          <p:val>
                                            <p:strVal val="#ppt_h"/>
                                          </p:val>
                                        </p:tav>
                                      </p:tavLst>
                                    </p:anim>
                                    <p:animEffect transition="in" filter="fade">
                                      <p:cBhvr>
                                        <p:cTn id="134" dur="500"/>
                                        <p:tgtEl>
                                          <p:spTgt spid="1089"/>
                                        </p:tgtEl>
                                      </p:cBhvr>
                                    </p:animEffect>
                                  </p:childTnLst>
                                </p:cTn>
                              </p:par>
                            </p:childTnLst>
                          </p:cTn>
                        </p:par>
                      </p:childTnLst>
                    </p:cTn>
                  </p:par>
                  <p:par>
                    <p:cTn id="135" fill="hold">
                      <p:stCondLst>
                        <p:cond delay="indefinite"/>
                      </p:stCondLst>
                      <p:childTnLst>
                        <p:par>
                          <p:cTn id="136" fill="hold">
                            <p:stCondLst>
                              <p:cond delay="0"/>
                            </p:stCondLst>
                            <p:childTnLst>
                              <p:par>
                                <p:cTn id="137" presetID="53" presetClass="entr" presetSubtype="16" fill="hold" nodeType="clickEffect">
                                  <p:stCondLst>
                                    <p:cond delay="0"/>
                                  </p:stCondLst>
                                  <p:childTnLst>
                                    <p:set>
                                      <p:cBhvr>
                                        <p:cTn id="138" dur="1" fill="hold">
                                          <p:stCondLst>
                                            <p:cond delay="0"/>
                                          </p:stCondLst>
                                        </p:cTn>
                                        <p:tgtEl>
                                          <p:spTgt spid="1092"/>
                                        </p:tgtEl>
                                        <p:attrNameLst>
                                          <p:attrName>style.visibility</p:attrName>
                                        </p:attrNameLst>
                                      </p:cBhvr>
                                      <p:to>
                                        <p:strVal val="visible"/>
                                      </p:to>
                                    </p:set>
                                    <p:anim calcmode="lin" valueType="num">
                                      <p:cBhvr>
                                        <p:cTn id="139" dur="500" fill="hold"/>
                                        <p:tgtEl>
                                          <p:spTgt spid="1092"/>
                                        </p:tgtEl>
                                        <p:attrNameLst>
                                          <p:attrName>ppt_w</p:attrName>
                                        </p:attrNameLst>
                                      </p:cBhvr>
                                      <p:tavLst>
                                        <p:tav tm="0">
                                          <p:val>
                                            <p:fltVal val="0"/>
                                          </p:val>
                                        </p:tav>
                                        <p:tav tm="100000">
                                          <p:val>
                                            <p:strVal val="#ppt_w"/>
                                          </p:val>
                                        </p:tav>
                                      </p:tavLst>
                                    </p:anim>
                                    <p:anim calcmode="lin" valueType="num">
                                      <p:cBhvr>
                                        <p:cTn id="140" dur="500" fill="hold"/>
                                        <p:tgtEl>
                                          <p:spTgt spid="1092"/>
                                        </p:tgtEl>
                                        <p:attrNameLst>
                                          <p:attrName>ppt_h</p:attrName>
                                        </p:attrNameLst>
                                      </p:cBhvr>
                                      <p:tavLst>
                                        <p:tav tm="0">
                                          <p:val>
                                            <p:fltVal val="0"/>
                                          </p:val>
                                        </p:tav>
                                        <p:tav tm="100000">
                                          <p:val>
                                            <p:strVal val="#ppt_h"/>
                                          </p:val>
                                        </p:tav>
                                      </p:tavLst>
                                    </p:anim>
                                    <p:animEffect transition="in" filter="fade">
                                      <p:cBhvr>
                                        <p:cTn id="141" dur="500"/>
                                        <p:tgtEl>
                                          <p:spTgt spid="1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1058" grpId="0"/>
      <p:bldP spid="1059" grpId="0"/>
      <p:bldP spid="1060" grpId="0"/>
      <p:bldP spid="1061" grpId="0"/>
      <p:bldP spid="1062" grpId="0"/>
      <p:bldP spid="1063" grpId="0"/>
      <p:bldP spid="1064" grpId="0"/>
      <p:bldP spid="1066" grpId="0"/>
      <p:bldP spid="1067" grpId="0"/>
      <p:bldP spid="1068" grpId="0"/>
      <p:bldP spid="1069" grpId="0"/>
      <p:bldP spid="1070"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F9C324F-4678-4161-EB57-DB0DC1EDEFE7}"/>
              </a:ext>
            </a:extLst>
          </p:cNvPr>
          <p:cNvSpPr/>
          <p:nvPr/>
        </p:nvSpPr>
        <p:spPr>
          <a:xfrm>
            <a:off x="1" y="0"/>
            <a:ext cx="3879273" cy="6858000"/>
          </a:xfrm>
          <a:prstGeom prst="rect">
            <a:avLst/>
          </a:prstGeom>
          <a:solidFill>
            <a:srgbClr val="1FBD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Box 7">
            <a:extLst>
              <a:ext uri="{FF2B5EF4-FFF2-40B4-BE49-F238E27FC236}">
                <a16:creationId xmlns:a16="http://schemas.microsoft.com/office/drawing/2014/main" id="{36180961-2A60-48A0-6F2B-CCE4909AF7BD}"/>
              </a:ext>
            </a:extLst>
          </p:cNvPr>
          <p:cNvSpPr txBox="1"/>
          <p:nvPr/>
        </p:nvSpPr>
        <p:spPr>
          <a:xfrm>
            <a:off x="371364" y="1218133"/>
            <a:ext cx="3793103" cy="984885"/>
          </a:xfrm>
          <a:prstGeom prst="rect">
            <a:avLst/>
          </a:prstGeom>
          <a:noFill/>
        </p:spPr>
        <p:txBody>
          <a:bodyPr wrap="square" lIns="0" tIns="0" rIns="0" bIns="0" rtlCol="0">
            <a:spAutoFit/>
          </a:bodyPr>
          <a:lstStyle/>
          <a:p>
            <a:r>
              <a:rPr lang="en-US" sz="3200" b="1" dirty="0">
                <a:latin typeface="D2L Sans Black" panose="00000A00000000000000" pitchFamily="50" charset="0"/>
              </a:rPr>
              <a:t>New York, </a:t>
            </a:r>
          </a:p>
          <a:p>
            <a:r>
              <a:rPr lang="en-US" sz="3200" b="1" dirty="0">
                <a:latin typeface="D2L Sans Black" panose="00000A00000000000000" pitchFamily="50" charset="0"/>
              </a:rPr>
              <a:t>NY</a:t>
            </a:r>
            <a:endParaRPr lang="en-CA" sz="3200" b="1" dirty="0">
              <a:latin typeface="D2L Sans Black" panose="00000A00000000000000" pitchFamily="50" charset="0"/>
            </a:endParaRPr>
          </a:p>
        </p:txBody>
      </p:sp>
      <p:pic>
        <p:nvPicPr>
          <p:cNvPr id="17" name="Picture 16" descr="A blue and white rectangle with letters and circles&#10;&#10;Description automatically generated">
            <a:extLst>
              <a:ext uri="{FF2B5EF4-FFF2-40B4-BE49-F238E27FC236}">
                <a16:creationId xmlns:a16="http://schemas.microsoft.com/office/drawing/2014/main" id="{3E883E0C-EFAA-0D6F-6CA4-0258A48FAFFE}"/>
              </a:ext>
            </a:extLst>
          </p:cNvPr>
          <p:cNvPicPr>
            <a:picLocks noChangeAspect="1"/>
          </p:cNvPicPr>
          <p:nvPr/>
        </p:nvPicPr>
        <p:blipFill>
          <a:blip r:embed="rId3"/>
          <a:stretch>
            <a:fillRect/>
          </a:stretch>
        </p:blipFill>
        <p:spPr>
          <a:xfrm>
            <a:off x="1215716" y="1814370"/>
            <a:ext cx="3262746" cy="797641"/>
          </a:xfrm>
          <a:prstGeom prst="rect">
            <a:avLst/>
          </a:prstGeom>
          <a:ln>
            <a:solidFill>
              <a:srgbClr val="1FBDEE"/>
            </a:solidFill>
          </a:ln>
        </p:spPr>
      </p:pic>
      <p:pic>
        <p:nvPicPr>
          <p:cNvPr id="18" name="Graphic 17">
            <a:extLst>
              <a:ext uri="{FF2B5EF4-FFF2-40B4-BE49-F238E27FC236}">
                <a16:creationId xmlns:a16="http://schemas.microsoft.com/office/drawing/2014/main" id="{BC8ABFE4-C051-881D-95CB-DBB0B4CDDF3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71364" y="6261360"/>
            <a:ext cx="615616" cy="247956"/>
          </a:xfrm>
          <a:prstGeom prst="rect">
            <a:avLst/>
          </a:prstGeom>
        </p:spPr>
      </p:pic>
      <p:sp>
        <p:nvSpPr>
          <p:cNvPr id="19" name="TextBox 18">
            <a:extLst>
              <a:ext uri="{FF2B5EF4-FFF2-40B4-BE49-F238E27FC236}">
                <a16:creationId xmlns:a16="http://schemas.microsoft.com/office/drawing/2014/main" id="{7F0F0153-350B-7504-FE11-8C8A7944113D}"/>
              </a:ext>
            </a:extLst>
          </p:cNvPr>
          <p:cNvSpPr txBox="1"/>
          <p:nvPr/>
        </p:nvSpPr>
        <p:spPr>
          <a:xfrm>
            <a:off x="6297186" y="551198"/>
            <a:ext cx="5250574" cy="1661993"/>
          </a:xfrm>
          <a:prstGeom prst="rect">
            <a:avLst/>
          </a:prstGeom>
          <a:noFill/>
        </p:spPr>
        <p:txBody>
          <a:bodyPr wrap="square" lIns="0" tIns="0" rIns="0" bIns="0" rtlCol="0">
            <a:spAutoFit/>
          </a:bodyPr>
          <a:lstStyle/>
          <a:p>
            <a:pPr algn="r"/>
            <a:r>
              <a:rPr lang="en-US" sz="5400" b="1" spc="-150" dirty="0">
                <a:solidFill>
                  <a:srgbClr val="1FBDEE"/>
                </a:solidFill>
                <a:latin typeface="D2L Sans Black" panose="00000A00000000000000" pitchFamily="50" charset="0"/>
              </a:rPr>
              <a:t>WHAT THEY OFFER</a:t>
            </a:r>
            <a:endParaRPr lang="en-CA" sz="5400" b="1" spc="-150" dirty="0">
              <a:solidFill>
                <a:srgbClr val="1FBDEE"/>
              </a:solidFill>
              <a:latin typeface="D2L Sans Black" panose="00000A00000000000000" pitchFamily="50" charset="0"/>
            </a:endParaRPr>
          </a:p>
        </p:txBody>
      </p:sp>
      <p:pic>
        <p:nvPicPr>
          <p:cNvPr id="10" name="Picture 9">
            <a:extLst>
              <a:ext uri="{FF2B5EF4-FFF2-40B4-BE49-F238E27FC236}">
                <a16:creationId xmlns:a16="http://schemas.microsoft.com/office/drawing/2014/main" id="{5E5C08D8-235C-F9BC-0BD2-E795A410AE46}"/>
              </a:ext>
            </a:extLst>
          </p:cNvPr>
          <p:cNvPicPr>
            <a:picLocks noChangeAspect="1"/>
          </p:cNvPicPr>
          <p:nvPr/>
        </p:nvPicPr>
        <p:blipFill>
          <a:blip r:embed="rId6"/>
          <a:stretch>
            <a:fillRect/>
          </a:stretch>
        </p:blipFill>
        <p:spPr>
          <a:xfrm>
            <a:off x="1264205" y="2742693"/>
            <a:ext cx="6642227" cy="3116765"/>
          </a:xfrm>
          <a:prstGeom prst="rect">
            <a:avLst/>
          </a:prstGeom>
        </p:spPr>
      </p:pic>
      <p:sp>
        <p:nvSpPr>
          <p:cNvPr id="11" name="TextBox 10">
            <a:extLst>
              <a:ext uri="{FF2B5EF4-FFF2-40B4-BE49-F238E27FC236}">
                <a16:creationId xmlns:a16="http://schemas.microsoft.com/office/drawing/2014/main" id="{F66DDA8F-3C5F-9F7F-7BFD-588714F385DA}"/>
              </a:ext>
            </a:extLst>
          </p:cNvPr>
          <p:cNvSpPr txBox="1"/>
          <p:nvPr/>
        </p:nvSpPr>
        <p:spPr>
          <a:xfrm>
            <a:off x="8454755" y="2890483"/>
            <a:ext cx="3096491" cy="369332"/>
          </a:xfrm>
          <a:prstGeom prst="rect">
            <a:avLst/>
          </a:prstGeom>
          <a:noFill/>
        </p:spPr>
        <p:txBody>
          <a:bodyPr wrap="square" lIns="0" tIns="0" rIns="0" bIns="0" rtlCol="0">
            <a:spAutoFit/>
          </a:bodyPr>
          <a:lstStyle/>
          <a:p>
            <a:pPr algn="r"/>
            <a:r>
              <a:rPr lang="en-US" sz="2400" dirty="0">
                <a:solidFill>
                  <a:srgbClr val="1FBDEE"/>
                </a:solidFill>
                <a:latin typeface="D2L Sans" panose="00000500000000000000" pitchFamily="50" charset="0"/>
              </a:rPr>
              <a:t>Swag Bulk Ordering </a:t>
            </a:r>
            <a:endParaRPr lang="en-CA" sz="2400" dirty="0">
              <a:solidFill>
                <a:srgbClr val="1FBDEE"/>
              </a:solidFill>
              <a:latin typeface="D2L Sans" panose="00000500000000000000" pitchFamily="50" charset="0"/>
            </a:endParaRPr>
          </a:p>
        </p:txBody>
      </p:sp>
      <p:sp>
        <p:nvSpPr>
          <p:cNvPr id="12" name="TextBox 11">
            <a:extLst>
              <a:ext uri="{FF2B5EF4-FFF2-40B4-BE49-F238E27FC236}">
                <a16:creationId xmlns:a16="http://schemas.microsoft.com/office/drawing/2014/main" id="{96A27E80-BD6F-1172-5A88-18275FA811F4}"/>
              </a:ext>
            </a:extLst>
          </p:cNvPr>
          <p:cNvSpPr txBox="1"/>
          <p:nvPr/>
        </p:nvSpPr>
        <p:spPr>
          <a:xfrm>
            <a:off x="8451268" y="3390849"/>
            <a:ext cx="3096491" cy="369332"/>
          </a:xfrm>
          <a:prstGeom prst="rect">
            <a:avLst/>
          </a:prstGeom>
          <a:noFill/>
        </p:spPr>
        <p:txBody>
          <a:bodyPr wrap="square" lIns="0" tIns="0" rIns="0" bIns="0" rtlCol="0">
            <a:spAutoFit/>
          </a:bodyPr>
          <a:lstStyle/>
          <a:p>
            <a:pPr algn="r"/>
            <a:r>
              <a:rPr lang="en-US" sz="2400" dirty="0">
                <a:solidFill>
                  <a:srgbClr val="7030A0"/>
                </a:solidFill>
                <a:latin typeface="D2L Sans" panose="00000500000000000000" pitchFamily="50" charset="0"/>
              </a:rPr>
              <a:t>Swag Distribution</a:t>
            </a:r>
            <a:endParaRPr lang="en-CA" sz="2400" dirty="0">
              <a:solidFill>
                <a:srgbClr val="7030A0"/>
              </a:solidFill>
              <a:latin typeface="D2L Sans" panose="00000500000000000000" pitchFamily="50" charset="0"/>
            </a:endParaRPr>
          </a:p>
        </p:txBody>
      </p:sp>
      <p:sp>
        <p:nvSpPr>
          <p:cNvPr id="13" name="TextBox 12">
            <a:extLst>
              <a:ext uri="{FF2B5EF4-FFF2-40B4-BE49-F238E27FC236}">
                <a16:creationId xmlns:a16="http://schemas.microsoft.com/office/drawing/2014/main" id="{EF6CBC85-45F6-9B39-18C6-B83ACBA32A2B}"/>
              </a:ext>
            </a:extLst>
          </p:cNvPr>
          <p:cNvSpPr txBox="1"/>
          <p:nvPr/>
        </p:nvSpPr>
        <p:spPr>
          <a:xfrm>
            <a:off x="8451267" y="3899083"/>
            <a:ext cx="3096491" cy="369332"/>
          </a:xfrm>
          <a:prstGeom prst="rect">
            <a:avLst/>
          </a:prstGeom>
          <a:noFill/>
        </p:spPr>
        <p:txBody>
          <a:bodyPr wrap="square" lIns="0" tIns="0" rIns="0" bIns="0" rtlCol="0">
            <a:spAutoFit/>
          </a:bodyPr>
          <a:lstStyle/>
          <a:p>
            <a:pPr algn="r"/>
            <a:r>
              <a:rPr lang="en-US" sz="2400" dirty="0">
                <a:solidFill>
                  <a:srgbClr val="F556A0"/>
                </a:solidFill>
                <a:latin typeface="D2L Sans" panose="00000500000000000000" pitchFamily="50" charset="0"/>
              </a:rPr>
              <a:t>Swag In A Box</a:t>
            </a:r>
            <a:endParaRPr lang="en-CA" sz="2400" dirty="0">
              <a:solidFill>
                <a:srgbClr val="F556A0"/>
              </a:solidFill>
              <a:latin typeface="D2L Sans" panose="00000500000000000000" pitchFamily="50" charset="0"/>
            </a:endParaRPr>
          </a:p>
        </p:txBody>
      </p:sp>
      <p:sp>
        <p:nvSpPr>
          <p:cNvPr id="16" name="TextBox 15">
            <a:extLst>
              <a:ext uri="{FF2B5EF4-FFF2-40B4-BE49-F238E27FC236}">
                <a16:creationId xmlns:a16="http://schemas.microsoft.com/office/drawing/2014/main" id="{B5A10564-FFA6-D9B5-6885-2B36CB6DCB22}"/>
              </a:ext>
            </a:extLst>
          </p:cNvPr>
          <p:cNvSpPr txBox="1"/>
          <p:nvPr/>
        </p:nvSpPr>
        <p:spPr>
          <a:xfrm>
            <a:off x="8451267" y="4407317"/>
            <a:ext cx="3096491" cy="369332"/>
          </a:xfrm>
          <a:prstGeom prst="rect">
            <a:avLst/>
          </a:prstGeom>
          <a:noFill/>
        </p:spPr>
        <p:txBody>
          <a:bodyPr wrap="square" lIns="0" tIns="0" rIns="0" bIns="0" rtlCol="0">
            <a:spAutoFit/>
          </a:bodyPr>
          <a:lstStyle/>
          <a:p>
            <a:pPr algn="r"/>
            <a:r>
              <a:rPr lang="en-US" sz="2400" dirty="0">
                <a:solidFill>
                  <a:srgbClr val="009FAA"/>
                </a:solidFill>
                <a:latin typeface="D2L Sans" panose="00000500000000000000" pitchFamily="50" charset="0"/>
              </a:rPr>
              <a:t>Corporate Gifting</a:t>
            </a:r>
            <a:endParaRPr lang="en-CA" sz="2400" dirty="0">
              <a:solidFill>
                <a:srgbClr val="009FAA"/>
              </a:solidFill>
              <a:latin typeface="D2L Sans" panose="00000500000000000000" pitchFamily="50" charset="0"/>
            </a:endParaRPr>
          </a:p>
        </p:txBody>
      </p:sp>
      <p:sp>
        <p:nvSpPr>
          <p:cNvPr id="20" name="TextBox 19">
            <a:extLst>
              <a:ext uri="{FF2B5EF4-FFF2-40B4-BE49-F238E27FC236}">
                <a16:creationId xmlns:a16="http://schemas.microsoft.com/office/drawing/2014/main" id="{73179E4D-0FA4-83D6-97F4-9E3FEB7D5594}"/>
              </a:ext>
            </a:extLst>
          </p:cNvPr>
          <p:cNvSpPr txBox="1"/>
          <p:nvPr/>
        </p:nvSpPr>
        <p:spPr>
          <a:xfrm>
            <a:off x="8451266" y="4907317"/>
            <a:ext cx="3096491" cy="369332"/>
          </a:xfrm>
          <a:prstGeom prst="rect">
            <a:avLst/>
          </a:prstGeom>
          <a:noFill/>
        </p:spPr>
        <p:txBody>
          <a:bodyPr wrap="square" lIns="0" tIns="0" rIns="0" bIns="0" rtlCol="0">
            <a:spAutoFit/>
          </a:bodyPr>
          <a:lstStyle/>
          <a:p>
            <a:pPr algn="r"/>
            <a:r>
              <a:rPr lang="en-US" sz="2400" dirty="0">
                <a:solidFill>
                  <a:srgbClr val="EFC71F"/>
                </a:solidFill>
                <a:latin typeface="D2L Sans" panose="00000500000000000000" pitchFamily="50" charset="0"/>
              </a:rPr>
              <a:t>Company Stores</a:t>
            </a:r>
            <a:endParaRPr lang="en-CA" sz="2400" dirty="0">
              <a:solidFill>
                <a:srgbClr val="EFC71F"/>
              </a:solidFill>
              <a:latin typeface="D2L Sans" panose="00000500000000000000" pitchFamily="50" charset="0"/>
            </a:endParaRPr>
          </a:p>
        </p:txBody>
      </p:sp>
      <p:sp>
        <p:nvSpPr>
          <p:cNvPr id="22" name="TextBox 21">
            <a:extLst>
              <a:ext uri="{FF2B5EF4-FFF2-40B4-BE49-F238E27FC236}">
                <a16:creationId xmlns:a16="http://schemas.microsoft.com/office/drawing/2014/main" id="{0F000F3B-9D8A-E3F7-A774-7411F4860EB8}"/>
              </a:ext>
            </a:extLst>
          </p:cNvPr>
          <p:cNvSpPr txBox="1"/>
          <p:nvPr/>
        </p:nvSpPr>
        <p:spPr>
          <a:xfrm>
            <a:off x="8451266" y="5407317"/>
            <a:ext cx="3096491" cy="369332"/>
          </a:xfrm>
          <a:prstGeom prst="rect">
            <a:avLst/>
          </a:prstGeom>
          <a:noFill/>
        </p:spPr>
        <p:txBody>
          <a:bodyPr wrap="square" lIns="0" tIns="0" rIns="0" bIns="0" rtlCol="0">
            <a:spAutoFit/>
          </a:bodyPr>
          <a:lstStyle/>
          <a:p>
            <a:pPr algn="r"/>
            <a:r>
              <a:rPr lang="en-US" sz="2400" dirty="0">
                <a:solidFill>
                  <a:srgbClr val="E9A325"/>
                </a:solidFill>
                <a:latin typeface="D2L Sans" panose="00000500000000000000" pitchFamily="50" charset="0"/>
              </a:rPr>
              <a:t>Swag Automation</a:t>
            </a:r>
            <a:endParaRPr lang="en-CA" sz="2400" dirty="0">
              <a:solidFill>
                <a:srgbClr val="E9A325"/>
              </a:solidFill>
              <a:latin typeface="D2L Sans" panose="00000500000000000000" pitchFamily="50" charset="0"/>
            </a:endParaRPr>
          </a:p>
        </p:txBody>
      </p:sp>
    </p:spTree>
    <p:extLst>
      <p:ext uri="{BB962C8B-B14F-4D97-AF65-F5344CB8AC3E}">
        <p14:creationId xmlns:p14="http://schemas.microsoft.com/office/powerpoint/2010/main" val="57181058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9" grpId="0"/>
      <p:bldP spid="11" grpId="0"/>
      <p:bldP spid="12" grpId="0"/>
      <p:bldP spid="13" grpId="0"/>
      <p:bldP spid="16" grpId="0"/>
      <p:bldP spid="20"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F9C324F-4678-4161-EB57-DB0DC1EDEFE7}"/>
              </a:ext>
            </a:extLst>
          </p:cNvPr>
          <p:cNvSpPr/>
          <p:nvPr/>
        </p:nvSpPr>
        <p:spPr>
          <a:xfrm>
            <a:off x="8312727" y="0"/>
            <a:ext cx="3879273" cy="6858000"/>
          </a:xfrm>
          <a:prstGeom prst="rect">
            <a:avLst/>
          </a:prstGeom>
          <a:solidFill>
            <a:srgbClr val="1FBD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Box 8">
            <a:extLst>
              <a:ext uri="{FF2B5EF4-FFF2-40B4-BE49-F238E27FC236}">
                <a16:creationId xmlns:a16="http://schemas.microsoft.com/office/drawing/2014/main" id="{ED7E7229-CC08-2CFE-AE33-DEA8930CCF02}"/>
              </a:ext>
            </a:extLst>
          </p:cNvPr>
          <p:cNvSpPr txBox="1"/>
          <p:nvPr/>
        </p:nvSpPr>
        <p:spPr>
          <a:xfrm>
            <a:off x="514357" y="1915497"/>
            <a:ext cx="6130337" cy="3277820"/>
          </a:xfrm>
          <a:prstGeom prst="rect">
            <a:avLst/>
          </a:prstGeom>
          <a:noFill/>
        </p:spPr>
        <p:txBody>
          <a:bodyPr wrap="square" lIns="0" tIns="0" rIns="0" bIns="0" rtlCol="0">
            <a:spAutoFit/>
          </a:bodyPr>
          <a:lstStyle/>
          <a:p>
            <a:pPr marL="457200" indent="-457200" algn="l">
              <a:lnSpc>
                <a:spcPct val="150000"/>
              </a:lnSpc>
              <a:buFont typeface="Wingdings" panose="05000000000000000000" pitchFamily="2" charset="2"/>
              <a:buChar char="§"/>
            </a:pPr>
            <a:r>
              <a:rPr lang="en-CA" sz="2400" dirty="0">
                <a:solidFill>
                  <a:schemeClr val="bg2"/>
                </a:solidFill>
                <a:latin typeface="D2L Sans" panose="00000500000000000000" pitchFamily="50" charset="0"/>
              </a:rPr>
              <a:t>Swag creation/ sourcing</a:t>
            </a:r>
          </a:p>
          <a:p>
            <a:pPr marL="457200" indent="-457200" algn="l">
              <a:lnSpc>
                <a:spcPct val="150000"/>
              </a:lnSpc>
              <a:buFont typeface="Wingdings" panose="05000000000000000000" pitchFamily="2" charset="2"/>
              <a:buChar char="§"/>
            </a:pPr>
            <a:r>
              <a:rPr lang="en-CA" sz="2400" dirty="0">
                <a:solidFill>
                  <a:schemeClr val="bg2"/>
                </a:solidFill>
                <a:latin typeface="D2L Sans" panose="00000500000000000000" pitchFamily="50" charset="0"/>
              </a:rPr>
              <a:t>Swag distribution</a:t>
            </a:r>
          </a:p>
          <a:p>
            <a:pPr marL="457200" indent="-457200" algn="l">
              <a:lnSpc>
                <a:spcPct val="150000"/>
              </a:lnSpc>
              <a:buFont typeface="Wingdings" panose="05000000000000000000" pitchFamily="2" charset="2"/>
              <a:buChar char="§"/>
            </a:pPr>
            <a:r>
              <a:rPr lang="en-CA" sz="2400" dirty="0">
                <a:solidFill>
                  <a:schemeClr val="bg2"/>
                </a:solidFill>
                <a:latin typeface="D2L Sans" panose="00000500000000000000" pitchFamily="50" charset="0"/>
              </a:rPr>
              <a:t>Gifting</a:t>
            </a:r>
          </a:p>
          <a:p>
            <a:pPr marL="457200" indent="-457200" algn="l">
              <a:lnSpc>
                <a:spcPct val="150000"/>
              </a:lnSpc>
              <a:buFont typeface="Wingdings" panose="05000000000000000000" pitchFamily="2" charset="2"/>
              <a:buChar char="§"/>
            </a:pPr>
            <a:r>
              <a:rPr lang="en-CA" sz="2400" dirty="0">
                <a:solidFill>
                  <a:schemeClr val="bg2"/>
                </a:solidFill>
                <a:latin typeface="D2L Sans" panose="00000500000000000000" pitchFamily="50" charset="0"/>
              </a:rPr>
              <a:t>“Online swag closet”- Inventory Management</a:t>
            </a:r>
          </a:p>
          <a:p>
            <a:pPr marL="457200" indent="-457200" algn="l">
              <a:lnSpc>
                <a:spcPct val="150000"/>
              </a:lnSpc>
              <a:buFont typeface="Wingdings" panose="05000000000000000000" pitchFamily="2" charset="2"/>
              <a:buChar char="§"/>
            </a:pPr>
            <a:r>
              <a:rPr lang="en-CA" sz="2400" dirty="0">
                <a:solidFill>
                  <a:schemeClr val="bg2"/>
                </a:solidFill>
                <a:latin typeface="D2L Sans" panose="00000500000000000000" pitchFamily="50" charset="0"/>
              </a:rPr>
              <a:t>Integration</a:t>
            </a:r>
          </a:p>
        </p:txBody>
      </p:sp>
      <p:pic>
        <p:nvPicPr>
          <p:cNvPr id="14" name="Picture Placeholder 12">
            <a:extLst>
              <a:ext uri="{FF2B5EF4-FFF2-40B4-BE49-F238E27FC236}">
                <a16:creationId xmlns:a16="http://schemas.microsoft.com/office/drawing/2014/main" id="{3809A72B-9293-01F6-6E2E-A2FE75F27DA4}"/>
              </a:ext>
            </a:extLst>
          </p:cNvPr>
          <p:cNvPicPr>
            <a:picLocks noChangeAspect="1"/>
          </p:cNvPicPr>
          <p:nvPr/>
        </p:nvPicPr>
        <p:blipFill>
          <a:blip r:embed="rId3"/>
          <a:srcRect l="17672" r="17672"/>
          <a:stretch/>
        </p:blipFill>
        <p:spPr>
          <a:xfrm>
            <a:off x="6894761" y="1236515"/>
            <a:ext cx="4434528" cy="4495804"/>
          </a:xfrm>
          <a:custGeom>
            <a:avLst/>
            <a:gdLst>
              <a:gd name="connsiteX0" fmla="*/ 0 w 4356100"/>
              <a:gd name="connsiteY0" fmla="*/ 0 h 4495804"/>
              <a:gd name="connsiteX1" fmla="*/ 4356100 w 4356100"/>
              <a:gd name="connsiteY1" fmla="*/ 0 h 4495804"/>
              <a:gd name="connsiteX2" fmla="*/ 4356100 w 4356100"/>
              <a:gd name="connsiteY2" fmla="*/ 4495804 h 4495804"/>
              <a:gd name="connsiteX3" fmla="*/ 0 w 4356100"/>
              <a:gd name="connsiteY3" fmla="*/ 4495804 h 4495804"/>
            </a:gdLst>
            <a:ahLst/>
            <a:cxnLst>
              <a:cxn ang="0">
                <a:pos x="connsiteX0" y="connsiteY0"/>
              </a:cxn>
              <a:cxn ang="0">
                <a:pos x="connsiteX1" y="connsiteY1"/>
              </a:cxn>
              <a:cxn ang="0">
                <a:pos x="connsiteX2" y="connsiteY2"/>
              </a:cxn>
              <a:cxn ang="0">
                <a:pos x="connsiteX3" y="connsiteY3"/>
              </a:cxn>
            </a:cxnLst>
            <a:rect l="l" t="t" r="r" b="b"/>
            <a:pathLst>
              <a:path w="4356100" h="4495804">
                <a:moveTo>
                  <a:pt x="0" y="0"/>
                </a:moveTo>
                <a:lnTo>
                  <a:pt x="4356100" y="0"/>
                </a:lnTo>
                <a:lnTo>
                  <a:pt x="4356100" y="4495804"/>
                </a:lnTo>
                <a:lnTo>
                  <a:pt x="0" y="4495804"/>
                </a:lnTo>
                <a:close/>
              </a:path>
            </a:pathLst>
          </a:custGeom>
          <a:noFill/>
        </p:spPr>
      </p:pic>
      <p:pic>
        <p:nvPicPr>
          <p:cNvPr id="17" name="Picture 16" descr="A blue and white rectangle with letters and circles&#10;&#10;Description automatically generated">
            <a:extLst>
              <a:ext uri="{FF2B5EF4-FFF2-40B4-BE49-F238E27FC236}">
                <a16:creationId xmlns:a16="http://schemas.microsoft.com/office/drawing/2014/main" id="{3E883E0C-EFAA-0D6F-6CA4-0258A48FAFFE}"/>
              </a:ext>
            </a:extLst>
          </p:cNvPr>
          <p:cNvPicPr>
            <a:picLocks noChangeAspect="1"/>
          </p:cNvPicPr>
          <p:nvPr/>
        </p:nvPicPr>
        <p:blipFill>
          <a:blip r:embed="rId4"/>
          <a:stretch>
            <a:fillRect/>
          </a:stretch>
        </p:blipFill>
        <p:spPr>
          <a:xfrm>
            <a:off x="10335491" y="6261360"/>
            <a:ext cx="1752900" cy="428530"/>
          </a:xfrm>
          <a:prstGeom prst="rect">
            <a:avLst/>
          </a:prstGeom>
        </p:spPr>
      </p:pic>
      <p:pic>
        <p:nvPicPr>
          <p:cNvPr id="18" name="Graphic 17">
            <a:extLst>
              <a:ext uri="{FF2B5EF4-FFF2-40B4-BE49-F238E27FC236}">
                <a16:creationId xmlns:a16="http://schemas.microsoft.com/office/drawing/2014/main" id="{BC8ABFE4-C051-881D-95CB-DBB0B4CDDF30}"/>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71364" y="6261360"/>
            <a:ext cx="615616" cy="247956"/>
          </a:xfrm>
          <a:prstGeom prst="rect">
            <a:avLst/>
          </a:prstGeom>
        </p:spPr>
      </p:pic>
      <p:sp>
        <p:nvSpPr>
          <p:cNvPr id="19" name="TextBox 18">
            <a:extLst>
              <a:ext uri="{FF2B5EF4-FFF2-40B4-BE49-F238E27FC236}">
                <a16:creationId xmlns:a16="http://schemas.microsoft.com/office/drawing/2014/main" id="{7F0F0153-350B-7504-FE11-8C8A7944113D}"/>
              </a:ext>
            </a:extLst>
          </p:cNvPr>
          <p:cNvSpPr txBox="1"/>
          <p:nvPr/>
        </p:nvSpPr>
        <p:spPr>
          <a:xfrm>
            <a:off x="511020" y="1156851"/>
            <a:ext cx="6736507" cy="830997"/>
          </a:xfrm>
          <a:prstGeom prst="rect">
            <a:avLst/>
          </a:prstGeom>
          <a:noFill/>
        </p:spPr>
        <p:txBody>
          <a:bodyPr wrap="square" lIns="0" tIns="0" rIns="0" bIns="0" rtlCol="0">
            <a:spAutoFit/>
          </a:bodyPr>
          <a:lstStyle/>
          <a:p>
            <a:pPr algn="l"/>
            <a:r>
              <a:rPr lang="en-US" sz="5400" b="1" spc="-150" dirty="0">
                <a:solidFill>
                  <a:srgbClr val="1FBDEE"/>
                </a:solidFill>
                <a:latin typeface="D2L Sans Black" panose="00000A00000000000000" pitchFamily="50" charset="0"/>
              </a:rPr>
              <a:t>KEY TAKEAWAYS</a:t>
            </a:r>
            <a:endParaRPr lang="en-CA" sz="5400" b="1" spc="-150" dirty="0">
              <a:solidFill>
                <a:srgbClr val="1FBDEE"/>
              </a:solidFill>
              <a:latin typeface="D2L Sans Black" panose="00000A00000000000000" pitchFamily="50" charset="0"/>
            </a:endParaRPr>
          </a:p>
        </p:txBody>
      </p:sp>
      <p:sp>
        <p:nvSpPr>
          <p:cNvPr id="20" name="TextBox 19">
            <a:extLst>
              <a:ext uri="{FF2B5EF4-FFF2-40B4-BE49-F238E27FC236}">
                <a16:creationId xmlns:a16="http://schemas.microsoft.com/office/drawing/2014/main" id="{3D7783B1-D15E-EA9E-1A0E-D251DA334252}"/>
              </a:ext>
            </a:extLst>
          </p:cNvPr>
          <p:cNvSpPr txBox="1"/>
          <p:nvPr/>
        </p:nvSpPr>
        <p:spPr>
          <a:xfrm>
            <a:off x="511020" y="5170234"/>
            <a:ext cx="6213465" cy="1061829"/>
          </a:xfrm>
          <a:prstGeom prst="rect">
            <a:avLst/>
          </a:prstGeom>
          <a:noFill/>
        </p:spPr>
        <p:txBody>
          <a:bodyPr wrap="square" lIns="0" tIns="0" rIns="0" bIns="0" rtlCol="0">
            <a:spAutoFit/>
          </a:bodyPr>
          <a:lstStyle/>
          <a:p>
            <a:pPr marL="457200" indent="-457200">
              <a:lnSpc>
                <a:spcPct val="150000"/>
              </a:lnSpc>
              <a:buFont typeface="Wingdings" panose="05000000000000000000" pitchFamily="2" charset="2"/>
              <a:buChar char="§"/>
            </a:pPr>
            <a:r>
              <a:rPr lang="en-CA" sz="2400" dirty="0">
                <a:solidFill>
                  <a:srgbClr val="FF0000"/>
                </a:solidFill>
                <a:latin typeface="D2L Sans" panose="00000500000000000000" pitchFamily="50" charset="0"/>
              </a:rPr>
              <a:t>No return labels/ sendbacks to warehouse</a:t>
            </a:r>
          </a:p>
          <a:p>
            <a:pPr marL="457200" indent="-457200">
              <a:lnSpc>
                <a:spcPct val="150000"/>
              </a:lnSpc>
              <a:buFont typeface="Wingdings" panose="05000000000000000000" pitchFamily="2" charset="2"/>
              <a:buChar char="§"/>
            </a:pPr>
            <a:r>
              <a:rPr lang="en-CA" sz="2400" dirty="0">
                <a:solidFill>
                  <a:srgbClr val="FF0000"/>
                </a:solidFill>
                <a:latin typeface="D2L Sans" panose="00000500000000000000" pitchFamily="50" charset="0"/>
              </a:rPr>
              <a:t>Do not hold third party items</a:t>
            </a:r>
          </a:p>
        </p:txBody>
      </p:sp>
    </p:spTree>
    <p:extLst>
      <p:ext uri="{BB962C8B-B14F-4D97-AF65-F5344CB8AC3E}">
        <p14:creationId xmlns:p14="http://schemas.microsoft.com/office/powerpoint/2010/main" val="8514781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1000"/>
                                        <p:tgtEl>
                                          <p:spTgt spid="9">
                                            <p:txEl>
                                              <p:pRg st="0" end="0"/>
                                            </p:txEl>
                                          </p:spTgt>
                                        </p:tgtEl>
                                      </p:cBhvr>
                                    </p:animEffect>
                                    <p:anim calcmode="lin" valueType="num">
                                      <p:cBhvr>
                                        <p:cTn id="1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fade">
                                      <p:cBhvr>
                                        <p:cTn id="21" dur="1000"/>
                                        <p:tgtEl>
                                          <p:spTgt spid="9">
                                            <p:txEl>
                                              <p:pRg st="1" end="1"/>
                                            </p:txEl>
                                          </p:spTgt>
                                        </p:tgtEl>
                                      </p:cBhvr>
                                    </p:animEffect>
                                    <p:anim calcmode="lin" valueType="num">
                                      <p:cBhvr>
                                        <p:cTn id="22"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Effect transition="in" filter="fade">
                                      <p:cBhvr>
                                        <p:cTn id="28" dur="1000"/>
                                        <p:tgtEl>
                                          <p:spTgt spid="9">
                                            <p:txEl>
                                              <p:pRg st="2" end="2"/>
                                            </p:txEl>
                                          </p:spTgt>
                                        </p:tgtEl>
                                      </p:cBhvr>
                                    </p:animEffect>
                                    <p:anim calcmode="lin" valueType="num">
                                      <p:cBhvr>
                                        <p:cTn id="29"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animEffect transition="in" filter="fade">
                                      <p:cBhvr>
                                        <p:cTn id="35" dur="1000"/>
                                        <p:tgtEl>
                                          <p:spTgt spid="9">
                                            <p:txEl>
                                              <p:pRg st="3" end="3"/>
                                            </p:txEl>
                                          </p:spTgt>
                                        </p:tgtEl>
                                      </p:cBhvr>
                                    </p:animEffect>
                                    <p:anim calcmode="lin" valueType="num">
                                      <p:cBhvr>
                                        <p:cTn id="36"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xEl>
                                              <p:pRg st="4" end="4"/>
                                            </p:txEl>
                                          </p:spTgt>
                                        </p:tgtEl>
                                        <p:attrNameLst>
                                          <p:attrName>style.visibility</p:attrName>
                                        </p:attrNameLst>
                                      </p:cBhvr>
                                      <p:to>
                                        <p:strVal val="visible"/>
                                      </p:to>
                                    </p:set>
                                    <p:animEffect transition="in" filter="fade">
                                      <p:cBhvr>
                                        <p:cTn id="42" dur="1000"/>
                                        <p:tgtEl>
                                          <p:spTgt spid="9">
                                            <p:txEl>
                                              <p:pRg st="4" end="4"/>
                                            </p:txEl>
                                          </p:spTgt>
                                        </p:tgtEl>
                                      </p:cBhvr>
                                    </p:animEffect>
                                    <p:anim calcmode="lin" valueType="num">
                                      <p:cBhvr>
                                        <p:cTn id="4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0">
                                            <p:txEl>
                                              <p:pRg st="0" end="0"/>
                                            </p:txEl>
                                          </p:spTgt>
                                        </p:tgtEl>
                                        <p:attrNameLst>
                                          <p:attrName>style.visibility</p:attrName>
                                        </p:attrNameLst>
                                      </p:cBhvr>
                                      <p:to>
                                        <p:strVal val="visible"/>
                                      </p:to>
                                    </p:set>
                                    <p:animEffect transition="in" filter="fade">
                                      <p:cBhvr>
                                        <p:cTn id="49" dur="1000"/>
                                        <p:tgtEl>
                                          <p:spTgt spid="20">
                                            <p:txEl>
                                              <p:pRg st="0" end="0"/>
                                            </p:txEl>
                                          </p:spTgt>
                                        </p:tgtEl>
                                      </p:cBhvr>
                                    </p:animEffect>
                                    <p:anim calcmode="lin" valueType="num">
                                      <p:cBhvr>
                                        <p:cTn id="50"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0">
                                            <p:txEl>
                                              <p:pRg st="1" end="1"/>
                                            </p:txEl>
                                          </p:spTgt>
                                        </p:tgtEl>
                                        <p:attrNameLst>
                                          <p:attrName>style.visibility</p:attrName>
                                        </p:attrNameLst>
                                      </p:cBhvr>
                                      <p:to>
                                        <p:strVal val="visible"/>
                                      </p:to>
                                    </p:set>
                                    <p:animEffect transition="in" filter="fade">
                                      <p:cBhvr>
                                        <p:cTn id="56" dur="1000"/>
                                        <p:tgtEl>
                                          <p:spTgt spid="20">
                                            <p:txEl>
                                              <p:pRg st="1" end="1"/>
                                            </p:txEl>
                                          </p:spTgt>
                                        </p:tgtEl>
                                      </p:cBhvr>
                                    </p:animEffect>
                                    <p:anim calcmode="lin" valueType="num">
                                      <p:cBhvr>
                                        <p:cTn id="57" dur="1000" fill="hold"/>
                                        <p:tgtEl>
                                          <p:spTgt spid="20">
                                            <p:txEl>
                                              <p:pRg st="1" end="1"/>
                                            </p:txEl>
                                          </p:spTgt>
                                        </p:tgtEl>
                                        <p:attrNameLst>
                                          <p:attrName>ppt_x</p:attrName>
                                        </p:attrNameLst>
                                      </p:cBhvr>
                                      <p:tavLst>
                                        <p:tav tm="0">
                                          <p:val>
                                            <p:strVal val="#ppt_x"/>
                                          </p:val>
                                        </p:tav>
                                        <p:tav tm="100000">
                                          <p:val>
                                            <p:strVal val="#ppt_x"/>
                                          </p:val>
                                        </p:tav>
                                      </p:tavLst>
                                    </p:anim>
                                    <p:anim calcmode="lin" valueType="num">
                                      <p:cBhvr>
                                        <p:cTn id="58" dur="1000" fill="hold"/>
                                        <p:tgtEl>
                                          <p:spTgt spid="2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9" grpId="0"/>
      <p:bldP spid="2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450ED3A-A642-6333-EA4B-2BCBB421F13F}"/>
              </a:ext>
            </a:extLst>
          </p:cNvPr>
          <p:cNvSpPr/>
          <p:nvPr/>
        </p:nvSpPr>
        <p:spPr>
          <a:xfrm>
            <a:off x="1" y="6033"/>
            <a:ext cx="12192000" cy="6858000"/>
          </a:xfrm>
          <a:prstGeom prst="rect">
            <a:avLst/>
          </a:prstGeom>
          <a:solidFill>
            <a:srgbClr val="1FBD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2" name="Picture 4">
            <a:extLst>
              <a:ext uri="{FF2B5EF4-FFF2-40B4-BE49-F238E27FC236}">
                <a16:creationId xmlns:a16="http://schemas.microsoft.com/office/drawing/2014/main" id="{A4ED934F-E1B8-E33C-F7D9-CA37E443C8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0" t="13509" r="1371" b="2046"/>
          <a:stretch/>
        </p:blipFill>
        <p:spPr bwMode="auto">
          <a:xfrm>
            <a:off x="1341490" y="661196"/>
            <a:ext cx="9245784" cy="504150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46EDBD9-8157-ED48-85AD-EB2819D527DA}"/>
              </a:ext>
            </a:extLst>
          </p:cNvPr>
          <p:cNvPicPr>
            <a:picLocks noChangeAspect="1"/>
          </p:cNvPicPr>
          <p:nvPr/>
        </p:nvPicPr>
        <p:blipFill>
          <a:blip r:embed="rId3"/>
          <a:stretch>
            <a:fillRect/>
          </a:stretch>
        </p:blipFill>
        <p:spPr>
          <a:xfrm>
            <a:off x="376671" y="2442464"/>
            <a:ext cx="5823395" cy="3238156"/>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0EB4C839-C309-5F00-361F-DFBF1FD53922}"/>
              </a:ext>
            </a:extLst>
          </p:cNvPr>
          <p:cNvPicPr>
            <a:picLocks noChangeAspect="1"/>
          </p:cNvPicPr>
          <p:nvPr/>
        </p:nvPicPr>
        <p:blipFill>
          <a:blip r:embed="rId4"/>
          <a:stretch>
            <a:fillRect/>
          </a:stretch>
        </p:blipFill>
        <p:spPr>
          <a:xfrm>
            <a:off x="8724900" y="334659"/>
            <a:ext cx="2698171" cy="6247637"/>
          </a:xfrm>
          <a:prstGeom prst="rect">
            <a:avLst/>
          </a:prstGeom>
          <a:effectLst>
            <a:outerShdw blurRad="63500" sx="102000" sy="102000" algn="ctr" rotWithShape="0">
              <a:prstClr val="black">
                <a:alpha val="40000"/>
              </a:prstClr>
            </a:outerShdw>
          </a:effectLst>
        </p:spPr>
      </p:pic>
      <p:pic>
        <p:nvPicPr>
          <p:cNvPr id="8" name="Picture 7" descr="A blue and white rectangle with letters and circles&#10;&#10;Description automatically generated">
            <a:extLst>
              <a:ext uri="{FF2B5EF4-FFF2-40B4-BE49-F238E27FC236}">
                <a16:creationId xmlns:a16="http://schemas.microsoft.com/office/drawing/2014/main" id="{4B605537-59D8-868E-3D0B-9579E1DE0DBD}"/>
              </a:ext>
            </a:extLst>
          </p:cNvPr>
          <p:cNvPicPr>
            <a:picLocks noChangeAspect="1"/>
          </p:cNvPicPr>
          <p:nvPr/>
        </p:nvPicPr>
        <p:blipFill>
          <a:blip r:embed="rId5"/>
          <a:stretch>
            <a:fillRect/>
          </a:stretch>
        </p:blipFill>
        <p:spPr>
          <a:xfrm>
            <a:off x="5177987" y="6091118"/>
            <a:ext cx="1572790" cy="384499"/>
          </a:xfrm>
          <a:prstGeom prst="rect">
            <a:avLst/>
          </a:prstGeom>
        </p:spPr>
      </p:pic>
    </p:spTree>
    <p:extLst>
      <p:ext uri="{BB962C8B-B14F-4D97-AF65-F5344CB8AC3E}">
        <p14:creationId xmlns:p14="http://schemas.microsoft.com/office/powerpoint/2010/main" val="42142734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C2D83035-6F59-1232-BE77-8B5592FB2721}"/>
              </a:ext>
            </a:extLst>
          </p:cNvPr>
          <p:cNvSpPr/>
          <p:nvPr/>
        </p:nvSpPr>
        <p:spPr>
          <a:xfrm>
            <a:off x="-160866" y="-36569"/>
            <a:ext cx="7128934" cy="6962301"/>
          </a:xfrm>
          <a:prstGeom prst="roundRect">
            <a:avLst>
              <a:gd name="adj" fmla="val 0"/>
            </a:avLst>
          </a:prstGeom>
          <a:solidFill>
            <a:schemeClr val="bg1">
              <a:lumMod val="85000"/>
              <a:lumOff val="1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CA" dirty="0"/>
          </a:p>
        </p:txBody>
      </p:sp>
      <p:pic>
        <p:nvPicPr>
          <p:cNvPr id="5" name="Picture 4" descr="A black background with a couple of letters&#10;&#10;Description automatically generated">
            <a:extLst>
              <a:ext uri="{FF2B5EF4-FFF2-40B4-BE49-F238E27FC236}">
                <a16:creationId xmlns:a16="http://schemas.microsoft.com/office/drawing/2014/main" id="{80000525-8F47-D5BE-E6C3-920029F1A65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100000"/>
                    </a14:imgEffect>
                  </a14:imgLayer>
                </a14:imgProps>
              </a:ext>
            </a:extLst>
          </a:blip>
          <a:stretch>
            <a:fillRect/>
          </a:stretch>
        </p:blipFill>
        <p:spPr>
          <a:xfrm>
            <a:off x="331156" y="435076"/>
            <a:ext cx="2728998" cy="370469"/>
          </a:xfrm>
          <a:prstGeom prst="rect">
            <a:avLst/>
          </a:prstGeom>
        </p:spPr>
      </p:pic>
      <p:sp>
        <p:nvSpPr>
          <p:cNvPr id="2" name="Rectangle: Rounded Corners 1">
            <a:extLst>
              <a:ext uri="{FF2B5EF4-FFF2-40B4-BE49-F238E27FC236}">
                <a16:creationId xmlns:a16="http://schemas.microsoft.com/office/drawing/2014/main" id="{BAB87C2F-1478-9A2A-766D-77C3957F9289}"/>
              </a:ext>
            </a:extLst>
          </p:cNvPr>
          <p:cNvSpPr/>
          <p:nvPr/>
        </p:nvSpPr>
        <p:spPr>
          <a:xfrm>
            <a:off x="7406987" y="2419682"/>
            <a:ext cx="4344746" cy="1548004"/>
          </a:xfrm>
          <a:prstGeom prst="roundRect">
            <a:avLst>
              <a:gd name="adj" fmla="val 15325"/>
            </a:avLst>
          </a:prstGeom>
          <a:solidFill>
            <a:schemeClr val="bg1">
              <a:lumMod val="85000"/>
              <a:lumOff val="1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CA" dirty="0"/>
          </a:p>
        </p:txBody>
      </p:sp>
      <p:sp>
        <p:nvSpPr>
          <p:cNvPr id="3" name="TextBox 2">
            <a:extLst>
              <a:ext uri="{FF2B5EF4-FFF2-40B4-BE49-F238E27FC236}">
                <a16:creationId xmlns:a16="http://schemas.microsoft.com/office/drawing/2014/main" id="{3458EC3D-A935-740F-CC88-2EC760556CBC}"/>
              </a:ext>
            </a:extLst>
          </p:cNvPr>
          <p:cNvSpPr txBox="1"/>
          <p:nvPr/>
        </p:nvSpPr>
        <p:spPr>
          <a:xfrm>
            <a:off x="7662429" y="2701242"/>
            <a:ext cx="3983181" cy="984885"/>
          </a:xfrm>
          <a:prstGeom prst="rect">
            <a:avLst/>
          </a:prstGeom>
          <a:noFill/>
        </p:spPr>
        <p:txBody>
          <a:bodyPr wrap="square" lIns="0" tIns="0" rIns="0" bIns="0" rtlCol="0">
            <a:spAutoFit/>
          </a:bodyPr>
          <a:lstStyle/>
          <a:p>
            <a:pPr algn="l"/>
            <a:r>
              <a:rPr lang="en-US" sz="3200" b="0" i="0" dirty="0">
                <a:effectLst/>
                <a:latin typeface="DM Sans" panose="020B0604020202020204" pitchFamily="2" charset="0"/>
              </a:rPr>
              <a:t>“Guaranteed ROI on your spend”</a:t>
            </a:r>
            <a:endParaRPr lang="en-CA" sz="3200" b="1" spc="-150" dirty="0">
              <a:latin typeface="Stanley Regular" panose="02050506080406020003" pitchFamily="18" charset="77"/>
            </a:endParaRPr>
          </a:p>
        </p:txBody>
      </p:sp>
      <p:sp>
        <p:nvSpPr>
          <p:cNvPr id="4" name="Rectangle 5">
            <a:extLst>
              <a:ext uri="{FF2B5EF4-FFF2-40B4-BE49-F238E27FC236}">
                <a16:creationId xmlns:a16="http://schemas.microsoft.com/office/drawing/2014/main" id="{212AB531-B92E-B2A9-6A0B-DEF899E429AC}"/>
              </a:ext>
            </a:extLst>
          </p:cNvPr>
          <p:cNvSpPr>
            <a:spLocks noChangeArrowheads="1"/>
          </p:cNvSpPr>
          <p:nvPr/>
        </p:nvSpPr>
        <p:spPr bwMode="auto">
          <a:xfrm>
            <a:off x="238559" y="51133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761" rIns="57132" bIns="0" numCol="1" anchor="ctr" anchorCtr="0" compatLnSpc="1">
            <a:prstTxWarp prst="textNoShape">
              <a:avLst/>
            </a:prstTxWarp>
            <a:spAutoFit/>
          </a:bodyPr>
          <a:lstStyle/>
          <a:p>
            <a:endParaRPr lang="en-CA" dirty="0"/>
          </a:p>
        </p:txBody>
      </p:sp>
      <p:sp>
        <p:nvSpPr>
          <p:cNvPr id="6" name="Rectangle 6">
            <a:extLst>
              <a:ext uri="{FF2B5EF4-FFF2-40B4-BE49-F238E27FC236}">
                <a16:creationId xmlns:a16="http://schemas.microsoft.com/office/drawing/2014/main" id="{D4348665-6C99-46ED-6661-E9972A23302C}"/>
              </a:ext>
            </a:extLst>
          </p:cNvPr>
          <p:cNvSpPr>
            <a:spLocks noChangeArrowheads="1"/>
          </p:cNvSpPr>
          <p:nvPr/>
        </p:nvSpPr>
        <p:spPr bwMode="auto">
          <a:xfrm>
            <a:off x="138546" y="5113340"/>
            <a:ext cx="87820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dirty="0"/>
          </a:p>
        </p:txBody>
      </p:sp>
      <p:sp>
        <p:nvSpPr>
          <p:cNvPr id="7" name="Rectangle 7">
            <a:extLst>
              <a:ext uri="{FF2B5EF4-FFF2-40B4-BE49-F238E27FC236}">
                <a16:creationId xmlns:a16="http://schemas.microsoft.com/office/drawing/2014/main" id="{379A31D3-4083-C832-8DB0-3F0339BAA92A}"/>
              </a:ext>
            </a:extLst>
          </p:cNvPr>
          <p:cNvSpPr>
            <a:spLocks noChangeArrowheads="1"/>
          </p:cNvSpPr>
          <p:nvPr/>
        </p:nvSpPr>
        <p:spPr bwMode="auto">
          <a:xfrm>
            <a:off x="138546" y="5113340"/>
            <a:ext cx="11144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endParaRPr lang="en-CA" dirty="0"/>
          </a:p>
        </p:txBody>
      </p:sp>
      <p:pic>
        <p:nvPicPr>
          <p:cNvPr id="4099" name="Picture 3" descr="Postal G2 Summer badges">
            <a:extLst>
              <a:ext uri="{FF2B5EF4-FFF2-40B4-BE49-F238E27FC236}">
                <a16:creationId xmlns:a16="http://schemas.microsoft.com/office/drawing/2014/main" id="{80726DF9-7D4E-9C7F-110B-CD6B8B2C3E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47683" y="4128955"/>
            <a:ext cx="4197927" cy="83958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E4395B0C-2B5B-56AE-A247-BA329A5386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6825" y="2043873"/>
            <a:ext cx="1697181" cy="3223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5057B40-4EDB-3291-8464-C2BB8D3EB892}"/>
              </a:ext>
            </a:extLst>
          </p:cNvPr>
          <p:cNvSpPr txBox="1"/>
          <p:nvPr/>
        </p:nvSpPr>
        <p:spPr>
          <a:xfrm>
            <a:off x="695758" y="2039027"/>
            <a:ext cx="3983181" cy="3248133"/>
          </a:xfrm>
          <a:prstGeom prst="rect">
            <a:avLst/>
          </a:prstGeom>
          <a:noFill/>
        </p:spPr>
        <p:txBody>
          <a:bodyPr wrap="square" lIns="0" tIns="0" rIns="0" bIns="0" rtlCol="0">
            <a:spAutoFit/>
          </a:bodyPr>
          <a:lstStyle/>
          <a:p>
            <a:pPr marL="571500" indent="-571500" algn="l">
              <a:lnSpc>
                <a:spcPct val="150000"/>
              </a:lnSpc>
              <a:buFont typeface="Wingdings" panose="05000000000000000000" pitchFamily="2" charset="2"/>
              <a:buChar char="§"/>
            </a:pPr>
            <a:r>
              <a:rPr lang="en-US" sz="3600" dirty="0">
                <a:latin typeface="DM Sans" panose="020B0604020202020204" pitchFamily="2" charset="0"/>
              </a:rPr>
              <a:t>Postal Engage</a:t>
            </a:r>
          </a:p>
          <a:p>
            <a:pPr marL="571500" indent="-571500" algn="l">
              <a:lnSpc>
                <a:spcPct val="150000"/>
              </a:lnSpc>
              <a:buFont typeface="Wingdings" panose="05000000000000000000" pitchFamily="2" charset="2"/>
              <a:buChar char="§"/>
            </a:pPr>
            <a:r>
              <a:rPr lang="en-US" sz="3600" b="0" i="0" dirty="0">
                <a:effectLst/>
                <a:latin typeface="DM Sans" panose="020B0604020202020204" pitchFamily="2" charset="0"/>
              </a:rPr>
              <a:t>Postal Brand</a:t>
            </a:r>
          </a:p>
          <a:p>
            <a:pPr marL="571500" indent="-571500" algn="l">
              <a:lnSpc>
                <a:spcPct val="150000"/>
              </a:lnSpc>
              <a:buFont typeface="Wingdings" panose="05000000000000000000" pitchFamily="2" charset="2"/>
              <a:buChar char="§"/>
            </a:pPr>
            <a:r>
              <a:rPr lang="en-US" sz="3600" dirty="0">
                <a:latin typeface="DM Sans" panose="020B0604020202020204" pitchFamily="2" charset="0"/>
              </a:rPr>
              <a:t>Postal ABM</a:t>
            </a:r>
          </a:p>
          <a:p>
            <a:pPr marL="571500" indent="-571500" algn="l">
              <a:lnSpc>
                <a:spcPct val="150000"/>
              </a:lnSpc>
              <a:buFont typeface="Wingdings" panose="05000000000000000000" pitchFamily="2" charset="2"/>
              <a:buChar char="§"/>
            </a:pPr>
            <a:r>
              <a:rPr lang="en-US" sz="3600" b="0" i="0" dirty="0">
                <a:effectLst/>
                <a:latin typeface="DM Sans" panose="020B0604020202020204" pitchFamily="2" charset="0"/>
              </a:rPr>
              <a:t>Paper Plane</a:t>
            </a:r>
          </a:p>
        </p:txBody>
      </p:sp>
      <p:sp>
        <p:nvSpPr>
          <p:cNvPr id="14" name="TextBox 13">
            <a:extLst>
              <a:ext uri="{FF2B5EF4-FFF2-40B4-BE49-F238E27FC236}">
                <a16:creationId xmlns:a16="http://schemas.microsoft.com/office/drawing/2014/main" id="{A4B3E43A-CAEC-2C83-0345-61099F00C6C8}"/>
              </a:ext>
            </a:extLst>
          </p:cNvPr>
          <p:cNvSpPr txBox="1"/>
          <p:nvPr/>
        </p:nvSpPr>
        <p:spPr>
          <a:xfrm>
            <a:off x="6334559" y="23896"/>
            <a:ext cx="5688517" cy="1409938"/>
          </a:xfrm>
          <a:prstGeom prst="rect">
            <a:avLst/>
          </a:prstGeom>
          <a:noFill/>
        </p:spPr>
        <p:txBody>
          <a:bodyPr wrap="square" lIns="0" tIns="0" rIns="0" bIns="0" rtlCol="0">
            <a:spAutoFit/>
          </a:bodyPr>
          <a:lstStyle/>
          <a:p>
            <a:pPr algn="r">
              <a:lnSpc>
                <a:spcPct val="150000"/>
              </a:lnSpc>
            </a:pPr>
            <a:r>
              <a:rPr lang="en-US" sz="3200" dirty="0">
                <a:solidFill>
                  <a:schemeClr val="bg1"/>
                </a:solidFill>
                <a:latin typeface="DM Sans" panose="020B0604020202020204" pitchFamily="2" charset="0"/>
              </a:rPr>
              <a:t>San Luis Obispo, </a:t>
            </a:r>
          </a:p>
          <a:p>
            <a:pPr algn="r">
              <a:lnSpc>
                <a:spcPct val="150000"/>
              </a:lnSpc>
            </a:pPr>
            <a:r>
              <a:rPr lang="en-US" sz="3200" dirty="0">
                <a:solidFill>
                  <a:schemeClr val="bg1"/>
                </a:solidFill>
                <a:latin typeface="DM Sans" panose="020B0604020202020204" pitchFamily="2" charset="0"/>
              </a:rPr>
              <a:t>CA</a:t>
            </a:r>
            <a:endParaRPr lang="en-US" sz="3200" i="0" dirty="0">
              <a:solidFill>
                <a:schemeClr val="bg1"/>
              </a:solidFill>
              <a:effectLst/>
              <a:latin typeface="DM Sans" panose="020B0604020202020204" pitchFamily="2" charset="0"/>
            </a:endParaRPr>
          </a:p>
        </p:txBody>
      </p:sp>
      <p:pic>
        <p:nvPicPr>
          <p:cNvPr id="4107" name="Picture 11" descr="corporate gifting strategy">
            <a:extLst>
              <a:ext uri="{FF2B5EF4-FFF2-40B4-BE49-F238E27FC236}">
                <a16:creationId xmlns:a16="http://schemas.microsoft.com/office/drawing/2014/main" id="{36055EBF-702F-8AE8-7F0E-969C723011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50167" y="3686127"/>
            <a:ext cx="3770694" cy="2940450"/>
          </a:xfrm>
          <a:prstGeom prst="rect">
            <a:avLst/>
          </a:prstGeom>
          <a:noFill/>
          <a:effectLst/>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FFB4512A-EDF9-77C6-593F-8DE45AE594B0}"/>
              </a:ext>
            </a:extLst>
          </p:cNvPr>
          <p:cNvSpPr txBox="1"/>
          <p:nvPr/>
        </p:nvSpPr>
        <p:spPr>
          <a:xfrm>
            <a:off x="695758" y="1360603"/>
            <a:ext cx="5345124" cy="553998"/>
          </a:xfrm>
          <a:prstGeom prst="rect">
            <a:avLst/>
          </a:prstGeom>
          <a:noFill/>
        </p:spPr>
        <p:txBody>
          <a:bodyPr wrap="square" lIns="0" tIns="0" rIns="0" bIns="0" rtlCol="0">
            <a:spAutoFit/>
          </a:bodyPr>
          <a:lstStyle/>
          <a:p>
            <a:pPr algn="l"/>
            <a:r>
              <a:rPr lang="en-US" sz="3600" b="1" i="0" dirty="0">
                <a:effectLst/>
                <a:latin typeface="DM Sans" panose="020B0604020202020204" pitchFamily="2" charset="0"/>
              </a:rPr>
              <a:t>WHAT THEY OFFER</a:t>
            </a:r>
            <a:endParaRPr lang="en-CA" sz="3600" b="1" spc="-150" dirty="0">
              <a:latin typeface="Stanley Regular" panose="02050506080406020003" pitchFamily="18" charset="77"/>
            </a:endParaRPr>
          </a:p>
        </p:txBody>
      </p:sp>
    </p:spTree>
    <p:extLst>
      <p:ext uri="{BB962C8B-B14F-4D97-AF65-F5344CB8AC3E}">
        <p14:creationId xmlns:p14="http://schemas.microsoft.com/office/powerpoint/2010/main" val="44442593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2" nodeType="clickEffect">
                                  <p:stCondLst>
                                    <p:cond delay="0"/>
                                  </p:stCondLst>
                                  <p:childTnLst>
                                    <p:set>
                                      <p:cBhvr>
                                        <p:cTn id="29" dur="1" fill="hold">
                                          <p:stCondLst>
                                            <p:cond delay="0"/>
                                          </p:stCondLst>
                                        </p:cTn>
                                        <p:tgtEl>
                                          <p:spTgt spid="12">
                                            <p:txEl>
                                              <p:pRg st="0" end="0"/>
                                            </p:txEl>
                                          </p:spTgt>
                                        </p:tgtEl>
                                        <p:attrNameLst>
                                          <p:attrName>style.visibility</p:attrName>
                                        </p:attrNameLst>
                                      </p:cBhvr>
                                      <p:to>
                                        <p:strVal val="visible"/>
                                      </p:to>
                                    </p:set>
                                    <p:animEffect transition="in" filter="fade">
                                      <p:cBhvr>
                                        <p:cTn id="30" dur="500"/>
                                        <p:tgtEl>
                                          <p:spTgt spid="12">
                                            <p:txEl>
                                              <p:pRg st="0" end="0"/>
                                            </p:txEl>
                                          </p:spTgt>
                                        </p:tgtEl>
                                      </p:cBhvr>
                                    </p:animEffect>
                                  </p:childTnLst>
                                </p:cTn>
                              </p:par>
                              <p:par>
                                <p:cTn id="31" presetID="10" presetClass="entr" presetSubtype="0" fill="hold" grpId="2" nodeType="with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animEffect transition="in" filter="fade">
                                      <p:cBhvr>
                                        <p:cTn id="33" dur="500"/>
                                        <p:tgtEl>
                                          <p:spTgt spid="12">
                                            <p:txEl>
                                              <p:pRg st="1" end="1"/>
                                            </p:txEl>
                                          </p:spTgt>
                                        </p:tgtEl>
                                      </p:cBhvr>
                                    </p:animEffect>
                                  </p:childTnLst>
                                </p:cTn>
                              </p:par>
                              <p:par>
                                <p:cTn id="34" presetID="10" presetClass="entr" presetSubtype="0" fill="hold" grpId="2" nodeType="withEffect">
                                  <p:stCondLst>
                                    <p:cond delay="0"/>
                                  </p:stCondLst>
                                  <p:childTnLst>
                                    <p:set>
                                      <p:cBhvr>
                                        <p:cTn id="35" dur="1" fill="hold">
                                          <p:stCondLst>
                                            <p:cond delay="0"/>
                                          </p:stCondLst>
                                        </p:cTn>
                                        <p:tgtEl>
                                          <p:spTgt spid="12">
                                            <p:txEl>
                                              <p:pRg st="2" end="2"/>
                                            </p:txEl>
                                          </p:spTgt>
                                        </p:tgtEl>
                                        <p:attrNameLst>
                                          <p:attrName>style.visibility</p:attrName>
                                        </p:attrNameLst>
                                      </p:cBhvr>
                                      <p:to>
                                        <p:strVal val="visible"/>
                                      </p:to>
                                    </p:set>
                                    <p:animEffect transition="in" filter="fade">
                                      <p:cBhvr>
                                        <p:cTn id="36" dur="500"/>
                                        <p:tgtEl>
                                          <p:spTgt spid="12">
                                            <p:txEl>
                                              <p:pRg st="2" end="2"/>
                                            </p:txEl>
                                          </p:spTgt>
                                        </p:tgtEl>
                                      </p:cBhvr>
                                    </p:animEffect>
                                  </p:childTnLst>
                                </p:cTn>
                              </p:par>
                              <p:par>
                                <p:cTn id="37" presetID="10" presetClass="entr" presetSubtype="0" fill="hold" grpId="2" nodeType="withEffect">
                                  <p:stCondLst>
                                    <p:cond delay="0"/>
                                  </p:stCondLst>
                                  <p:childTnLst>
                                    <p:set>
                                      <p:cBhvr>
                                        <p:cTn id="38" dur="1" fill="hold">
                                          <p:stCondLst>
                                            <p:cond delay="0"/>
                                          </p:stCondLst>
                                        </p:cTn>
                                        <p:tgtEl>
                                          <p:spTgt spid="12">
                                            <p:txEl>
                                              <p:pRg st="3" end="3"/>
                                            </p:txEl>
                                          </p:spTgt>
                                        </p:tgtEl>
                                        <p:attrNameLst>
                                          <p:attrName>style.visibility</p:attrName>
                                        </p:attrNameLst>
                                      </p:cBhvr>
                                      <p:to>
                                        <p:strVal val="visible"/>
                                      </p:to>
                                    </p:set>
                                    <p:animEffect transition="in" filter="fade">
                                      <p:cBhvr>
                                        <p:cTn id="39" dur="500"/>
                                        <p:tgtEl>
                                          <p:spTgt spid="12">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6" presetClass="emph" presetSubtype="0" fill="hold" grpId="0" nodeType="clickEffect">
                                  <p:stCondLst>
                                    <p:cond delay="0"/>
                                  </p:stCondLst>
                                  <p:childTnLst>
                                    <p:animEffect transition="out" filter="fade">
                                      <p:cBhvr>
                                        <p:cTn id="43" dur="500" tmFilter="0, 0; .2, .5; .8, .5; 1, 0"/>
                                        <p:tgtEl>
                                          <p:spTgt spid="12">
                                            <p:txEl>
                                              <p:pRg st="0" end="0"/>
                                            </p:txEl>
                                          </p:spTgt>
                                        </p:tgtEl>
                                      </p:cBhvr>
                                    </p:animEffect>
                                    <p:animScale>
                                      <p:cBhvr>
                                        <p:cTn id="44" dur="250" autoRev="1" fill="hold"/>
                                        <p:tgtEl>
                                          <p:spTgt spid="12">
                                            <p:txEl>
                                              <p:pRg st="0" end="0"/>
                                            </p:txEl>
                                          </p:spTgt>
                                        </p:tgtEl>
                                      </p:cBhvr>
                                      <p:by x="105000" y="105000"/>
                                    </p:animScale>
                                  </p:childTnLst>
                                </p:cTn>
                              </p:par>
                            </p:childTnLst>
                          </p:cTn>
                        </p:par>
                      </p:childTnLst>
                    </p:cTn>
                  </p:par>
                  <p:par>
                    <p:cTn id="45" fill="hold">
                      <p:stCondLst>
                        <p:cond delay="indefinite"/>
                      </p:stCondLst>
                      <p:childTnLst>
                        <p:par>
                          <p:cTn id="46" fill="hold">
                            <p:stCondLst>
                              <p:cond delay="0"/>
                            </p:stCondLst>
                            <p:childTnLst>
                              <p:par>
                                <p:cTn id="47" presetID="26" presetClass="emph" presetSubtype="0" fill="hold" grpId="0" nodeType="clickEffect">
                                  <p:stCondLst>
                                    <p:cond delay="0"/>
                                  </p:stCondLst>
                                  <p:childTnLst>
                                    <p:animEffect transition="out" filter="fade">
                                      <p:cBhvr>
                                        <p:cTn id="48" dur="500" tmFilter="0, 0; .2, .5; .8, .5; 1, 0"/>
                                        <p:tgtEl>
                                          <p:spTgt spid="12">
                                            <p:txEl>
                                              <p:pRg st="1" end="1"/>
                                            </p:txEl>
                                          </p:spTgt>
                                        </p:tgtEl>
                                      </p:cBhvr>
                                    </p:animEffect>
                                    <p:animScale>
                                      <p:cBhvr>
                                        <p:cTn id="49" dur="250" autoRev="1" fill="hold"/>
                                        <p:tgtEl>
                                          <p:spTgt spid="12">
                                            <p:txEl>
                                              <p:pRg st="1" end="1"/>
                                            </p:txEl>
                                          </p:spTgt>
                                        </p:tgtEl>
                                      </p:cBhvr>
                                      <p:by x="105000" y="105000"/>
                                    </p:animScale>
                                  </p:childTnLst>
                                </p:cTn>
                              </p:par>
                            </p:childTnLst>
                          </p:cTn>
                        </p:par>
                      </p:childTnLst>
                    </p:cTn>
                  </p:par>
                  <p:par>
                    <p:cTn id="50" fill="hold">
                      <p:stCondLst>
                        <p:cond delay="indefinite"/>
                      </p:stCondLst>
                      <p:childTnLst>
                        <p:par>
                          <p:cTn id="51" fill="hold">
                            <p:stCondLst>
                              <p:cond delay="0"/>
                            </p:stCondLst>
                            <p:childTnLst>
                              <p:par>
                                <p:cTn id="52" presetID="26" presetClass="emph" presetSubtype="0" fill="hold" grpId="0" nodeType="clickEffect">
                                  <p:stCondLst>
                                    <p:cond delay="0"/>
                                  </p:stCondLst>
                                  <p:childTnLst>
                                    <p:animEffect transition="out" filter="fade">
                                      <p:cBhvr>
                                        <p:cTn id="53" dur="500" tmFilter="0, 0; .2, .5; .8, .5; 1, 0"/>
                                        <p:tgtEl>
                                          <p:spTgt spid="12">
                                            <p:txEl>
                                              <p:pRg st="2" end="2"/>
                                            </p:txEl>
                                          </p:spTgt>
                                        </p:tgtEl>
                                      </p:cBhvr>
                                    </p:animEffect>
                                    <p:animScale>
                                      <p:cBhvr>
                                        <p:cTn id="54" dur="250" autoRev="1" fill="hold"/>
                                        <p:tgtEl>
                                          <p:spTgt spid="12">
                                            <p:txEl>
                                              <p:pRg st="2" end="2"/>
                                            </p:txEl>
                                          </p:spTgt>
                                        </p:tgtEl>
                                      </p:cBhvr>
                                      <p:by x="105000" y="105000"/>
                                    </p:animScale>
                                  </p:childTnLst>
                                </p:cTn>
                              </p:par>
                            </p:childTnLst>
                          </p:cTn>
                        </p:par>
                      </p:childTnLst>
                    </p:cTn>
                  </p:par>
                  <p:par>
                    <p:cTn id="55" fill="hold">
                      <p:stCondLst>
                        <p:cond delay="indefinite"/>
                      </p:stCondLst>
                      <p:childTnLst>
                        <p:par>
                          <p:cTn id="56" fill="hold">
                            <p:stCondLst>
                              <p:cond delay="0"/>
                            </p:stCondLst>
                            <p:childTnLst>
                              <p:par>
                                <p:cTn id="57" presetID="26" presetClass="emph" presetSubtype="0" fill="hold" grpId="0" nodeType="clickEffect">
                                  <p:stCondLst>
                                    <p:cond delay="0"/>
                                  </p:stCondLst>
                                  <p:childTnLst>
                                    <p:animEffect transition="out" filter="fade">
                                      <p:cBhvr>
                                        <p:cTn id="58" dur="500" tmFilter="0, 0; .2, .5; .8, .5; 1, 0"/>
                                        <p:tgtEl>
                                          <p:spTgt spid="12">
                                            <p:txEl>
                                              <p:pRg st="3" end="3"/>
                                            </p:txEl>
                                          </p:spTgt>
                                        </p:tgtEl>
                                      </p:cBhvr>
                                    </p:animEffect>
                                    <p:animScale>
                                      <p:cBhvr>
                                        <p:cTn id="59" dur="250" autoRev="1" fill="hold"/>
                                        <p:tgtEl>
                                          <p:spTgt spid="12">
                                            <p:txEl>
                                              <p:pRg st="3" end="3"/>
                                            </p:txEl>
                                          </p:spTgt>
                                        </p:tgtEl>
                                      </p:cBhvr>
                                      <p:by x="105000" y="105000"/>
                                    </p:animScale>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1" nodeType="clickEffect">
                                  <p:stCondLst>
                                    <p:cond delay="0"/>
                                  </p:stCondLst>
                                  <p:childTnLst>
                                    <p:set>
                                      <p:cBhvr>
                                        <p:cTn id="63" dur="1" fill="hold">
                                          <p:stCondLst>
                                            <p:cond delay="0"/>
                                          </p:stCondLst>
                                        </p:cTn>
                                        <p:tgtEl>
                                          <p:spTgt spid="12">
                                            <p:txEl>
                                              <p:pRg st="0" end="0"/>
                                            </p:txEl>
                                          </p:spTgt>
                                        </p:tgtEl>
                                        <p:attrNameLst>
                                          <p:attrName>style.visibility</p:attrName>
                                        </p:attrNameLst>
                                      </p:cBhvr>
                                      <p:to>
                                        <p:strVal val="visible"/>
                                      </p:to>
                                    </p:set>
                                  </p:childTnLst>
                                </p:cTn>
                              </p:par>
                              <p:par>
                                <p:cTn id="64" presetID="1" presetClass="entr" presetSubtype="0" fill="hold" grpId="1" nodeType="withEffect">
                                  <p:stCondLst>
                                    <p:cond delay="0"/>
                                  </p:stCondLst>
                                  <p:childTnLst>
                                    <p:set>
                                      <p:cBhvr>
                                        <p:cTn id="65" dur="1" fill="hold">
                                          <p:stCondLst>
                                            <p:cond delay="0"/>
                                          </p:stCondLst>
                                        </p:cTn>
                                        <p:tgtEl>
                                          <p:spTgt spid="12">
                                            <p:txEl>
                                              <p:pRg st="1" end="1"/>
                                            </p:txEl>
                                          </p:spTgt>
                                        </p:tgtEl>
                                        <p:attrNameLst>
                                          <p:attrName>style.visibility</p:attrName>
                                        </p:attrNameLst>
                                      </p:cBhvr>
                                      <p:to>
                                        <p:strVal val="visible"/>
                                      </p:to>
                                    </p:set>
                                  </p:childTnLst>
                                </p:cTn>
                              </p:par>
                              <p:par>
                                <p:cTn id="66" presetID="1" presetClass="entr" presetSubtype="0" fill="hold" grpId="1" nodeType="withEffect">
                                  <p:stCondLst>
                                    <p:cond delay="0"/>
                                  </p:stCondLst>
                                  <p:childTnLst>
                                    <p:set>
                                      <p:cBhvr>
                                        <p:cTn id="67" dur="1" fill="hold">
                                          <p:stCondLst>
                                            <p:cond delay="0"/>
                                          </p:stCondLst>
                                        </p:cTn>
                                        <p:tgtEl>
                                          <p:spTgt spid="12">
                                            <p:txEl>
                                              <p:pRg st="2" end="2"/>
                                            </p:txEl>
                                          </p:spTgt>
                                        </p:tgtEl>
                                        <p:attrNameLst>
                                          <p:attrName>style.visibility</p:attrName>
                                        </p:attrNameLst>
                                      </p:cBhvr>
                                      <p:to>
                                        <p:strVal val="visible"/>
                                      </p:to>
                                    </p:set>
                                  </p:childTnLst>
                                </p:cTn>
                              </p:par>
                              <p:par>
                                <p:cTn id="68" presetID="1" presetClass="entr" presetSubtype="0" fill="hold" grpId="1" nodeType="withEffect">
                                  <p:stCondLst>
                                    <p:cond delay="0"/>
                                  </p:stCondLst>
                                  <p:childTnLst>
                                    <p:set>
                                      <p:cBhvr>
                                        <p:cTn id="69"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build="p"/>
      <p:bldP spid="12" grpId="1" build="allAtOnce"/>
      <p:bldP spid="12" grpId="2" build="allAtOnce"/>
      <p:bldP spid="14"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212AB531-B92E-B2A9-6A0B-DEF899E429AC}"/>
              </a:ext>
            </a:extLst>
          </p:cNvPr>
          <p:cNvSpPr>
            <a:spLocks noChangeArrowheads="1"/>
          </p:cNvSpPr>
          <p:nvPr/>
        </p:nvSpPr>
        <p:spPr bwMode="auto">
          <a:xfrm>
            <a:off x="238559" y="51133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761" rIns="57132" bIns="0" numCol="1" anchor="ctr" anchorCtr="0" compatLnSpc="1">
            <a:prstTxWarp prst="textNoShape">
              <a:avLst/>
            </a:prstTxWarp>
            <a:spAutoFit/>
          </a:bodyPr>
          <a:lstStyle/>
          <a:p>
            <a:endParaRPr lang="en-CA" dirty="0"/>
          </a:p>
        </p:txBody>
      </p:sp>
      <p:sp>
        <p:nvSpPr>
          <p:cNvPr id="6" name="Rectangle 6">
            <a:extLst>
              <a:ext uri="{FF2B5EF4-FFF2-40B4-BE49-F238E27FC236}">
                <a16:creationId xmlns:a16="http://schemas.microsoft.com/office/drawing/2014/main" id="{D4348665-6C99-46ED-6661-E9972A23302C}"/>
              </a:ext>
            </a:extLst>
          </p:cNvPr>
          <p:cNvSpPr>
            <a:spLocks noChangeArrowheads="1"/>
          </p:cNvSpPr>
          <p:nvPr/>
        </p:nvSpPr>
        <p:spPr bwMode="auto">
          <a:xfrm>
            <a:off x="138546" y="5113340"/>
            <a:ext cx="87820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dirty="0"/>
          </a:p>
        </p:txBody>
      </p:sp>
      <p:sp>
        <p:nvSpPr>
          <p:cNvPr id="7" name="Rectangle 7">
            <a:extLst>
              <a:ext uri="{FF2B5EF4-FFF2-40B4-BE49-F238E27FC236}">
                <a16:creationId xmlns:a16="http://schemas.microsoft.com/office/drawing/2014/main" id="{379A31D3-4083-C832-8DB0-3F0339BAA92A}"/>
              </a:ext>
            </a:extLst>
          </p:cNvPr>
          <p:cNvSpPr>
            <a:spLocks noChangeArrowheads="1"/>
          </p:cNvSpPr>
          <p:nvPr/>
        </p:nvSpPr>
        <p:spPr bwMode="auto">
          <a:xfrm>
            <a:off x="138546" y="5113340"/>
            <a:ext cx="11144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endParaRPr lang="en-CA" dirty="0"/>
          </a:p>
        </p:txBody>
      </p:sp>
      <p:sp>
        <p:nvSpPr>
          <p:cNvPr id="12" name="TextBox 11">
            <a:extLst>
              <a:ext uri="{FF2B5EF4-FFF2-40B4-BE49-F238E27FC236}">
                <a16:creationId xmlns:a16="http://schemas.microsoft.com/office/drawing/2014/main" id="{65057B40-4EDB-3291-8464-C2BB8D3EB892}"/>
              </a:ext>
            </a:extLst>
          </p:cNvPr>
          <p:cNvSpPr txBox="1"/>
          <p:nvPr/>
        </p:nvSpPr>
        <p:spPr>
          <a:xfrm>
            <a:off x="0" y="300191"/>
            <a:ext cx="5080769" cy="1006879"/>
          </a:xfrm>
          <a:prstGeom prst="rect">
            <a:avLst/>
          </a:prstGeom>
          <a:noFill/>
        </p:spPr>
        <p:txBody>
          <a:bodyPr wrap="square" lIns="0" tIns="0" rIns="0" bIns="0" rtlCol="0" anchor="t">
            <a:spAutoFit/>
          </a:bodyPr>
          <a:lstStyle/>
          <a:p>
            <a:pPr algn="r">
              <a:lnSpc>
                <a:spcPct val="150000"/>
              </a:lnSpc>
            </a:pPr>
            <a:r>
              <a:rPr lang="en-US" sz="4800" b="1" dirty="0">
                <a:solidFill>
                  <a:srgbClr val="262626"/>
                </a:solidFill>
                <a:latin typeface="DM Sans" panose="020B0604020202020204" pitchFamily="2" charset="0"/>
              </a:rPr>
              <a:t>Key Takeaways</a:t>
            </a:r>
          </a:p>
        </p:txBody>
      </p:sp>
      <p:sp>
        <p:nvSpPr>
          <p:cNvPr id="8" name="TextBox 7">
            <a:extLst>
              <a:ext uri="{FF2B5EF4-FFF2-40B4-BE49-F238E27FC236}">
                <a16:creationId xmlns:a16="http://schemas.microsoft.com/office/drawing/2014/main" id="{DFEFDF54-65D1-F424-33AF-B5B18B3C3E17}"/>
              </a:ext>
            </a:extLst>
          </p:cNvPr>
          <p:cNvSpPr txBox="1"/>
          <p:nvPr/>
        </p:nvSpPr>
        <p:spPr>
          <a:xfrm>
            <a:off x="379717" y="1604251"/>
            <a:ext cx="8810003" cy="4117089"/>
          </a:xfrm>
          <a:prstGeom prst="rect">
            <a:avLst/>
          </a:prstGeom>
          <a:noFill/>
        </p:spPr>
        <p:txBody>
          <a:bodyPr wrap="square" lIns="0" tIns="0" rIns="0" bIns="0" rtlCol="0">
            <a:spAutoFit/>
          </a:bodyPr>
          <a:lstStyle/>
          <a:p>
            <a:pPr marL="571500" indent="-571500">
              <a:lnSpc>
                <a:spcPct val="150000"/>
              </a:lnSpc>
              <a:buFont typeface="Wingdings" panose="05000000000000000000" pitchFamily="2" charset="2"/>
              <a:buChar char="§"/>
            </a:pPr>
            <a:r>
              <a:rPr lang="en-US" b="0" i="0" dirty="0">
                <a:solidFill>
                  <a:srgbClr val="1F1F1F"/>
                </a:solidFill>
                <a:effectLst/>
                <a:latin typeface="DM Sans" panose="020B0604020202020204" pitchFamily="2" charset="0"/>
              </a:rPr>
              <a:t>More focus on gifting</a:t>
            </a:r>
          </a:p>
          <a:p>
            <a:pPr marL="571500" indent="-571500">
              <a:lnSpc>
                <a:spcPct val="150000"/>
              </a:lnSpc>
              <a:buFont typeface="Wingdings" panose="05000000000000000000" pitchFamily="2" charset="2"/>
              <a:buChar char="§"/>
            </a:pPr>
            <a:r>
              <a:rPr lang="en-US" dirty="0">
                <a:solidFill>
                  <a:srgbClr val="1F1F1F"/>
                </a:solidFill>
                <a:latin typeface="DM Sans" panose="020B0604020202020204" pitchFamily="2" charset="0"/>
              </a:rPr>
              <a:t>Sending – Direct, Multiple, Email Customer Giftings, Magiclink, Bulk-Send</a:t>
            </a:r>
          </a:p>
          <a:p>
            <a:pPr marL="571500" indent="-571500">
              <a:lnSpc>
                <a:spcPct val="150000"/>
              </a:lnSpc>
              <a:buFont typeface="Wingdings" panose="05000000000000000000" pitchFamily="2" charset="2"/>
              <a:buChar char="§"/>
            </a:pPr>
            <a:r>
              <a:rPr lang="en-US" dirty="0">
                <a:solidFill>
                  <a:srgbClr val="1F1F1F"/>
                </a:solidFill>
                <a:latin typeface="DM Sans" panose="020B0604020202020204" pitchFamily="2" charset="0"/>
              </a:rPr>
              <a:t>Warehousing</a:t>
            </a:r>
          </a:p>
          <a:p>
            <a:pPr marL="571500" indent="-571500">
              <a:lnSpc>
                <a:spcPct val="150000"/>
              </a:lnSpc>
              <a:buFont typeface="Wingdings" panose="05000000000000000000" pitchFamily="2" charset="2"/>
              <a:buChar char="§"/>
            </a:pPr>
            <a:r>
              <a:rPr lang="en-US" b="0" i="0" dirty="0">
                <a:solidFill>
                  <a:srgbClr val="1F1F1F"/>
                </a:solidFill>
                <a:effectLst/>
                <a:latin typeface="DM Sans" panose="020B0604020202020204" pitchFamily="2" charset="0"/>
              </a:rPr>
              <a:t>Buyout program</a:t>
            </a:r>
          </a:p>
          <a:p>
            <a:pPr marL="571500" indent="-571500">
              <a:lnSpc>
                <a:spcPct val="150000"/>
              </a:lnSpc>
              <a:buFont typeface="Wingdings" panose="05000000000000000000" pitchFamily="2" charset="2"/>
              <a:buChar char="§"/>
            </a:pPr>
            <a:r>
              <a:rPr lang="en-US" dirty="0">
                <a:solidFill>
                  <a:srgbClr val="1F1F1F"/>
                </a:solidFill>
                <a:latin typeface="DM Sans" panose="020B0604020202020204" pitchFamily="2" charset="0"/>
              </a:rPr>
              <a:t>Inventory Management</a:t>
            </a:r>
          </a:p>
          <a:p>
            <a:pPr marL="571500" indent="-571500">
              <a:lnSpc>
                <a:spcPct val="150000"/>
              </a:lnSpc>
              <a:buFont typeface="Wingdings" panose="05000000000000000000" pitchFamily="2" charset="2"/>
              <a:buChar char="§"/>
            </a:pPr>
            <a:r>
              <a:rPr lang="en-US" dirty="0">
                <a:solidFill>
                  <a:srgbClr val="1F1F1F"/>
                </a:solidFill>
                <a:latin typeface="DM Sans" panose="020B0604020202020204" pitchFamily="2" charset="0"/>
              </a:rPr>
              <a:t>Integration</a:t>
            </a:r>
          </a:p>
          <a:p>
            <a:pPr marL="571500" indent="-571500">
              <a:lnSpc>
                <a:spcPct val="150000"/>
              </a:lnSpc>
              <a:buFont typeface="Wingdings" panose="05000000000000000000" pitchFamily="2" charset="2"/>
              <a:buChar char="§"/>
            </a:pPr>
            <a:r>
              <a:rPr lang="en-US" dirty="0">
                <a:solidFill>
                  <a:srgbClr val="1F1F1F"/>
                </a:solidFill>
                <a:latin typeface="DM Sans" panose="020B0604020202020204" pitchFamily="2" charset="0"/>
              </a:rPr>
              <a:t>Virtual Events</a:t>
            </a:r>
          </a:p>
          <a:p>
            <a:pPr marL="571500" indent="-571500">
              <a:lnSpc>
                <a:spcPct val="150000"/>
              </a:lnSpc>
              <a:buFont typeface="Wingdings" panose="05000000000000000000" pitchFamily="2" charset="2"/>
              <a:buChar char="§"/>
            </a:pPr>
            <a:r>
              <a:rPr lang="en-US" dirty="0">
                <a:solidFill>
                  <a:srgbClr val="FF0000"/>
                </a:solidFill>
                <a:latin typeface="DM Sans" panose="020B0604020202020204" pitchFamily="2" charset="0"/>
              </a:rPr>
              <a:t>No notifications for damaged items/ replacements YET</a:t>
            </a:r>
          </a:p>
          <a:p>
            <a:pPr marL="571500" indent="-571500">
              <a:lnSpc>
                <a:spcPct val="150000"/>
              </a:lnSpc>
              <a:buFont typeface="Wingdings" panose="05000000000000000000" pitchFamily="2" charset="2"/>
              <a:buChar char="§"/>
            </a:pPr>
            <a:r>
              <a:rPr lang="en-US" dirty="0">
                <a:solidFill>
                  <a:srgbClr val="FF0000"/>
                </a:solidFill>
                <a:latin typeface="DM Sans" panose="020B0604020202020204" pitchFamily="2" charset="0"/>
              </a:rPr>
              <a:t>No Budget code payment method, balance based</a:t>
            </a:r>
          </a:p>
          <a:p>
            <a:pPr marL="571500" indent="-571500">
              <a:lnSpc>
                <a:spcPct val="150000"/>
              </a:lnSpc>
              <a:buFont typeface="Wingdings" panose="05000000000000000000" pitchFamily="2" charset="2"/>
              <a:buChar char="§"/>
            </a:pPr>
            <a:r>
              <a:rPr lang="en-US" dirty="0">
                <a:solidFill>
                  <a:srgbClr val="FF0000"/>
                </a:solidFill>
                <a:latin typeface="DM Sans" panose="020B0604020202020204" pitchFamily="2" charset="0"/>
              </a:rPr>
              <a:t>Complex pricing structure</a:t>
            </a:r>
          </a:p>
        </p:txBody>
      </p:sp>
      <p:sp>
        <p:nvSpPr>
          <p:cNvPr id="11" name="Rectangle: Rounded Corners 10">
            <a:extLst>
              <a:ext uri="{FF2B5EF4-FFF2-40B4-BE49-F238E27FC236}">
                <a16:creationId xmlns:a16="http://schemas.microsoft.com/office/drawing/2014/main" id="{05ED1C3B-5836-1B5C-4004-C2B644B8C63F}"/>
              </a:ext>
            </a:extLst>
          </p:cNvPr>
          <p:cNvSpPr/>
          <p:nvPr/>
        </p:nvSpPr>
        <p:spPr>
          <a:xfrm>
            <a:off x="9189720" y="0"/>
            <a:ext cx="3002280" cy="6858000"/>
          </a:xfrm>
          <a:prstGeom prst="roundRect">
            <a:avLst>
              <a:gd name="adj" fmla="val 0"/>
            </a:avLst>
          </a:prstGeom>
          <a:solidFill>
            <a:schemeClr val="bg1">
              <a:lumMod val="85000"/>
              <a:lumOff val="1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CA" dirty="0"/>
          </a:p>
        </p:txBody>
      </p:sp>
      <p:pic>
        <p:nvPicPr>
          <p:cNvPr id="5" name="Picture 4" descr="A black background with a couple of letters&#10;&#10;Description automatically generated">
            <a:extLst>
              <a:ext uri="{FF2B5EF4-FFF2-40B4-BE49-F238E27FC236}">
                <a16:creationId xmlns:a16="http://schemas.microsoft.com/office/drawing/2014/main" id="{80000525-8F47-D5BE-E6C3-920029F1A65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7000"/>
                    </a14:imgEffect>
                  </a14:imgLayer>
                </a14:imgProps>
              </a:ext>
            </a:extLst>
          </a:blip>
          <a:stretch>
            <a:fillRect/>
          </a:stretch>
        </p:blipFill>
        <p:spPr>
          <a:xfrm>
            <a:off x="9652852" y="3164695"/>
            <a:ext cx="1923616" cy="261136"/>
          </a:xfrm>
          <a:prstGeom prst="rect">
            <a:avLst/>
          </a:prstGeom>
        </p:spPr>
      </p:pic>
    </p:spTree>
    <p:extLst>
      <p:ext uri="{BB962C8B-B14F-4D97-AF65-F5344CB8AC3E}">
        <p14:creationId xmlns:p14="http://schemas.microsoft.com/office/powerpoint/2010/main" val="723472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1"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500"/>
                                        <p:tgtEl>
                                          <p:spTgt spid="8">
                                            <p:txEl>
                                              <p:pRg st="0" end="0"/>
                                            </p:txEl>
                                          </p:spTgt>
                                        </p:tgtEl>
                                      </p:cBhvr>
                                    </p:animEffect>
                                  </p:childTnLst>
                                </p:cTn>
                              </p:par>
                              <p:par>
                                <p:cTn id="15" presetID="10" presetClass="entr" presetSubtype="0" fill="hold" grpId="1"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par>
                                <p:cTn id="18" presetID="10" presetClass="entr" presetSubtype="0" fill="hold" grpId="1" nodeType="with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animEffect transition="in" filter="fade">
                                      <p:cBhvr>
                                        <p:cTn id="20" dur="500"/>
                                        <p:tgtEl>
                                          <p:spTgt spid="8">
                                            <p:txEl>
                                              <p:pRg st="2" end="2"/>
                                            </p:txEl>
                                          </p:spTgt>
                                        </p:tgtEl>
                                      </p:cBhvr>
                                    </p:animEffect>
                                  </p:childTnLst>
                                </p:cTn>
                              </p:par>
                              <p:par>
                                <p:cTn id="21" presetID="10" presetClass="entr" presetSubtype="0" fill="hold" grpId="1" nodeType="with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500"/>
                                        <p:tgtEl>
                                          <p:spTgt spid="8">
                                            <p:txEl>
                                              <p:pRg st="3" end="3"/>
                                            </p:txEl>
                                          </p:spTgt>
                                        </p:tgtEl>
                                      </p:cBhvr>
                                    </p:animEffect>
                                  </p:childTnLst>
                                </p:cTn>
                              </p:par>
                              <p:par>
                                <p:cTn id="24" presetID="10" presetClass="entr" presetSubtype="0" fill="hold" grpId="1" nodeType="with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500"/>
                                        <p:tgtEl>
                                          <p:spTgt spid="8">
                                            <p:txEl>
                                              <p:pRg st="4" end="4"/>
                                            </p:txEl>
                                          </p:spTgt>
                                        </p:tgtEl>
                                      </p:cBhvr>
                                    </p:animEffect>
                                  </p:childTnLst>
                                </p:cTn>
                              </p:par>
                              <p:par>
                                <p:cTn id="27" presetID="10" presetClass="entr" presetSubtype="0" fill="hold" grpId="1" nodeType="with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fade">
                                      <p:cBhvr>
                                        <p:cTn id="29" dur="500"/>
                                        <p:tgtEl>
                                          <p:spTgt spid="8">
                                            <p:txEl>
                                              <p:pRg st="5" end="5"/>
                                            </p:txEl>
                                          </p:spTgt>
                                        </p:tgtEl>
                                      </p:cBhvr>
                                    </p:animEffect>
                                  </p:childTnLst>
                                </p:cTn>
                              </p:par>
                              <p:par>
                                <p:cTn id="30" presetID="10" presetClass="entr" presetSubtype="0" fill="hold" grpId="1" nodeType="withEffect">
                                  <p:stCondLst>
                                    <p:cond delay="0"/>
                                  </p:stCondLst>
                                  <p:childTnLst>
                                    <p:set>
                                      <p:cBhvr>
                                        <p:cTn id="31" dur="1" fill="hold">
                                          <p:stCondLst>
                                            <p:cond delay="0"/>
                                          </p:stCondLst>
                                        </p:cTn>
                                        <p:tgtEl>
                                          <p:spTgt spid="8">
                                            <p:txEl>
                                              <p:pRg st="6" end="6"/>
                                            </p:txEl>
                                          </p:spTgt>
                                        </p:tgtEl>
                                        <p:attrNameLst>
                                          <p:attrName>style.visibility</p:attrName>
                                        </p:attrNameLst>
                                      </p:cBhvr>
                                      <p:to>
                                        <p:strVal val="visible"/>
                                      </p:to>
                                    </p:set>
                                    <p:animEffect transition="in" filter="fade">
                                      <p:cBhvr>
                                        <p:cTn id="32" dur="500"/>
                                        <p:tgtEl>
                                          <p:spTgt spid="8">
                                            <p:txEl>
                                              <p:pRg st="6" end="6"/>
                                            </p:txEl>
                                          </p:spTgt>
                                        </p:tgtEl>
                                      </p:cBhvr>
                                    </p:animEffect>
                                  </p:childTnLst>
                                </p:cTn>
                              </p:par>
                              <p:par>
                                <p:cTn id="33" presetID="10" presetClass="entr" presetSubtype="0" fill="hold" grpId="1" nodeType="with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animEffect transition="in" filter="fade">
                                      <p:cBhvr>
                                        <p:cTn id="35" dur="500"/>
                                        <p:tgtEl>
                                          <p:spTgt spid="8">
                                            <p:txEl>
                                              <p:pRg st="7" end="7"/>
                                            </p:txEl>
                                          </p:spTgt>
                                        </p:tgtEl>
                                      </p:cBhvr>
                                    </p:animEffect>
                                  </p:childTnLst>
                                </p:cTn>
                              </p:par>
                              <p:par>
                                <p:cTn id="36" presetID="10" presetClass="entr" presetSubtype="0" fill="hold" grpId="1" nodeType="withEffect">
                                  <p:stCondLst>
                                    <p:cond delay="0"/>
                                  </p:stCondLst>
                                  <p:childTnLst>
                                    <p:set>
                                      <p:cBhvr>
                                        <p:cTn id="37" dur="1" fill="hold">
                                          <p:stCondLst>
                                            <p:cond delay="0"/>
                                          </p:stCondLst>
                                        </p:cTn>
                                        <p:tgtEl>
                                          <p:spTgt spid="8">
                                            <p:txEl>
                                              <p:pRg st="8" end="8"/>
                                            </p:txEl>
                                          </p:spTgt>
                                        </p:tgtEl>
                                        <p:attrNameLst>
                                          <p:attrName>style.visibility</p:attrName>
                                        </p:attrNameLst>
                                      </p:cBhvr>
                                      <p:to>
                                        <p:strVal val="visible"/>
                                      </p:to>
                                    </p:set>
                                    <p:animEffect transition="in" filter="fade">
                                      <p:cBhvr>
                                        <p:cTn id="38" dur="500"/>
                                        <p:tgtEl>
                                          <p:spTgt spid="8">
                                            <p:txEl>
                                              <p:pRg st="8" end="8"/>
                                            </p:txEl>
                                          </p:spTgt>
                                        </p:tgtEl>
                                      </p:cBhvr>
                                    </p:animEffect>
                                  </p:childTnLst>
                                </p:cTn>
                              </p:par>
                              <p:par>
                                <p:cTn id="39" presetID="10" presetClass="entr" presetSubtype="0" fill="hold" grpId="1" nodeType="withEffect">
                                  <p:stCondLst>
                                    <p:cond delay="0"/>
                                  </p:stCondLst>
                                  <p:childTnLst>
                                    <p:set>
                                      <p:cBhvr>
                                        <p:cTn id="40" dur="1" fill="hold">
                                          <p:stCondLst>
                                            <p:cond delay="0"/>
                                          </p:stCondLst>
                                        </p:cTn>
                                        <p:tgtEl>
                                          <p:spTgt spid="8">
                                            <p:txEl>
                                              <p:pRg st="9" end="9"/>
                                            </p:txEl>
                                          </p:spTgt>
                                        </p:tgtEl>
                                        <p:attrNameLst>
                                          <p:attrName>style.visibility</p:attrName>
                                        </p:attrNameLst>
                                      </p:cBhvr>
                                      <p:to>
                                        <p:strVal val="visible"/>
                                      </p:to>
                                    </p:set>
                                    <p:animEffect transition="in" filter="fade">
                                      <p:cBhvr>
                                        <p:cTn id="41" dur="500"/>
                                        <p:tgtEl>
                                          <p:spTgt spid="8">
                                            <p:txEl>
                                              <p:pRg st="9" end="9"/>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6" presetClass="emph" presetSubtype="0" fill="hold" grpId="0" nodeType="clickEffect">
                                  <p:stCondLst>
                                    <p:cond delay="0"/>
                                  </p:stCondLst>
                                  <p:childTnLst>
                                    <p:animEffect transition="out" filter="fade">
                                      <p:cBhvr>
                                        <p:cTn id="45" dur="500" tmFilter="0, 0; .2, .5; .8, .5; 1, 0"/>
                                        <p:tgtEl>
                                          <p:spTgt spid="8">
                                            <p:txEl>
                                              <p:pRg st="0" end="0"/>
                                            </p:txEl>
                                          </p:spTgt>
                                        </p:tgtEl>
                                      </p:cBhvr>
                                    </p:animEffect>
                                    <p:animScale>
                                      <p:cBhvr>
                                        <p:cTn id="46" dur="250" autoRev="1" fill="hold"/>
                                        <p:tgtEl>
                                          <p:spTgt spid="8">
                                            <p:txEl>
                                              <p:pRg st="0" end="0"/>
                                            </p:txEl>
                                          </p:spTgt>
                                        </p:tgtEl>
                                      </p:cBhvr>
                                      <p:by x="105000" y="105000"/>
                                    </p:animScale>
                                  </p:childTnLst>
                                </p:cTn>
                              </p:par>
                            </p:childTnLst>
                          </p:cTn>
                        </p:par>
                      </p:childTnLst>
                    </p:cTn>
                  </p:par>
                  <p:par>
                    <p:cTn id="47" fill="hold">
                      <p:stCondLst>
                        <p:cond delay="indefinite"/>
                      </p:stCondLst>
                      <p:childTnLst>
                        <p:par>
                          <p:cTn id="48" fill="hold">
                            <p:stCondLst>
                              <p:cond delay="0"/>
                            </p:stCondLst>
                            <p:childTnLst>
                              <p:par>
                                <p:cTn id="49" presetID="26" presetClass="emph" presetSubtype="0" fill="hold" grpId="0" nodeType="clickEffect">
                                  <p:stCondLst>
                                    <p:cond delay="0"/>
                                  </p:stCondLst>
                                  <p:childTnLst>
                                    <p:animEffect transition="out" filter="fade">
                                      <p:cBhvr>
                                        <p:cTn id="50" dur="500" tmFilter="0, 0; .2, .5; .8, .5; 1, 0"/>
                                        <p:tgtEl>
                                          <p:spTgt spid="8">
                                            <p:txEl>
                                              <p:pRg st="1" end="1"/>
                                            </p:txEl>
                                          </p:spTgt>
                                        </p:tgtEl>
                                      </p:cBhvr>
                                    </p:animEffect>
                                    <p:animScale>
                                      <p:cBhvr>
                                        <p:cTn id="51" dur="250" autoRev="1" fill="hold"/>
                                        <p:tgtEl>
                                          <p:spTgt spid="8">
                                            <p:txEl>
                                              <p:pRg st="1" end="1"/>
                                            </p:txEl>
                                          </p:spTgt>
                                        </p:tgtEl>
                                      </p:cBhvr>
                                      <p:by x="105000" y="105000"/>
                                    </p:animScale>
                                  </p:childTnLst>
                                </p:cTn>
                              </p:par>
                            </p:childTnLst>
                          </p:cTn>
                        </p:par>
                      </p:childTnLst>
                    </p:cTn>
                  </p:par>
                  <p:par>
                    <p:cTn id="52" fill="hold">
                      <p:stCondLst>
                        <p:cond delay="indefinite"/>
                      </p:stCondLst>
                      <p:childTnLst>
                        <p:par>
                          <p:cTn id="53" fill="hold">
                            <p:stCondLst>
                              <p:cond delay="0"/>
                            </p:stCondLst>
                            <p:childTnLst>
                              <p:par>
                                <p:cTn id="54" presetID="26" presetClass="emph" presetSubtype="0" fill="hold" grpId="0" nodeType="clickEffect">
                                  <p:stCondLst>
                                    <p:cond delay="0"/>
                                  </p:stCondLst>
                                  <p:childTnLst>
                                    <p:animEffect transition="out" filter="fade">
                                      <p:cBhvr>
                                        <p:cTn id="55" dur="500" tmFilter="0, 0; .2, .5; .8, .5; 1, 0"/>
                                        <p:tgtEl>
                                          <p:spTgt spid="8">
                                            <p:txEl>
                                              <p:pRg st="2" end="2"/>
                                            </p:txEl>
                                          </p:spTgt>
                                        </p:tgtEl>
                                      </p:cBhvr>
                                    </p:animEffect>
                                    <p:animScale>
                                      <p:cBhvr>
                                        <p:cTn id="56" dur="250" autoRev="1" fill="hold"/>
                                        <p:tgtEl>
                                          <p:spTgt spid="8">
                                            <p:txEl>
                                              <p:pRg st="2" end="2"/>
                                            </p:txEl>
                                          </p:spTgt>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26" presetClass="emph" presetSubtype="0" fill="hold" grpId="0" nodeType="clickEffect">
                                  <p:stCondLst>
                                    <p:cond delay="0"/>
                                  </p:stCondLst>
                                  <p:childTnLst>
                                    <p:animEffect transition="out" filter="fade">
                                      <p:cBhvr>
                                        <p:cTn id="60" dur="500" tmFilter="0, 0; .2, .5; .8, .5; 1, 0"/>
                                        <p:tgtEl>
                                          <p:spTgt spid="8">
                                            <p:txEl>
                                              <p:pRg st="3" end="3"/>
                                            </p:txEl>
                                          </p:spTgt>
                                        </p:tgtEl>
                                      </p:cBhvr>
                                    </p:animEffect>
                                    <p:animScale>
                                      <p:cBhvr>
                                        <p:cTn id="61" dur="250" autoRev="1" fill="hold"/>
                                        <p:tgtEl>
                                          <p:spTgt spid="8">
                                            <p:txEl>
                                              <p:pRg st="3" end="3"/>
                                            </p:txEl>
                                          </p:spTgt>
                                        </p:tgtEl>
                                      </p:cBhvr>
                                      <p:by x="105000" y="105000"/>
                                    </p:animScale>
                                  </p:childTnLst>
                                </p:cTn>
                              </p:par>
                            </p:childTnLst>
                          </p:cTn>
                        </p:par>
                      </p:childTnLst>
                    </p:cTn>
                  </p:par>
                  <p:par>
                    <p:cTn id="62" fill="hold">
                      <p:stCondLst>
                        <p:cond delay="indefinite"/>
                      </p:stCondLst>
                      <p:childTnLst>
                        <p:par>
                          <p:cTn id="63" fill="hold">
                            <p:stCondLst>
                              <p:cond delay="0"/>
                            </p:stCondLst>
                            <p:childTnLst>
                              <p:par>
                                <p:cTn id="64" presetID="26" presetClass="emph" presetSubtype="0" fill="hold" grpId="0" nodeType="clickEffect">
                                  <p:stCondLst>
                                    <p:cond delay="0"/>
                                  </p:stCondLst>
                                  <p:childTnLst>
                                    <p:animEffect transition="out" filter="fade">
                                      <p:cBhvr>
                                        <p:cTn id="65" dur="500" tmFilter="0, 0; .2, .5; .8, .5; 1, 0"/>
                                        <p:tgtEl>
                                          <p:spTgt spid="8">
                                            <p:txEl>
                                              <p:pRg st="4" end="4"/>
                                            </p:txEl>
                                          </p:spTgt>
                                        </p:tgtEl>
                                      </p:cBhvr>
                                    </p:animEffect>
                                    <p:animScale>
                                      <p:cBhvr>
                                        <p:cTn id="66" dur="250" autoRev="1" fill="hold"/>
                                        <p:tgtEl>
                                          <p:spTgt spid="8">
                                            <p:txEl>
                                              <p:pRg st="4" end="4"/>
                                            </p:txEl>
                                          </p:spTgt>
                                        </p:tgtEl>
                                      </p:cBhvr>
                                      <p:by x="105000" y="105000"/>
                                    </p:animScale>
                                  </p:childTnLst>
                                </p:cTn>
                              </p:par>
                            </p:childTnLst>
                          </p:cTn>
                        </p:par>
                      </p:childTnLst>
                    </p:cTn>
                  </p:par>
                  <p:par>
                    <p:cTn id="67" fill="hold">
                      <p:stCondLst>
                        <p:cond delay="indefinite"/>
                      </p:stCondLst>
                      <p:childTnLst>
                        <p:par>
                          <p:cTn id="68" fill="hold">
                            <p:stCondLst>
                              <p:cond delay="0"/>
                            </p:stCondLst>
                            <p:childTnLst>
                              <p:par>
                                <p:cTn id="69" presetID="26" presetClass="emph" presetSubtype="0" fill="hold" grpId="0" nodeType="clickEffect">
                                  <p:stCondLst>
                                    <p:cond delay="0"/>
                                  </p:stCondLst>
                                  <p:childTnLst>
                                    <p:animEffect transition="out" filter="fade">
                                      <p:cBhvr>
                                        <p:cTn id="70" dur="500" tmFilter="0, 0; .2, .5; .8, .5; 1, 0"/>
                                        <p:tgtEl>
                                          <p:spTgt spid="8">
                                            <p:txEl>
                                              <p:pRg st="5" end="5"/>
                                            </p:txEl>
                                          </p:spTgt>
                                        </p:tgtEl>
                                      </p:cBhvr>
                                    </p:animEffect>
                                    <p:animScale>
                                      <p:cBhvr>
                                        <p:cTn id="71" dur="250" autoRev="1" fill="hold"/>
                                        <p:tgtEl>
                                          <p:spTgt spid="8">
                                            <p:txEl>
                                              <p:pRg st="5" end="5"/>
                                            </p:txEl>
                                          </p:spTgt>
                                        </p:tgtEl>
                                      </p:cBhvr>
                                      <p:by x="105000" y="105000"/>
                                    </p:animScale>
                                  </p:childTnLst>
                                </p:cTn>
                              </p:par>
                            </p:childTnLst>
                          </p:cTn>
                        </p:par>
                      </p:childTnLst>
                    </p:cTn>
                  </p:par>
                  <p:par>
                    <p:cTn id="72" fill="hold">
                      <p:stCondLst>
                        <p:cond delay="indefinite"/>
                      </p:stCondLst>
                      <p:childTnLst>
                        <p:par>
                          <p:cTn id="73" fill="hold">
                            <p:stCondLst>
                              <p:cond delay="0"/>
                            </p:stCondLst>
                            <p:childTnLst>
                              <p:par>
                                <p:cTn id="74" presetID="26" presetClass="emph" presetSubtype="0" fill="hold" grpId="0" nodeType="clickEffect">
                                  <p:stCondLst>
                                    <p:cond delay="0"/>
                                  </p:stCondLst>
                                  <p:childTnLst>
                                    <p:animEffect transition="out" filter="fade">
                                      <p:cBhvr>
                                        <p:cTn id="75" dur="500" tmFilter="0, 0; .2, .5; .8, .5; 1, 0"/>
                                        <p:tgtEl>
                                          <p:spTgt spid="8">
                                            <p:txEl>
                                              <p:pRg st="6" end="6"/>
                                            </p:txEl>
                                          </p:spTgt>
                                        </p:tgtEl>
                                      </p:cBhvr>
                                    </p:animEffect>
                                    <p:animScale>
                                      <p:cBhvr>
                                        <p:cTn id="76" dur="250" autoRev="1" fill="hold"/>
                                        <p:tgtEl>
                                          <p:spTgt spid="8">
                                            <p:txEl>
                                              <p:pRg st="6" end="6"/>
                                            </p:txEl>
                                          </p:spTgt>
                                        </p:tgtEl>
                                      </p:cBhvr>
                                      <p:by x="105000" y="105000"/>
                                    </p:animScale>
                                  </p:childTnLst>
                                </p:cTn>
                              </p:par>
                            </p:childTnLst>
                          </p:cTn>
                        </p:par>
                      </p:childTnLst>
                    </p:cTn>
                  </p:par>
                  <p:par>
                    <p:cTn id="77" fill="hold">
                      <p:stCondLst>
                        <p:cond delay="indefinite"/>
                      </p:stCondLst>
                      <p:childTnLst>
                        <p:par>
                          <p:cTn id="78" fill="hold">
                            <p:stCondLst>
                              <p:cond delay="0"/>
                            </p:stCondLst>
                            <p:childTnLst>
                              <p:par>
                                <p:cTn id="79" presetID="26" presetClass="emph" presetSubtype="0" fill="hold" grpId="0" nodeType="clickEffect">
                                  <p:stCondLst>
                                    <p:cond delay="0"/>
                                  </p:stCondLst>
                                  <p:childTnLst>
                                    <p:animEffect transition="out" filter="fade">
                                      <p:cBhvr>
                                        <p:cTn id="80" dur="500" tmFilter="0, 0; .2, .5; .8, .5; 1, 0"/>
                                        <p:tgtEl>
                                          <p:spTgt spid="8">
                                            <p:txEl>
                                              <p:pRg st="7" end="7"/>
                                            </p:txEl>
                                          </p:spTgt>
                                        </p:tgtEl>
                                      </p:cBhvr>
                                    </p:animEffect>
                                    <p:animScale>
                                      <p:cBhvr>
                                        <p:cTn id="81" dur="250" autoRev="1" fill="hold"/>
                                        <p:tgtEl>
                                          <p:spTgt spid="8">
                                            <p:txEl>
                                              <p:pRg st="7" end="7"/>
                                            </p:txEl>
                                          </p:spTgt>
                                        </p:tgtEl>
                                      </p:cBhvr>
                                      <p:by x="105000" y="105000"/>
                                    </p:animScale>
                                  </p:childTnLst>
                                </p:cTn>
                              </p:par>
                            </p:childTnLst>
                          </p:cTn>
                        </p:par>
                      </p:childTnLst>
                    </p:cTn>
                  </p:par>
                  <p:par>
                    <p:cTn id="82" fill="hold">
                      <p:stCondLst>
                        <p:cond delay="indefinite"/>
                      </p:stCondLst>
                      <p:childTnLst>
                        <p:par>
                          <p:cTn id="83" fill="hold">
                            <p:stCondLst>
                              <p:cond delay="0"/>
                            </p:stCondLst>
                            <p:childTnLst>
                              <p:par>
                                <p:cTn id="84" presetID="26" presetClass="emph" presetSubtype="0" fill="hold" grpId="0" nodeType="clickEffect">
                                  <p:stCondLst>
                                    <p:cond delay="0"/>
                                  </p:stCondLst>
                                  <p:childTnLst>
                                    <p:animEffect transition="out" filter="fade">
                                      <p:cBhvr>
                                        <p:cTn id="85" dur="500" tmFilter="0, 0; .2, .5; .8, .5; 1, 0"/>
                                        <p:tgtEl>
                                          <p:spTgt spid="8">
                                            <p:txEl>
                                              <p:pRg st="8" end="8"/>
                                            </p:txEl>
                                          </p:spTgt>
                                        </p:tgtEl>
                                      </p:cBhvr>
                                    </p:animEffect>
                                    <p:animScale>
                                      <p:cBhvr>
                                        <p:cTn id="86" dur="250" autoRev="1" fill="hold"/>
                                        <p:tgtEl>
                                          <p:spTgt spid="8">
                                            <p:txEl>
                                              <p:pRg st="8" end="8"/>
                                            </p:txEl>
                                          </p:spTgt>
                                        </p:tgtEl>
                                      </p:cBhvr>
                                      <p:by x="105000" y="105000"/>
                                    </p:animScale>
                                  </p:childTnLst>
                                </p:cTn>
                              </p:par>
                            </p:childTnLst>
                          </p:cTn>
                        </p:par>
                      </p:childTnLst>
                    </p:cTn>
                  </p:par>
                  <p:par>
                    <p:cTn id="87" fill="hold">
                      <p:stCondLst>
                        <p:cond delay="indefinite"/>
                      </p:stCondLst>
                      <p:childTnLst>
                        <p:par>
                          <p:cTn id="88" fill="hold">
                            <p:stCondLst>
                              <p:cond delay="0"/>
                            </p:stCondLst>
                            <p:childTnLst>
                              <p:par>
                                <p:cTn id="89" presetID="26" presetClass="emph" presetSubtype="0" fill="hold" grpId="0" nodeType="clickEffect">
                                  <p:stCondLst>
                                    <p:cond delay="0"/>
                                  </p:stCondLst>
                                  <p:childTnLst>
                                    <p:animEffect transition="out" filter="fade">
                                      <p:cBhvr>
                                        <p:cTn id="90" dur="500" tmFilter="0, 0; .2, .5; .8, .5; 1, 0"/>
                                        <p:tgtEl>
                                          <p:spTgt spid="8">
                                            <p:txEl>
                                              <p:pRg st="9" end="9"/>
                                            </p:txEl>
                                          </p:spTgt>
                                        </p:tgtEl>
                                      </p:cBhvr>
                                    </p:animEffect>
                                    <p:animScale>
                                      <p:cBhvr>
                                        <p:cTn id="91" dur="250" autoRev="1" fill="hold"/>
                                        <p:tgtEl>
                                          <p:spTgt spid="8">
                                            <p:txEl>
                                              <p:pRg st="9" end="9"/>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build="p"/>
      <p:bldP spid="8" grpId="1"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B628D8-8DDD-2765-C0CC-4CE571402AB4}"/>
              </a:ext>
            </a:extLst>
          </p:cNvPr>
          <p:cNvPicPr>
            <a:picLocks noChangeAspect="1"/>
          </p:cNvPicPr>
          <p:nvPr/>
        </p:nvPicPr>
        <p:blipFill>
          <a:blip r:embed="rId2"/>
          <a:stretch>
            <a:fillRect/>
          </a:stretch>
        </p:blipFill>
        <p:spPr>
          <a:xfrm>
            <a:off x="-32318" y="0"/>
            <a:ext cx="12256635" cy="6858000"/>
          </a:xfrm>
          <a:prstGeom prst="rect">
            <a:avLst/>
          </a:prstGeom>
        </p:spPr>
      </p:pic>
    </p:spTree>
    <p:extLst>
      <p:ext uri="{BB962C8B-B14F-4D97-AF65-F5344CB8AC3E}">
        <p14:creationId xmlns:p14="http://schemas.microsoft.com/office/powerpoint/2010/main" val="4130556002"/>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A827C163-A978-940F-9AB5-D60422E547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473" t="9965" r="18473" b="5532"/>
          <a:stretch/>
        </p:blipFill>
        <p:spPr bwMode="auto">
          <a:xfrm>
            <a:off x="1497752" y="206586"/>
            <a:ext cx="7687735" cy="516466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6B4EEC51-0CC7-1763-FE37-FADEB69B83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688" t="19412" r="20875" b="34429"/>
          <a:stretch/>
        </p:blipFill>
        <p:spPr bwMode="auto">
          <a:xfrm>
            <a:off x="449000" y="2498280"/>
            <a:ext cx="7637244" cy="298955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background with a couple of letters&#10;&#10;Description automatically generated">
            <a:extLst>
              <a:ext uri="{FF2B5EF4-FFF2-40B4-BE49-F238E27FC236}">
                <a16:creationId xmlns:a16="http://schemas.microsoft.com/office/drawing/2014/main" id="{ED5AC795-C578-C266-A262-B59D721FE4B5}"/>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contrast="7000"/>
                    </a14:imgEffect>
                  </a14:imgLayer>
                </a14:imgProps>
              </a:ext>
            </a:extLst>
          </a:blip>
          <a:stretch>
            <a:fillRect/>
          </a:stretch>
        </p:blipFill>
        <p:spPr>
          <a:xfrm>
            <a:off x="9723644" y="1221869"/>
            <a:ext cx="1656921" cy="224931"/>
          </a:xfrm>
          <a:prstGeom prst="rect">
            <a:avLst/>
          </a:prstGeom>
        </p:spPr>
      </p:pic>
      <p:pic>
        <p:nvPicPr>
          <p:cNvPr id="7" name="Picture 6">
            <a:extLst>
              <a:ext uri="{FF2B5EF4-FFF2-40B4-BE49-F238E27FC236}">
                <a16:creationId xmlns:a16="http://schemas.microsoft.com/office/drawing/2014/main" id="{AABFFE97-0746-A3C1-623C-EA37A11D8E69}"/>
              </a:ext>
            </a:extLst>
          </p:cNvPr>
          <p:cNvPicPr>
            <a:picLocks noChangeAspect="1"/>
          </p:cNvPicPr>
          <p:nvPr/>
        </p:nvPicPr>
        <p:blipFill>
          <a:blip r:embed="rId6"/>
          <a:stretch>
            <a:fillRect/>
          </a:stretch>
        </p:blipFill>
        <p:spPr>
          <a:xfrm>
            <a:off x="6257926" y="2254759"/>
            <a:ext cx="5660798" cy="3757888"/>
          </a:xfrm>
          <a:prstGeom prst="rect">
            <a:avLst/>
          </a:prstGeom>
        </p:spPr>
      </p:pic>
    </p:spTree>
    <p:extLst>
      <p:ext uri="{BB962C8B-B14F-4D97-AF65-F5344CB8AC3E}">
        <p14:creationId xmlns:p14="http://schemas.microsoft.com/office/powerpoint/2010/main" val="28149254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72"/>
                                        </p:tgtEl>
                                        <p:attrNameLst>
                                          <p:attrName>style.visibility</p:attrName>
                                        </p:attrNameLst>
                                      </p:cBhvr>
                                      <p:to>
                                        <p:strVal val="visible"/>
                                      </p:to>
                                    </p:set>
                                    <p:animEffect transition="in" filter="fade">
                                      <p:cBhvr>
                                        <p:cTn id="12" dur="500"/>
                                        <p:tgtEl>
                                          <p:spTgt spid="71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logo&#10;&#10;Description automatically generated">
            <a:extLst>
              <a:ext uri="{FF2B5EF4-FFF2-40B4-BE49-F238E27FC236}">
                <a16:creationId xmlns:a16="http://schemas.microsoft.com/office/drawing/2014/main" id="{B579AC9D-D7FD-A3C9-0ED3-247308EBE881}"/>
              </a:ext>
            </a:extLst>
          </p:cNvPr>
          <p:cNvPicPr>
            <a:picLocks noChangeAspect="1"/>
          </p:cNvPicPr>
          <p:nvPr/>
        </p:nvPicPr>
        <p:blipFill>
          <a:blip r:embed="rId3"/>
          <a:stretch>
            <a:fillRect/>
          </a:stretch>
        </p:blipFill>
        <p:spPr>
          <a:xfrm>
            <a:off x="1700187" y="1934539"/>
            <a:ext cx="3197572" cy="852687"/>
          </a:xfrm>
          <a:prstGeom prst="rect">
            <a:avLst/>
          </a:prstGeom>
        </p:spPr>
      </p:pic>
      <p:sp>
        <p:nvSpPr>
          <p:cNvPr id="2" name="Rectangle 1">
            <a:extLst>
              <a:ext uri="{FF2B5EF4-FFF2-40B4-BE49-F238E27FC236}">
                <a16:creationId xmlns:a16="http://schemas.microsoft.com/office/drawing/2014/main" id="{4C8E3167-B70B-2B09-6692-41B38438EBC2}"/>
              </a:ext>
            </a:extLst>
          </p:cNvPr>
          <p:cNvSpPr/>
          <p:nvPr/>
        </p:nvSpPr>
        <p:spPr>
          <a:xfrm>
            <a:off x="6948377" y="1"/>
            <a:ext cx="5243624" cy="6858000"/>
          </a:xfrm>
          <a:prstGeom prst="rect">
            <a:avLst/>
          </a:prstGeom>
          <a:gradFill>
            <a:gsLst>
              <a:gs pos="0">
                <a:srgbClr val="3577D3"/>
              </a:gs>
              <a:gs pos="100000">
                <a:srgbClr val="00B0F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Box 6">
            <a:extLst>
              <a:ext uri="{FF2B5EF4-FFF2-40B4-BE49-F238E27FC236}">
                <a16:creationId xmlns:a16="http://schemas.microsoft.com/office/drawing/2014/main" id="{84C875E1-BDC5-3970-CE64-7C2BCA25E65B}"/>
              </a:ext>
            </a:extLst>
          </p:cNvPr>
          <p:cNvSpPr txBox="1"/>
          <p:nvPr/>
        </p:nvSpPr>
        <p:spPr>
          <a:xfrm>
            <a:off x="6522632" y="901137"/>
            <a:ext cx="6095114" cy="1754326"/>
          </a:xfrm>
          <a:prstGeom prst="rect">
            <a:avLst/>
          </a:prstGeom>
          <a:noFill/>
        </p:spPr>
        <p:txBody>
          <a:bodyPr wrap="square">
            <a:spAutoFit/>
          </a:bodyPr>
          <a:lstStyle/>
          <a:p>
            <a:pPr algn="ctr"/>
            <a:r>
              <a:rPr lang="en-CA" sz="3600" b="1" i="0" dirty="0">
                <a:effectLst/>
                <a:latin typeface="Just sans" panose="00000500000000000000" pitchFamily="50" charset="0"/>
              </a:rPr>
              <a:t>What They Offer</a:t>
            </a:r>
          </a:p>
          <a:p>
            <a:br>
              <a:rPr lang="en-CA" sz="3600" dirty="0"/>
            </a:br>
            <a:endParaRPr lang="en-CA" sz="3600" dirty="0"/>
          </a:p>
        </p:txBody>
      </p:sp>
      <p:sp>
        <p:nvSpPr>
          <p:cNvPr id="11" name="TextBox 10">
            <a:extLst>
              <a:ext uri="{FF2B5EF4-FFF2-40B4-BE49-F238E27FC236}">
                <a16:creationId xmlns:a16="http://schemas.microsoft.com/office/drawing/2014/main" id="{C6D30B29-9705-D76A-9DA1-341523B4BB85}"/>
              </a:ext>
            </a:extLst>
          </p:cNvPr>
          <p:cNvSpPr txBox="1"/>
          <p:nvPr/>
        </p:nvSpPr>
        <p:spPr>
          <a:xfrm>
            <a:off x="111642" y="95924"/>
            <a:ext cx="6095114" cy="1077218"/>
          </a:xfrm>
          <a:prstGeom prst="rect">
            <a:avLst/>
          </a:prstGeom>
          <a:noFill/>
        </p:spPr>
        <p:txBody>
          <a:bodyPr wrap="square">
            <a:spAutoFit/>
          </a:bodyPr>
          <a:lstStyle/>
          <a:p>
            <a:r>
              <a:rPr lang="en-CA" sz="3200" b="1" dirty="0">
                <a:solidFill>
                  <a:srgbClr val="3577D3"/>
                </a:solidFill>
                <a:latin typeface="Just sans exbold" panose="00000900000000000000" pitchFamily="50" charset="0"/>
              </a:rPr>
              <a:t>Piscataway, </a:t>
            </a:r>
          </a:p>
          <a:p>
            <a:r>
              <a:rPr lang="en-CA" sz="3200" b="1" dirty="0">
                <a:solidFill>
                  <a:srgbClr val="3577D3"/>
                </a:solidFill>
                <a:latin typeface="Just sans exbold" panose="00000900000000000000" pitchFamily="50" charset="0"/>
              </a:rPr>
              <a:t>NJ</a:t>
            </a:r>
          </a:p>
        </p:txBody>
      </p:sp>
      <p:sp>
        <p:nvSpPr>
          <p:cNvPr id="13" name="TextBox 12">
            <a:extLst>
              <a:ext uri="{FF2B5EF4-FFF2-40B4-BE49-F238E27FC236}">
                <a16:creationId xmlns:a16="http://schemas.microsoft.com/office/drawing/2014/main" id="{4AE2DD7B-B199-A029-3200-125693DC56D7}"/>
              </a:ext>
            </a:extLst>
          </p:cNvPr>
          <p:cNvSpPr txBox="1"/>
          <p:nvPr/>
        </p:nvSpPr>
        <p:spPr>
          <a:xfrm>
            <a:off x="75314" y="2911031"/>
            <a:ext cx="6682562" cy="707886"/>
          </a:xfrm>
          <a:prstGeom prst="rect">
            <a:avLst/>
          </a:prstGeom>
          <a:noFill/>
        </p:spPr>
        <p:txBody>
          <a:bodyPr wrap="square">
            <a:spAutoFit/>
          </a:bodyPr>
          <a:lstStyle/>
          <a:p>
            <a:pPr algn="ctr"/>
            <a:r>
              <a:rPr lang="en-US" sz="2000" b="1" i="0" dirty="0">
                <a:solidFill>
                  <a:srgbClr val="3577D3"/>
                </a:solidFill>
                <a:effectLst/>
                <a:latin typeface="Just sans exbold" panose="00000900000000000000" pitchFamily="50" charset="0"/>
              </a:rPr>
              <a:t>“The Swag Platform For The Modern Workplace</a:t>
            </a:r>
          </a:p>
          <a:p>
            <a:pPr algn="ctr"/>
            <a:r>
              <a:rPr lang="en-US" sz="2000" b="0" i="0" dirty="0">
                <a:solidFill>
                  <a:srgbClr val="3577D3"/>
                </a:solidFill>
                <a:effectLst/>
                <a:latin typeface="Just sans" panose="00000500000000000000" pitchFamily="50" charset="0"/>
              </a:rPr>
              <a:t>Create, Automate &amp; Distribute Swag Globally”</a:t>
            </a:r>
          </a:p>
        </p:txBody>
      </p:sp>
      <p:pic>
        <p:nvPicPr>
          <p:cNvPr id="17" name="Picture 16">
            <a:extLst>
              <a:ext uri="{FF2B5EF4-FFF2-40B4-BE49-F238E27FC236}">
                <a16:creationId xmlns:a16="http://schemas.microsoft.com/office/drawing/2014/main" id="{CC0AECE7-FCF0-A5E7-374B-24B5E2C49ADD}"/>
              </a:ext>
            </a:extLst>
          </p:cNvPr>
          <p:cNvPicPr>
            <a:picLocks noChangeAspect="1"/>
          </p:cNvPicPr>
          <p:nvPr/>
        </p:nvPicPr>
        <p:blipFill>
          <a:blip r:embed="rId4"/>
          <a:stretch>
            <a:fillRect/>
          </a:stretch>
        </p:blipFill>
        <p:spPr>
          <a:xfrm>
            <a:off x="1925182" y="3866527"/>
            <a:ext cx="2970420" cy="1226262"/>
          </a:xfrm>
          <a:prstGeom prst="rect">
            <a:avLst/>
          </a:prstGeom>
          <a:noFill/>
          <a:ln w="38100">
            <a:gradFill>
              <a:gsLst>
                <a:gs pos="25000">
                  <a:srgbClr val="3577D3"/>
                </a:gs>
                <a:gs pos="100000">
                  <a:srgbClr val="00B0F0"/>
                </a:gs>
              </a:gsLst>
              <a:lin ang="5400000" scaled="1"/>
            </a:gradFill>
          </a:ln>
        </p:spPr>
      </p:pic>
      <p:sp>
        <p:nvSpPr>
          <p:cNvPr id="18" name="TextBox 17">
            <a:extLst>
              <a:ext uri="{FF2B5EF4-FFF2-40B4-BE49-F238E27FC236}">
                <a16:creationId xmlns:a16="http://schemas.microsoft.com/office/drawing/2014/main" id="{505E543C-878D-FC38-2B98-52DEC0035F6A}"/>
              </a:ext>
            </a:extLst>
          </p:cNvPr>
          <p:cNvSpPr txBox="1"/>
          <p:nvPr/>
        </p:nvSpPr>
        <p:spPr>
          <a:xfrm>
            <a:off x="7292828" y="1831787"/>
            <a:ext cx="4737247" cy="3897349"/>
          </a:xfrm>
          <a:prstGeom prst="rect">
            <a:avLst/>
          </a:prstGeom>
          <a:noFill/>
        </p:spPr>
        <p:txBody>
          <a:bodyPr wrap="square">
            <a:spAutoFit/>
          </a:bodyPr>
          <a:lstStyle/>
          <a:p>
            <a:pPr marL="571500" indent="-571500">
              <a:lnSpc>
                <a:spcPct val="150000"/>
              </a:lnSpc>
              <a:buFont typeface="Wingdings" panose="05000000000000000000" pitchFamily="2" charset="2"/>
              <a:buChar char="§"/>
            </a:pPr>
            <a:r>
              <a:rPr lang="en-CA" sz="2800" dirty="0">
                <a:latin typeface="Just sans" panose="00000500000000000000" pitchFamily="50" charset="0"/>
              </a:rPr>
              <a:t>Free platform</a:t>
            </a:r>
          </a:p>
          <a:p>
            <a:pPr marL="571500" indent="-571500">
              <a:lnSpc>
                <a:spcPct val="150000"/>
              </a:lnSpc>
              <a:buFont typeface="Wingdings" panose="05000000000000000000" pitchFamily="2" charset="2"/>
              <a:buChar char="§"/>
            </a:pPr>
            <a:r>
              <a:rPr lang="en-CA" sz="2800" dirty="0">
                <a:latin typeface="Just sans" panose="00000500000000000000" pitchFamily="50" charset="0"/>
              </a:rPr>
              <a:t>Design</a:t>
            </a:r>
          </a:p>
          <a:p>
            <a:pPr marL="571500" indent="-571500">
              <a:lnSpc>
                <a:spcPct val="150000"/>
              </a:lnSpc>
              <a:buFont typeface="Wingdings" panose="05000000000000000000" pitchFamily="2" charset="2"/>
              <a:buChar char="§"/>
            </a:pPr>
            <a:r>
              <a:rPr lang="en-CA" sz="2800" dirty="0">
                <a:latin typeface="Just sans" panose="00000500000000000000" pitchFamily="50" charset="0"/>
              </a:rPr>
              <a:t>Storage</a:t>
            </a:r>
          </a:p>
          <a:p>
            <a:pPr marL="571500" indent="-571500">
              <a:lnSpc>
                <a:spcPct val="150000"/>
              </a:lnSpc>
              <a:buFont typeface="Wingdings" panose="05000000000000000000" pitchFamily="2" charset="2"/>
              <a:buChar char="§"/>
            </a:pPr>
            <a:r>
              <a:rPr lang="en-CA" sz="2800" dirty="0">
                <a:latin typeface="Just sans" panose="00000500000000000000" pitchFamily="50" charset="0"/>
              </a:rPr>
              <a:t>Assemble</a:t>
            </a:r>
          </a:p>
          <a:p>
            <a:pPr marL="571500" indent="-571500">
              <a:lnSpc>
                <a:spcPct val="150000"/>
              </a:lnSpc>
              <a:buFont typeface="Wingdings" panose="05000000000000000000" pitchFamily="2" charset="2"/>
              <a:buChar char="§"/>
            </a:pPr>
            <a:r>
              <a:rPr lang="en-CA" sz="2800" dirty="0">
                <a:latin typeface="Just sans" panose="00000500000000000000" pitchFamily="50" charset="0"/>
              </a:rPr>
              <a:t>Ship</a:t>
            </a:r>
          </a:p>
          <a:p>
            <a:pPr marL="571500" indent="-571500">
              <a:lnSpc>
                <a:spcPct val="150000"/>
              </a:lnSpc>
              <a:buFont typeface="Wingdings" panose="05000000000000000000" pitchFamily="2" charset="2"/>
              <a:buChar char="§"/>
            </a:pPr>
            <a:r>
              <a:rPr lang="en-CA" sz="2800" dirty="0">
                <a:latin typeface="Just sans" panose="00000500000000000000" pitchFamily="50" charset="0"/>
              </a:rPr>
              <a:t>Swag Storefront</a:t>
            </a:r>
          </a:p>
        </p:txBody>
      </p:sp>
    </p:spTree>
    <p:extLst>
      <p:ext uri="{BB962C8B-B14F-4D97-AF65-F5344CB8AC3E}">
        <p14:creationId xmlns:p14="http://schemas.microsoft.com/office/powerpoint/2010/main" val="23670906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8">
                                            <p:txEl>
                                              <p:pRg st="0" end="0"/>
                                            </p:txEl>
                                          </p:spTgt>
                                        </p:tgtEl>
                                        <p:attrNameLst>
                                          <p:attrName>style.visibility</p:attrName>
                                        </p:attrNameLst>
                                      </p:cBhvr>
                                      <p:to>
                                        <p:strVal val="visible"/>
                                      </p:to>
                                    </p:set>
                                    <p:animEffect transition="in" filter="fade">
                                      <p:cBhvr>
                                        <p:cTn id="30" dur="500"/>
                                        <p:tgtEl>
                                          <p:spTgt spid="18">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xEl>
                                              <p:pRg st="1" end="1"/>
                                            </p:txEl>
                                          </p:spTgt>
                                        </p:tgtEl>
                                        <p:attrNameLst>
                                          <p:attrName>style.visibility</p:attrName>
                                        </p:attrNameLst>
                                      </p:cBhvr>
                                      <p:to>
                                        <p:strVal val="visible"/>
                                      </p:to>
                                    </p:set>
                                    <p:animEffect transition="in" filter="fade">
                                      <p:cBhvr>
                                        <p:cTn id="35" dur="500"/>
                                        <p:tgtEl>
                                          <p:spTgt spid="18">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xEl>
                                              <p:pRg st="2" end="2"/>
                                            </p:txEl>
                                          </p:spTgt>
                                        </p:tgtEl>
                                        <p:attrNameLst>
                                          <p:attrName>style.visibility</p:attrName>
                                        </p:attrNameLst>
                                      </p:cBhvr>
                                      <p:to>
                                        <p:strVal val="visible"/>
                                      </p:to>
                                    </p:set>
                                    <p:animEffect transition="in" filter="fade">
                                      <p:cBhvr>
                                        <p:cTn id="40" dur="500"/>
                                        <p:tgtEl>
                                          <p:spTgt spid="18">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xEl>
                                              <p:pRg st="3" end="3"/>
                                            </p:txEl>
                                          </p:spTgt>
                                        </p:tgtEl>
                                        <p:attrNameLst>
                                          <p:attrName>style.visibility</p:attrName>
                                        </p:attrNameLst>
                                      </p:cBhvr>
                                      <p:to>
                                        <p:strVal val="visible"/>
                                      </p:to>
                                    </p:set>
                                    <p:animEffect transition="in" filter="fade">
                                      <p:cBhvr>
                                        <p:cTn id="45" dur="500"/>
                                        <p:tgtEl>
                                          <p:spTgt spid="18">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8">
                                            <p:txEl>
                                              <p:pRg st="4" end="4"/>
                                            </p:txEl>
                                          </p:spTgt>
                                        </p:tgtEl>
                                        <p:attrNameLst>
                                          <p:attrName>style.visibility</p:attrName>
                                        </p:attrNameLst>
                                      </p:cBhvr>
                                      <p:to>
                                        <p:strVal val="visible"/>
                                      </p:to>
                                    </p:set>
                                    <p:animEffect transition="in" filter="fade">
                                      <p:cBhvr>
                                        <p:cTn id="50" dur="500"/>
                                        <p:tgtEl>
                                          <p:spTgt spid="18">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8">
                                            <p:txEl>
                                              <p:pRg st="5" end="5"/>
                                            </p:txEl>
                                          </p:spTgt>
                                        </p:tgtEl>
                                        <p:attrNameLst>
                                          <p:attrName>style.visibility</p:attrName>
                                        </p:attrNameLst>
                                      </p:cBhvr>
                                      <p:to>
                                        <p:strVal val="visible"/>
                                      </p:to>
                                    </p:set>
                                    <p:animEffect transition="in" filter="fade">
                                      <p:cBhvr>
                                        <p:cTn id="55" dur="500"/>
                                        <p:tgtEl>
                                          <p:spTgt spid="1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1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8E3167-B70B-2B09-6692-41B38438EBC2}"/>
              </a:ext>
            </a:extLst>
          </p:cNvPr>
          <p:cNvSpPr/>
          <p:nvPr/>
        </p:nvSpPr>
        <p:spPr>
          <a:xfrm>
            <a:off x="1" y="0"/>
            <a:ext cx="2971800" cy="6858000"/>
          </a:xfrm>
          <a:prstGeom prst="rect">
            <a:avLst/>
          </a:prstGeom>
          <a:gradFill>
            <a:gsLst>
              <a:gs pos="0">
                <a:srgbClr val="3577D3"/>
              </a:gs>
              <a:gs pos="100000">
                <a:srgbClr val="00B0F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Box 6">
            <a:extLst>
              <a:ext uri="{FF2B5EF4-FFF2-40B4-BE49-F238E27FC236}">
                <a16:creationId xmlns:a16="http://schemas.microsoft.com/office/drawing/2014/main" id="{84C875E1-BDC5-3970-CE64-7C2BCA25E65B}"/>
              </a:ext>
            </a:extLst>
          </p:cNvPr>
          <p:cNvSpPr txBox="1"/>
          <p:nvPr/>
        </p:nvSpPr>
        <p:spPr>
          <a:xfrm>
            <a:off x="4666910" y="608827"/>
            <a:ext cx="6095114" cy="1938992"/>
          </a:xfrm>
          <a:prstGeom prst="rect">
            <a:avLst/>
          </a:prstGeom>
          <a:noFill/>
        </p:spPr>
        <p:txBody>
          <a:bodyPr wrap="square">
            <a:spAutoFit/>
          </a:bodyPr>
          <a:lstStyle/>
          <a:p>
            <a:pPr algn="ctr"/>
            <a:r>
              <a:rPr lang="en-CA" sz="4800" b="1" dirty="0">
                <a:solidFill>
                  <a:srgbClr val="3577D3"/>
                </a:solidFill>
                <a:latin typeface="Just sans" panose="00000500000000000000" pitchFamily="50" charset="0"/>
              </a:rPr>
              <a:t>Key Takeaways</a:t>
            </a:r>
            <a:endParaRPr lang="en-CA" sz="4800" b="1" i="0" dirty="0">
              <a:solidFill>
                <a:srgbClr val="3577D3"/>
              </a:solidFill>
              <a:effectLst/>
              <a:latin typeface="Just sans" panose="00000500000000000000" pitchFamily="50" charset="0"/>
            </a:endParaRPr>
          </a:p>
          <a:p>
            <a:br>
              <a:rPr lang="en-CA" sz="3600" dirty="0"/>
            </a:br>
            <a:endParaRPr lang="en-CA" sz="3600" dirty="0"/>
          </a:p>
        </p:txBody>
      </p:sp>
      <p:sp>
        <p:nvSpPr>
          <p:cNvPr id="18" name="TextBox 17">
            <a:extLst>
              <a:ext uri="{FF2B5EF4-FFF2-40B4-BE49-F238E27FC236}">
                <a16:creationId xmlns:a16="http://schemas.microsoft.com/office/drawing/2014/main" id="{505E543C-878D-FC38-2B98-52DEC0035F6A}"/>
              </a:ext>
            </a:extLst>
          </p:cNvPr>
          <p:cNvSpPr txBox="1"/>
          <p:nvPr/>
        </p:nvSpPr>
        <p:spPr>
          <a:xfrm>
            <a:off x="3727376" y="1701614"/>
            <a:ext cx="7974182" cy="3897349"/>
          </a:xfrm>
          <a:prstGeom prst="rect">
            <a:avLst/>
          </a:prstGeom>
          <a:noFill/>
        </p:spPr>
        <p:txBody>
          <a:bodyPr wrap="square">
            <a:spAutoFit/>
          </a:bodyPr>
          <a:lstStyle/>
          <a:p>
            <a:pPr marL="571500" indent="-571500">
              <a:lnSpc>
                <a:spcPct val="150000"/>
              </a:lnSpc>
              <a:buFont typeface="Wingdings" panose="05000000000000000000" pitchFamily="2" charset="2"/>
              <a:buChar char="§"/>
            </a:pPr>
            <a:r>
              <a:rPr lang="en-US" sz="2800" dirty="0">
                <a:solidFill>
                  <a:srgbClr val="3577D3"/>
                </a:solidFill>
                <a:latin typeface="Just sans" panose="00000500000000000000" pitchFamily="50" charset="0"/>
              </a:rPr>
              <a:t>3rd Party Item warehousing </a:t>
            </a:r>
          </a:p>
          <a:p>
            <a:pPr marL="571500" indent="-571500">
              <a:lnSpc>
                <a:spcPct val="150000"/>
              </a:lnSpc>
              <a:buFont typeface="Wingdings" panose="05000000000000000000" pitchFamily="2" charset="2"/>
              <a:buChar char="§"/>
            </a:pPr>
            <a:r>
              <a:rPr lang="en-US" sz="2800" dirty="0">
                <a:solidFill>
                  <a:srgbClr val="3577D3"/>
                </a:solidFill>
                <a:latin typeface="Just sans" panose="00000500000000000000" pitchFamily="50" charset="0"/>
              </a:rPr>
              <a:t>Budget allocation ahead of time, before transaction</a:t>
            </a:r>
          </a:p>
          <a:p>
            <a:pPr marL="571500" indent="-571500">
              <a:lnSpc>
                <a:spcPct val="150000"/>
              </a:lnSpc>
              <a:buFont typeface="Wingdings" panose="05000000000000000000" pitchFamily="2" charset="2"/>
              <a:buChar char="§"/>
            </a:pPr>
            <a:r>
              <a:rPr lang="en-US" sz="2800" dirty="0">
                <a:solidFill>
                  <a:srgbClr val="FF0000"/>
                </a:solidFill>
                <a:latin typeface="Just sans" panose="00000500000000000000" pitchFamily="50" charset="0"/>
              </a:rPr>
              <a:t>No access management </a:t>
            </a:r>
          </a:p>
          <a:p>
            <a:pPr marL="571500" indent="-571500">
              <a:lnSpc>
                <a:spcPct val="150000"/>
              </a:lnSpc>
              <a:buFont typeface="Wingdings" panose="05000000000000000000" pitchFamily="2" charset="2"/>
              <a:buChar char="§"/>
            </a:pPr>
            <a:r>
              <a:rPr lang="en-US" sz="2800" dirty="0">
                <a:solidFill>
                  <a:srgbClr val="FF0000"/>
                </a:solidFill>
                <a:latin typeface="Just sans" panose="00000500000000000000" pitchFamily="50" charset="0"/>
              </a:rPr>
              <a:t>Not much information shared on sales call/ post call email</a:t>
            </a:r>
            <a:endParaRPr lang="en-CA" sz="2800" dirty="0">
              <a:solidFill>
                <a:srgbClr val="FF0000"/>
              </a:solidFill>
              <a:latin typeface="Just sans" panose="00000500000000000000" pitchFamily="50" charset="0"/>
            </a:endParaRPr>
          </a:p>
        </p:txBody>
      </p:sp>
      <p:pic>
        <p:nvPicPr>
          <p:cNvPr id="4" name="Picture 3" descr="A blue and black logo&#10;&#10;Description automatically generated">
            <a:extLst>
              <a:ext uri="{FF2B5EF4-FFF2-40B4-BE49-F238E27FC236}">
                <a16:creationId xmlns:a16="http://schemas.microsoft.com/office/drawing/2014/main" id="{B579AC9D-D7FD-A3C9-0ED3-247308EBE88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90442" y="3297299"/>
            <a:ext cx="1990917" cy="530912"/>
          </a:xfrm>
          <a:prstGeom prst="rect">
            <a:avLst/>
          </a:prstGeom>
        </p:spPr>
      </p:pic>
    </p:spTree>
    <p:extLst>
      <p:ext uri="{BB962C8B-B14F-4D97-AF65-F5344CB8AC3E}">
        <p14:creationId xmlns:p14="http://schemas.microsoft.com/office/powerpoint/2010/main" val="108562430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1000"/>
                                        <p:tgtEl>
                                          <p:spTgt spid="18">
                                            <p:txEl>
                                              <p:pRg st="0" end="0"/>
                                            </p:txEl>
                                          </p:spTgt>
                                        </p:tgtEl>
                                      </p:cBhvr>
                                    </p:animEffect>
                                    <p:anim calcmode="lin" valueType="num">
                                      <p:cBhvr>
                                        <p:cTn id="13"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xEl>
                                              <p:pRg st="1" end="1"/>
                                            </p:txEl>
                                          </p:spTgt>
                                        </p:tgtEl>
                                        <p:attrNameLst>
                                          <p:attrName>style.visibility</p:attrName>
                                        </p:attrNameLst>
                                      </p:cBhvr>
                                      <p:to>
                                        <p:strVal val="visible"/>
                                      </p:to>
                                    </p:set>
                                    <p:animEffect transition="in" filter="fade">
                                      <p:cBhvr>
                                        <p:cTn id="19" dur="1000"/>
                                        <p:tgtEl>
                                          <p:spTgt spid="18">
                                            <p:txEl>
                                              <p:pRg st="1" end="1"/>
                                            </p:txEl>
                                          </p:spTgt>
                                        </p:tgtEl>
                                      </p:cBhvr>
                                    </p:animEffect>
                                    <p:anim calcmode="lin" valueType="num">
                                      <p:cBhvr>
                                        <p:cTn id="20" dur="1000" fill="hold"/>
                                        <p:tgtEl>
                                          <p:spTgt spid="18">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8">
                                            <p:txEl>
                                              <p:pRg st="2" end="2"/>
                                            </p:txEl>
                                          </p:spTgt>
                                        </p:tgtEl>
                                        <p:attrNameLst>
                                          <p:attrName>style.visibility</p:attrName>
                                        </p:attrNameLst>
                                      </p:cBhvr>
                                      <p:to>
                                        <p:strVal val="visible"/>
                                      </p:to>
                                    </p:set>
                                    <p:animEffect transition="in" filter="fade">
                                      <p:cBhvr>
                                        <p:cTn id="26" dur="1000"/>
                                        <p:tgtEl>
                                          <p:spTgt spid="18">
                                            <p:txEl>
                                              <p:pRg st="2" end="2"/>
                                            </p:txEl>
                                          </p:spTgt>
                                        </p:tgtEl>
                                      </p:cBhvr>
                                    </p:animEffect>
                                    <p:anim calcmode="lin" valueType="num">
                                      <p:cBhvr>
                                        <p:cTn id="27" dur="1000" fill="hold"/>
                                        <p:tgtEl>
                                          <p:spTgt spid="18">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8">
                                            <p:txEl>
                                              <p:pRg st="3" end="3"/>
                                            </p:txEl>
                                          </p:spTgt>
                                        </p:tgtEl>
                                        <p:attrNameLst>
                                          <p:attrName>style.visibility</p:attrName>
                                        </p:attrNameLst>
                                      </p:cBhvr>
                                      <p:to>
                                        <p:strVal val="visible"/>
                                      </p:to>
                                    </p:set>
                                    <p:animEffect transition="in" filter="fade">
                                      <p:cBhvr>
                                        <p:cTn id="33" dur="1000"/>
                                        <p:tgtEl>
                                          <p:spTgt spid="18">
                                            <p:txEl>
                                              <p:pRg st="3" end="3"/>
                                            </p:txEl>
                                          </p:spTgt>
                                        </p:tgtEl>
                                      </p:cBhvr>
                                    </p:animEffect>
                                    <p:anim calcmode="lin" valueType="num">
                                      <p:cBhvr>
                                        <p:cTn id="34" dur="1000" fill="hold"/>
                                        <p:tgtEl>
                                          <p:spTgt spid="18">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1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8E3167-B70B-2B09-6692-41B38438EBC2}"/>
              </a:ext>
            </a:extLst>
          </p:cNvPr>
          <p:cNvSpPr/>
          <p:nvPr/>
        </p:nvSpPr>
        <p:spPr>
          <a:xfrm>
            <a:off x="0" y="0"/>
            <a:ext cx="12191999" cy="6858000"/>
          </a:xfrm>
          <a:prstGeom prst="rect">
            <a:avLst/>
          </a:prstGeom>
          <a:gradFill>
            <a:gsLst>
              <a:gs pos="0">
                <a:srgbClr val="3577D3"/>
              </a:gs>
              <a:gs pos="100000">
                <a:srgbClr val="00B0F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4" name="Picture 3" descr="A blue and black logo&#10;&#10;Description automatically generated">
            <a:extLst>
              <a:ext uri="{FF2B5EF4-FFF2-40B4-BE49-F238E27FC236}">
                <a16:creationId xmlns:a16="http://schemas.microsoft.com/office/drawing/2014/main" id="{B579AC9D-D7FD-A3C9-0ED3-247308EBE88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5100541" y="6278277"/>
            <a:ext cx="1776510" cy="473737"/>
          </a:xfrm>
          <a:prstGeom prst="rect">
            <a:avLst/>
          </a:prstGeom>
        </p:spPr>
      </p:pic>
      <p:pic>
        <p:nvPicPr>
          <p:cNvPr id="5" name="Picture 4">
            <a:extLst>
              <a:ext uri="{FF2B5EF4-FFF2-40B4-BE49-F238E27FC236}">
                <a16:creationId xmlns:a16="http://schemas.microsoft.com/office/drawing/2014/main" id="{677015FC-6553-7523-033D-20EEF7B05176}"/>
              </a:ext>
            </a:extLst>
          </p:cNvPr>
          <p:cNvPicPr>
            <a:picLocks noChangeAspect="1"/>
          </p:cNvPicPr>
          <p:nvPr/>
        </p:nvPicPr>
        <p:blipFill>
          <a:blip r:embed="rId5"/>
          <a:stretch>
            <a:fillRect/>
          </a:stretch>
        </p:blipFill>
        <p:spPr>
          <a:xfrm>
            <a:off x="3125320" y="108790"/>
            <a:ext cx="5941358" cy="6063501"/>
          </a:xfrm>
          <a:prstGeom prst="rect">
            <a:avLst/>
          </a:prstGeom>
        </p:spPr>
      </p:pic>
    </p:spTree>
    <p:extLst>
      <p:ext uri="{BB962C8B-B14F-4D97-AF65-F5344CB8AC3E}">
        <p14:creationId xmlns:p14="http://schemas.microsoft.com/office/powerpoint/2010/main" val="3768836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19C372-F013-2A92-4B2A-496A1DE63041}"/>
              </a:ext>
            </a:extLst>
          </p:cNvPr>
          <p:cNvPicPr>
            <a:picLocks noChangeAspect="1"/>
          </p:cNvPicPr>
          <p:nvPr/>
        </p:nvPicPr>
        <p:blipFill rotWithShape="1">
          <a:blip r:embed="rId3"/>
          <a:srcRect l="195" t="1309" r="50933"/>
          <a:stretch/>
        </p:blipFill>
        <p:spPr>
          <a:xfrm>
            <a:off x="0" y="-1"/>
            <a:ext cx="6926912" cy="6858000"/>
          </a:xfrm>
          <a:prstGeom prst="rect">
            <a:avLst/>
          </a:prstGeom>
        </p:spPr>
      </p:pic>
      <p:pic>
        <p:nvPicPr>
          <p:cNvPr id="3" name="Picture 2" descr="A black and orange logo&#10;&#10;Description automatically generated">
            <a:extLst>
              <a:ext uri="{FF2B5EF4-FFF2-40B4-BE49-F238E27FC236}">
                <a16:creationId xmlns:a16="http://schemas.microsoft.com/office/drawing/2014/main" id="{6C8067C3-2BDE-870C-3F8C-D03934324BC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595127" y="2744713"/>
            <a:ext cx="4007792" cy="1099851"/>
          </a:xfrm>
          <a:prstGeom prst="rect">
            <a:avLst/>
          </a:prstGeom>
        </p:spPr>
      </p:pic>
      <p:sp>
        <p:nvSpPr>
          <p:cNvPr id="10" name="TextBox 9">
            <a:extLst>
              <a:ext uri="{FF2B5EF4-FFF2-40B4-BE49-F238E27FC236}">
                <a16:creationId xmlns:a16="http://schemas.microsoft.com/office/drawing/2014/main" id="{F3A9C4AA-73C0-61E6-B432-3746691EF3B0}"/>
              </a:ext>
            </a:extLst>
          </p:cNvPr>
          <p:cNvSpPr txBox="1"/>
          <p:nvPr/>
        </p:nvSpPr>
        <p:spPr>
          <a:xfrm>
            <a:off x="164386" y="110543"/>
            <a:ext cx="4911048" cy="984885"/>
          </a:xfrm>
          <a:prstGeom prst="rect">
            <a:avLst/>
          </a:prstGeom>
          <a:noFill/>
        </p:spPr>
        <p:txBody>
          <a:bodyPr wrap="square" lIns="0" tIns="0" rIns="0" bIns="0" rtlCol="0">
            <a:spAutoFit/>
          </a:bodyPr>
          <a:lstStyle/>
          <a:p>
            <a:pPr algn="l"/>
            <a:r>
              <a:rPr lang="en-CA" sz="3200" b="1" i="0" dirty="0">
                <a:effectLst/>
                <a:latin typeface="Hind" panose="020B0502040204020203" pitchFamily="2" charset="0"/>
                <a:cs typeface="Hind" panose="020B0502040204020203" pitchFamily="2" charset="0"/>
              </a:rPr>
              <a:t>Seattle, </a:t>
            </a:r>
          </a:p>
          <a:p>
            <a:pPr algn="l"/>
            <a:r>
              <a:rPr lang="en-CA" sz="3200" b="1" i="0" dirty="0">
                <a:effectLst/>
                <a:latin typeface="Hind" panose="020B0502040204020203" pitchFamily="2" charset="0"/>
                <a:cs typeface="Hind" panose="020B0502040204020203" pitchFamily="2" charset="0"/>
              </a:rPr>
              <a:t>WA </a:t>
            </a:r>
            <a:endParaRPr lang="en-CA" sz="3200" b="1" spc="-150" dirty="0">
              <a:latin typeface="Hind" panose="020B0502040204020203" pitchFamily="2" charset="0"/>
              <a:cs typeface="Hind" panose="020B0502040204020203" pitchFamily="2" charset="0"/>
            </a:endParaRPr>
          </a:p>
        </p:txBody>
      </p:sp>
      <p:pic>
        <p:nvPicPr>
          <p:cNvPr id="12" name="Picture 11">
            <a:extLst>
              <a:ext uri="{FF2B5EF4-FFF2-40B4-BE49-F238E27FC236}">
                <a16:creationId xmlns:a16="http://schemas.microsoft.com/office/drawing/2014/main" id="{683699AC-839E-EE10-9F1D-64D6902D18F3}"/>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9917" b="94215" l="9859" r="89671">
                        <a14:foregroundMark x1="53052" y1="94215" x2="53052" y2="94215"/>
                      </a14:backgroundRemoval>
                    </a14:imgEffect>
                  </a14:imgLayer>
                </a14:imgProps>
              </a:ext>
            </a:extLst>
          </a:blip>
          <a:stretch>
            <a:fillRect/>
          </a:stretch>
        </p:blipFill>
        <p:spPr>
          <a:xfrm>
            <a:off x="3014398" y="5122665"/>
            <a:ext cx="898114" cy="1020393"/>
          </a:xfrm>
          <a:prstGeom prst="rect">
            <a:avLst/>
          </a:prstGeom>
        </p:spPr>
      </p:pic>
      <p:sp>
        <p:nvSpPr>
          <p:cNvPr id="13" name="TextBox 12">
            <a:extLst>
              <a:ext uri="{FF2B5EF4-FFF2-40B4-BE49-F238E27FC236}">
                <a16:creationId xmlns:a16="http://schemas.microsoft.com/office/drawing/2014/main" id="{481D49E4-303E-1F2F-AB1C-81C54CE32ED8}"/>
              </a:ext>
            </a:extLst>
          </p:cNvPr>
          <p:cNvSpPr txBox="1"/>
          <p:nvPr/>
        </p:nvSpPr>
        <p:spPr>
          <a:xfrm>
            <a:off x="6498261" y="707170"/>
            <a:ext cx="6095114" cy="1631216"/>
          </a:xfrm>
          <a:prstGeom prst="rect">
            <a:avLst/>
          </a:prstGeom>
          <a:noFill/>
        </p:spPr>
        <p:txBody>
          <a:bodyPr wrap="square">
            <a:spAutoFit/>
          </a:bodyPr>
          <a:lstStyle/>
          <a:p>
            <a:pPr algn="ctr"/>
            <a:r>
              <a:rPr lang="en-CA" sz="3600" b="1" i="0" dirty="0">
                <a:solidFill>
                  <a:srgbClr val="EB4E37"/>
                </a:solidFill>
                <a:effectLst/>
                <a:latin typeface="Hind" panose="020B0502040204020203" pitchFamily="2" charset="0"/>
                <a:cs typeface="Hind" panose="020B0502040204020203" pitchFamily="2" charset="0"/>
              </a:rPr>
              <a:t>Wh</a:t>
            </a:r>
            <a:r>
              <a:rPr lang="en-CA" sz="3600" b="1" dirty="0">
                <a:solidFill>
                  <a:srgbClr val="EB4E37"/>
                </a:solidFill>
                <a:latin typeface="Hind" panose="020B0502040204020203" pitchFamily="2" charset="0"/>
                <a:cs typeface="Hind" panose="020B0502040204020203" pitchFamily="2" charset="0"/>
              </a:rPr>
              <a:t>at they offer</a:t>
            </a:r>
            <a:endParaRPr lang="en-CA" sz="3600" b="1" i="0" dirty="0">
              <a:solidFill>
                <a:srgbClr val="EB4E37"/>
              </a:solidFill>
              <a:effectLst/>
              <a:latin typeface="Hind" panose="020B0502040204020203" pitchFamily="2" charset="0"/>
              <a:cs typeface="Hind" panose="020B0502040204020203" pitchFamily="2" charset="0"/>
            </a:endParaRPr>
          </a:p>
          <a:p>
            <a:br>
              <a:rPr lang="en-CA" sz="3200" dirty="0"/>
            </a:br>
            <a:endParaRPr lang="en-CA" sz="3200" dirty="0"/>
          </a:p>
        </p:txBody>
      </p:sp>
      <p:pic>
        <p:nvPicPr>
          <p:cNvPr id="15" name="Picture 14">
            <a:extLst>
              <a:ext uri="{FF2B5EF4-FFF2-40B4-BE49-F238E27FC236}">
                <a16:creationId xmlns:a16="http://schemas.microsoft.com/office/drawing/2014/main" id="{AD0DD94D-22F7-D6FC-120E-3B2822C3302C}"/>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9894" b="89753" l="9890" r="97436">
                        <a14:foregroundMark x1="19780" y1="46643" x2="19780" y2="46643"/>
                        <a14:foregroundMark x1="30769" y1="50177" x2="30769" y2="50177"/>
                        <a14:foregroundMark x1="38462" y1="41696" x2="38462" y2="41696"/>
                        <a14:foregroundMark x1="45055" y1="40636" x2="45055" y2="40636"/>
                        <a14:foregroundMark x1="53846" y1="39223" x2="53846" y2="39223"/>
                        <a14:foregroundMark x1="74725" y1="68905" x2="74725" y2="68905"/>
                        <a14:foregroundMark x1="97436" y1="83039" x2="97436" y2="83039"/>
                        <a14:foregroundMark x1="80586" y1="37102" x2="80586" y2="37102"/>
                        <a14:backgroundMark x1="21245" y1="42756" x2="21245" y2="42756"/>
                        <a14:backgroundMark x1="31136" y1="46290" x2="31136" y2="46290"/>
                        <a14:backgroundMark x1="45055" y1="42403" x2="45055" y2="42403"/>
                        <a14:backgroundMark x1="52015" y1="43110" x2="52015" y2="43110"/>
                        <a14:backgroundMark x1="30769" y1="50883" x2="30769" y2="50883"/>
                      </a14:backgroundRemoval>
                    </a14:imgEffect>
                  </a14:imgLayer>
                </a14:imgProps>
              </a:ext>
            </a:extLst>
          </a:blip>
          <a:stretch>
            <a:fillRect/>
          </a:stretch>
        </p:blipFill>
        <p:spPr>
          <a:xfrm>
            <a:off x="1240358" y="4170636"/>
            <a:ext cx="1613606" cy="1672712"/>
          </a:xfrm>
          <a:prstGeom prst="rect">
            <a:avLst/>
          </a:prstGeom>
        </p:spPr>
      </p:pic>
      <p:pic>
        <p:nvPicPr>
          <p:cNvPr id="17" name="Picture 16">
            <a:extLst>
              <a:ext uri="{FF2B5EF4-FFF2-40B4-BE49-F238E27FC236}">
                <a16:creationId xmlns:a16="http://schemas.microsoft.com/office/drawing/2014/main" id="{ED54FFB7-8BDE-7DA4-4D74-94CB1136ADBA}"/>
              </a:ext>
            </a:extLst>
          </p:cNvPr>
          <p:cNvPicPr>
            <a:picLocks noChangeAspect="1"/>
          </p:cNvPicPr>
          <p:nvPr/>
        </p:nvPicPr>
        <p:blipFill>
          <a:blip r:embed="rId10">
            <a:alphaModFix/>
            <a:extLst>
              <a:ext uri="{BEBA8EAE-BF5A-486C-A8C5-ECC9F3942E4B}">
                <a14:imgProps xmlns:a14="http://schemas.microsoft.com/office/drawing/2010/main">
                  <a14:imgLayer r:embed="rId11">
                    <a14:imgEffect>
                      <a14:backgroundRemoval t="9917" b="91185" l="9764" r="89899">
                        <a14:foregroundMark x1="53872" y1="54270" x2="53872" y2="54270"/>
                        <a14:foregroundMark x1="68350" y1="59504" x2="68350" y2="59504"/>
                        <a14:foregroundMark x1="80808" y1="61708" x2="80808" y2="61708"/>
                        <a14:foregroundMark x1="37037" y1="61157" x2="37037" y2="61157"/>
                        <a14:foregroundMark x1="33333" y1="74931" x2="33333" y2="74931"/>
                        <a14:foregroundMark x1="36364" y1="83747" x2="36364" y2="83747"/>
                        <a14:foregroundMark x1="42088" y1="91185" x2="42088" y2="91185"/>
                        <a14:backgroundMark x1="21212" y1="61157" x2="21212" y2="61157"/>
                      </a14:backgroundRemoval>
                    </a14:imgEffect>
                    <a14:imgEffect>
                      <a14:colorTemperature colorTemp="7900"/>
                    </a14:imgEffect>
                  </a14:imgLayer>
                </a14:imgProps>
              </a:ext>
            </a:extLst>
          </a:blip>
          <a:stretch>
            <a:fillRect/>
          </a:stretch>
        </p:blipFill>
        <p:spPr>
          <a:xfrm rot="10800000">
            <a:off x="4765294" y="3880110"/>
            <a:ext cx="1524714" cy="1832968"/>
          </a:xfrm>
          <a:prstGeom prst="rect">
            <a:avLst/>
          </a:prstGeom>
          <a:noFill/>
          <a:ln>
            <a:noFill/>
          </a:ln>
        </p:spPr>
      </p:pic>
      <p:sp>
        <p:nvSpPr>
          <p:cNvPr id="18" name="TextBox 17">
            <a:extLst>
              <a:ext uri="{FF2B5EF4-FFF2-40B4-BE49-F238E27FC236}">
                <a16:creationId xmlns:a16="http://schemas.microsoft.com/office/drawing/2014/main" id="{00621A6C-906A-53B0-01A8-76243FF1E706}"/>
              </a:ext>
            </a:extLst>
          </p:cNvPr>
          <p:cNvSpPr txBox="1"/>
          <p:nvPr/>
        </p:nvSpPr>
        <p:spPr>
          <a:xfrm>
            <a:off x="7169543" y="1718270"/>
            <a:ext cx="4752549" cy="4432560"/>
          </a:xfrm>
          <a:prstGeom prst="rect">
            <a:avLst/>
          </a:prstGeom>
          <a:noFill/>
        </p:spPr>
        <p:txBody>
          <a:bodyPr wrap="square">
            <a:spAutoFit/>
          </a:bodyPr>
          <a:lstStyle/>
          <a:p>
            <a:pPr marL="685800" indent="-685800">
              <a:lnSpc>
                <a:spcPct val="150000"/>
              </a:lnSpc>
              <a:buFont typeface="Wingdings" panose="05000000000000000000" pitchFamily="2" charset="2"/>
              <a:buChar char="§"/>
            </a:pPr>
            <a:r>
              <a:rPr lang="en-CA" sz="3200" i="0" dirty="0">
                <a:solidFill>
                  <a:srgbClr val="EB4E37"/>
                </a:solidFill>
                <a:effectLst/>
                <a:latin typeface="Hind" panose="020B0502040204020203" pitchFamily="2" charset="0"/>
                <a:cs typeface="Hind" panose="020B0502040204020203" pitchFamily="2" charset="0"/>
              </a:rPr>
              <a:t>Consulting &amp; creative services</a:t>
            </a:r>
          </a:p>
          <a:p>
            <a:pPr marL="685800" indent="-685800">
              <a:lnSpc>
                <a:spcPct val="150000"/>
              </a:lnSpc>
              <a:buFont typeface="Wingdings" panose="05000000000000000000" pitchFamily="2" charset="2"/>
              <a:buChar char="§"/>
            </a:pPr>
            <a:r>
              <a:rPr lang="en-CA" sz="3200" i="0" dirty="0">
                <a:solidFill>
                  <a:srgbClr val="EB4E37"/>
                </a:solidFill>
                <a:effectLst/>
                <a:latin typeface="Hind" panose="020B0502040204020203" pitchFamily="2" charset="0"/>
                <a:cs typeface="Hind" panose="020B0502040204020203" pitchFamily="2" charset="0"/>
              </a:rPr>
              <a:t>Warehousing &amp; Fulfillment</a:t>
            </a:r>
          </a:p>
          <a:p>
            <a:pPr marL="685800" indent="-685800">
              <a:lnSpc>
                <a:spcPct val="150000"/>
              </a:lnSpc>
              <a:buFont typeface="Wingdings" panose="05000000000000000000" pitchFamily="2" charset="2"/>
              <a:buChar char="§"/>
            </a:pPr>
            <a:r>
              <a:rPr lang="en-CA" sz="3200" dirty="0">
                <a:solidFill>
                  <a:srgbClr val="EB4E37"/>
                </a:solidFill>
                <a:latin typeface="Hind" panose="020B0502040204020203" pitchFamily="2" charset="0"/>
                <a:cs typeface="Hind" panose="020B0502040204020203" pitchFamily="2" charset="0"/>
              </a:rPr>
              <a:t>Swag Stores &amp; Portals</a:t>
            </a:r>
            <a:br>
              <a:rPr lang="en-CA" sz="3200" dirty="0">
                <a:solidFill>
                  <a:srgbClr val="EB4E37"/>
                </a:solidFill>
                <a:latin typeface="Hind" panose="020B0502040204020203" pitchFamily="2" charset="0"/>
                <a:cs typeface="Hind" panose="020B0502040204020203" pitchFamily="2" charset="0"/>
              </a:rPr>
            </a:br>
            <a:endParaRPr lang="en-CA" sz="3200" dirty="0">
              <a:solidFill>
                <a:srgbClr val="EB4E37"/>
              </a:solidFill>
              <a:latin typeface="Hind" panose="020B0502040204020203" pitchFamily="2" charset="0"/>
              <a:cs typeface="Hind" panose="020B0502040204020203" pitchFamily="2" charset="0"/>
            </a:endParaRPr>
          </a:p>
        </p:txBody>
      </p:sp>
      <p:sp>
        <p:nvSpPr>
          <p:cNvPr id="2" name="TextBox 1">
            <a:extLst>
              <a:ext uri="{FF2B5EF4-FFF2-40B4-BE49-F238E27FC236}">
                <a16:creationId xmlns:a16="http://schemas.microsoft.com/office/drawing/2014/main" id="{5A9B002B-D1D1-CAC4-1F50-5927D8EA5BA4}"/>
              </a:ext>
            </a:extLst>
          </p:cNvPr>
          <p:cNvSpPr txBox="1"/>
          <p:nvPr/>
        </p:nvSpPr>
        <p:spPr>
          <a:xfrm>
            <a:off x="1345119" y="3547192"/>
            <a:ext cx="4173993" cy="923330"/>
          </a:xfrm>
          <a:prstGeom prst="rect">
            <a:avLst/>
          </a:prstGeom>
          <a:noFill/>
        </p:spPr>
        <p:txBody>
          <a:bodyPr wrap="square">
            <a:spAutoFit/>
          </a:bodyPr>
          <a:lstStyle/>
          <a:p>
            <a:pPr algn="r"/>
            <a:r>
              <a:rPr lang="en-US" b="1" i="0" dirty="0">
                <a:solidFill>
                  <a:srgbClr val="FFFFFF"/>
                </a:solidFill>
                <a:effectLst/>
                <a:latin typeface="Hind" panose="020B0502040204020203" pitchFamily="2" charset="0"/>
              </a:rPr>
              <a:t>“Make, manage, warehouse and send amazing swag, all from a single platform”</a:t>
            </a:r>
          </a:p>
        </p:txBody>
      </p:sp>
    </p:spTree>
    <p:extLst>
      <p:ext uri="{BB962C8B-B14F-4D97-AF65-F5344CB8AC3E}">
        <p14:creationId xmlns:p14="http://schemas.microsoft.com/office/powerpoint/2010/main" val="21026697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6" presetClass="emph" presetSubtype="0" fill="hold" nodeType="clickEffect">
                                  <p:stCondLst>
                                    <p:cond delay="0"/>
                                  </p:stCondLst>
                                  <p:childTnLst>
                                    <p:animEffect transition="out" filter="fade">
                                      <p:cBhvr>
                                        <p:cTn id="20" dur="500" tmFilter="0, 0; .2, .5; .8, .5; 1, 0"/>
                                        <p:tgtEl>
                                          <p:spTgt spid="17"/>
                                        </p:tgtEl>
                                      </p:cBhvr>
                                    </p:animEffect>
                                    <p:animScale>
                                      <p:cBhvr>
                                        <p:cTn id="21" dur="250" autoRev="1" fill="hold"/>
                                        <p:tgtEl>
                                          <p:spTgt spid="17"/>
                                        </p:tgtEl>
                                      </p:cBhvr>
                                      <p:by x="105000" y="105000"/>
                                    </p:animScale>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up)">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0-#ppt_w/2"/>
                                          </p:val>
                                        </p:tav>
                                        <p:tav tm="100000">
                                          <p:val>
                                            <p:strVal val="#ppt_x"/>
                                          </p:val>
                                        </p:tav>
                                      </p:tavLst>
                                    </p:anim>
                                    <p:anim calcmode="lin" valueType="num">
                                      <p:cBhvr additive="base">
                                        <p:cTn id="37"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1000"/>
                                        <p:tgtEl>
                                          <p:spTgt spid="13"/>
                                        </p:tgtEl>
                                      </p:cBhvr>
                                    </p:animEffect>
                                    <p:anim calcmode="lin" valueType="num">
                                      <p:cBhvr>
                                        <p:cTn id="43" dur="1000" fill="hold"/>
                                        <p:tgtEl>
                                          <p:spTgt spid="13"/>
                                        </p:tgtEl>
                                        <p:attrNameLst>
                                          <p:attrName>ppt_x</p:attrName>
                                        </p:attrNameLst>
                                      </p:cBhvr>
                                      <p:tavLst>
                                        <p:tav tm="0">
                                          <p:val>
                                            <p:strVal val="#ppt_x"/>
                                          </p:val>
                                        </p:tav>
                                        <p:tav tm="100000">
                                          <p:val>
                                            <p:strVal val="#ppt_x"/>
                                          </p:val>
                                        </p:tav>
                                      </p:tavLst>
                                    </p:anim>
                                    <p:anim calcmode="lin" valueType="num">
                                      <p:cBhvr>
                                        <p:cTn id="4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8">
                                            <p:txEl>
                                              <p:pRg st="0" end="0"/>
                                            </p:txEl>
                                          </p:spTgt>
                                        </p:tgtEl>
                                        <p:attrNameLst>
                                          <p:attrName>style.visibility</p:attrName>
                                        </p:attrNameLst>
                                      </p:cBhvr>
                                      <p:to>
                                        <p:strVal val="visible"/>
                                      </p:to>
                                    </p:set>
                                    <p:animEffect transition="in" filter="fade">
                                      <p:cBhvr>
                                        <p:cTn id="49" dur="500"/>
                                        <p:tgtEl>
                                          <p:spTgt spid="18">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8">
                                            <p:txEl>
                                              <p:pRg st="1" end="1"/>
                                            </p:txEl>
                                          </p:spTgt>
                                        </p:tgtEl>
                                        <p:attrNameLst>
                                          <p:attrName>style.visibility</p:attrName>
                                        </p:attrNameLst>
                                      </p:cBhvr>
                                      <p:to>
                                        <p:strVal val="visible"/>
                                      </p:to>
                                    </p:set>
                                    <p:animEffect transition="in" filter="fade">
                                      <p:cBhvr>
                                        <p:cTn id="54" dur="500"/>
                                        <p:tgtEl>
                                          <p:spTgt spid="18">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8">
                                            <p:txEl>
                                              <p:pRg st="2" end="2"/>
                                            </p:txEl>
                                          </p:spTgt>
                                        </p:tgtEl>
                                        <p:attrNameLst>
                                          <p:attrName>style.visibility</p:attrName>
                                        </p:attrNameLst>
                                      </p:cBhvr>
                                      <p:to>
                                        <p:strVal val="visible"/>
                                      </p:to>
                                    </p:set>
                                    <p:animEffect transition="in" filter="fade">
                                      <p:cBhvr>
                                        <p:cTn id="59"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8" grpId="0" build="p"/>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AB0FCC-280B-2C14-74B1-E8A825015F22}"/>
              </a:ext>
            </a:extLst>
          </p:cNvPr>
          <p:cNvPicPr>
            <a:picLocks noGrp="1" noRot="1" noChangeAspect="1" noMove="1" noResize="1" noEditPoints="1" noAdjustHandles="1" noChangeArrowheads="1" noChangeShapeType="1" noCrop="1"/>
          </p:cNvPicPr>
          <p:nvPr/>
        </p:nvPicPr>
        <p:blipFill rotWithShape="1">
          <a:blip r:embed="rId3"/>
          <a:srcRect b="25062"/>
          <a:stretch/>
        </p:blipFill>
        <p:spPr>
          <a:xfrm>
            <a:off x="0" y="-95250"/>
            <a:ext cx="12192000" cy="6953250"/>
          </a:xfrm>
          <a:prstGeom prst="rect">
            <a:avLst/>
          </a:prstGeom>
        </p:spPr>
      </p:pic>
      <p:pic>
        <p:nvPicPr>
          <p:cNvPr id="3" name="Picture 2" descr="A black and orange logo&#10;&#10;Description automatically generated">
            <a:extLst>
              <a:ext uri="{FF2B5EF4-FFF2-40B4-BE49-F238E27FC236}">
                <a16:creationId xmlns:a16="http://schemas.microsoft.com/office/drawing/2014/main" id="{6C8067C3-2BDE-870C-3F8C-D03934324BC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93977" y="172335"/>
            <a:ext cx="2008811" cy="551274"/>
          </a:xfrm>
          <a:prstGeom prst="rect">
            <a:avLst/>
          </a:prstGeom>
        </p:spPr>
      </p:pic>
      <p:sp>
        <p:nvSpPr>
          <p:cNvPr id="6" name="TextBox 5">
            <a:extLst>
              <a:ext uri="{FF2B5EF4-FFF2-40B4-BE49-F238E27FC236}">
                <a16:creationId xmlns:a16="http://schemas.microsoft.com/office/drawing/2014/main" id="{1EB70CBE-D1A3-6618-E6C5-C7DE93A338CA}"/>
              </a:ext>
            </a:extLst>
          </p:cNvPr>
          <p:cNvSpPr txBox="1"/>
          <p:nvPr/>
        </p:nvSpPr>
        <p:spPr>
          <a:xfrm>
            <a:off x="3048442" y="719998"/>
            <a:ext cx="6095114" cy="1631216"/>
          </a:xfrm>
          <a:prstGeom prst="rect">
            <a:avLst/>
          </a:prstGeom>
          <a:noFill/>
        </p:spPr>
        <p:txBody>
          <a:bodyPr wrap="square">
            <a:spAutoFit/>
          </a:bodyPr>
          <a:lstStyle/>
          <a:p>
            <a:pPr algn="ctr"/>
            <a:r>
              <a:rPr lang="en-CA" sz="3600" b="1" i="0" dirty="0">
                <a:effectLst/>
                <a:latin typeface="Hind" panose="020B0502040204020203" pitchFamily="2" charset="0"/>
                <a:cs typeface="Hind" panose="020B0502040204020203" pitchFamily="2" charset="0"/>
              </a:rPr>
              <a:t>KEY TAKEAWAYS</a:t>
            </a:r>
          </a:p>
          <a:p>
            <a:br>
              <a:rPr lang="en-CA" sz="3200" dirty="0"/>
            </a:br>
            <a:endParaRPr lang="en-CA" sz="3200" dirty="0"/>
          </a:p>
        </p:txBody>
      </p:sp>
      <p:pic>
        <p:nvPicPr>
          <p:cNvPr id="17" name="Picture 16">
            <a:extLst>
              <a:ext uri="{FF2B5EF4-FFF2-40B4-BE49-F238E27FC236}">
                <a16:creationId xmlns:a16="http://schemas.microsoft.com/office/drawing/2014/main" id="{ED54FFB7-8BDE-7DA4-4D74-94CB1136ADBA}"/>
              </a:ext>
            </a:extLst>
          </p:cNvPr>
          <p:cNvPicPr>
            <a:picLocks noChangeAspect="1"/>
          </p:cNvPicPr>
          <p:nvPr/>
        </p:nvPicPr>
        <p:blipFill>
          <a:blip r:embed="rId6">
            <a:alphaModFix/>
            <a:extLst>
              <a:ext uri="{BEBA8EAE-BF5A-486C-A8C5-ECC9F3942E4B}">
                <a14:imgProps xmlns:a14="http://schemas.microsoft.com/office/drawing/2010/main">
                  <a14:imgLayer r:embed="rId7">
                    <a14:imgEffect>
                      <a14:backgroundRemoval t="9917" b="91185" l="9764" r="89899">
                        <a14:foregroundMark x1="53872" y1="54270" x2="53872" y2="54270"/>
                        <a14:foregroundMark x1="68350" y1="59504" x2="68350" y2="59504"/>
                        <a14:foregroundMark x1="80808" y1="61708" x2="80808" y2="61708"/>
                        <a14:foregroundMark x1="37037" y1="61157" x2="37037" y2="61157"/>
                        <a14:foregroundMark x1="33333" y1="74931" x2="33333" y2="74931"/>
                        <a14:foregroundMark x1="36364" y1="83747" x2="36364" y2="83747"/>
                        <a14:foregroundMark x1="42088" y1="91185" x2="42088" y2="91185"/>
                        <a14:backgroundMark x1="21212" y1="61157" x2="21212" y2="61157"/>
                      </a14:backgroundRemoval>
                    </a14:imgEffect>
                    <a14:imgEffect>
                      <a14:colorTemperature colorTemp="7900"/>
                    </a14:imgEffect>
                  </a14:imgLayer>
                </a14:imgProps>
              </a:ext>
            </a:extLst>
          </a:blip>
          <a:stretch>
            <a:fillRect/>
          </a:stretch>
        </p:blipFill>
        <p:spPr>
          <a:xfrm rot="10800000">
            <a:off x="7285655" y="619122"/>
            <a:ext cx="1524714" cy="1832968"/>
          </a:xfrm>
          <a:prstGeom prst="rect">
            <a:avLst/>
          </a:prstGeom>
          <a:noFill/>
          <a:ln>
            <a:noFill/>
          </a:ln>
        </p:spPr>
      </p:pic>
      <p:sp>
        <p:nvSpPr>
          <p:cNvPr id="8" name="TextBox 7">
            <a:extLst>
              <a:ext uri="{FF2B5EF4-FFF2-40B4-BE49-F238E27FC236}">
                <a16:creationId xmlns:a16="http://schemas.microsoft.com/office/drawing/2014/main" id="{30FB45F2-33D0-4957-30C4-DECD55D182AC}"/>
              </a:ext>
            </a:extLst>
          </p:cNvPr>
          <p:cNvSpPr txBox="1"/>
          <p:nvPr/>
        </p:nvSpPr>
        <p:spPr>
          <a:xfrm>
            <a:off x="1341180" y="1509410"/>
            <a:ext cx="9509638" cy="3916457"/>
          </a:xfrm>
          <a:prstGeom prst="rect">
            <a:avLst/>
          </a:prstGeom>
          <a:noFill/>
        </p:spPr>
        <p:txBody>
          <a:bodyPr wrap="square">
            <a:spAutoFit/>
          </a:bodyPr>
          <a:lstStyle/>
          <a:p>
            <a:pPr marL="685800" indent="-685800">
              <a:lnSpc>
                <a:spcPct val="150000"/>
              </a:lnSpc>
              <a:buFont typeface="Wingdings" panose="05000000000000000000" pitchFamily="2" charset="2"/>
              <a:buChar char="§"/>
            </a:pPr>
            <a:r>
              <a:rPr lang="en-CA" sz="2800" i="0" dirty="0">
                <a:effectLst/>
                <a:latin typeface="Hind" panose="020B0502040204020203" pitchFamily="2" charset="0"/>
                <a:cs typeface="Hind" panose="020B0502040204020203" pitchFamily="2" charset="0"/>
              </a:rPr>
              <a:t>Free warehousing, premium service</a:t>
            </a:r>
          </a:p>
          <a:p>
            <a:pPr marL="685800" indent="-685800">
              <a:lnSpc>
                <a:spcPct val="150000"/>
              </a:lnSpc>
              <a:buFont typeface="Wingdings" panose="05000000000000000000" pitchFamily="2" charset="2"/>
              <a:buChar char="§"/>
            </a:pPr>
            <a:r>
              <a:rPr lang="en-CA" sz="2800" dirty="0">
                <a:latin typeface="Hind" panose="020B0502040204020203" pitchFamily="2" charset="0"/>
                <a:cs typeface="Hind" panose="020B0502040204020203" pitchFamily="2" charset="0"/>
              </a:rPr>
              <a:t>Single inventory management system</a:t>
            </a:r>
          </a:p>
          <a:p>
            <a:pPr marL="685800" indent="-685800">
              <a:lnSpc>
                <a:spcPct val="150000"/>
              </a:lnSpc>
              <a:buFont typeface="Wingdings" panose="05000000000000000000" pitchFamily="2" charset="2"/>
              <a:buChar char="§"/>
            </a:pPr>
            <a:r>
              <a:rPr lang="en-US" sz="2800" dirty="0">
                <a:latin typeface="Hind" panose="020B0502040204020203" pitchFamily="2" charset="0"/>
                <a:cs typeface="Hind" panose="020B0502040204020203" pitchFamily="2" charset="0"/>
              </a:rPr>
              <a:t>In-house print shop + vendor sourcing</a:t>
            </a:r>
          </a:p>
          <a:p>
            <a:pPr marL="685800" indent="-685800">
              <a:lnSpc>
                <a:spcPct val="150000"/>
              </a:lnSpc>
              <a:buFont typeface="Wingdings" panose="05000000000000000000" pitchFamily="2" charset="2"/>
              <a:buChar char="§"/>
            </a:pPr>
            <a:r>
              <a:rPr lang="en-US" sz="2800" dirty="0">
                <a:latin typeface="Hind" panose="020B0502040204020203" pitchFamily="2" charset="0"/>
                <a:cs typeface="Hind" panose="020B0502040204020203" pitchFamily="2" charset="0"/>
              </a:rPr>
              <a:t>Full cost transparency</a:t>
            </a:r>
          </a:p>
          <a:p>
            <a:pPr marL="685800" indent="-685800">
              <a:lnSpc>
                <a:spcPct val="150000"/>
              </a:lnSpc>
              <a:buFont typeface="Wingdings" panose="05000000000000000000" pitchFamily="2" charset="2"/>
              <a:buChar char="§"/>
            </a:pPr>
            <a:r>
              <a:rPr lang="en-US" sz="2800" dirty="0">
                <a:latin typeface="Hind" panose="020B0502040204020203" pitchFamily="2" charset="0"/>
                <a:cs typeface="Hind" panose="020B0502040204020203" pitchFamily="2" charset="0"/>
              </a:rPr>
              <a:t>Forum &amp; training</a:t>
            </a:r>
          </a:p>
          <a:p>
            <a:pPr marL="685800" indent="-685800">
              <a:lnSpc>
                <a:spcPct val="150000"/>
              </a:lnSpc>
              <a:buFont typeface="Wingdings" panose="05000000000000000000" pitchFamily="2" charset="2"/>
              <a:buChar char="§"/>
            </a:pPr>
            <a:r>
              <a:rPr lang="en-US" sz="2800" dirty="0">
                <a:solidFill>
                  <a:srgbClr val="FFFF00"/>
                </a:solidFill>
                <a:latin typeface="Hind" panose="020B0502040204020203" pitchFamily="2" charset="0"/>
                <a:cs typeface="Hind" panose="020B0502040204020203" pitchFamily="2" charset="0"/>
              </a:rPr>
              <a:t>Poor and outdated UI</a:t>
            </a:r>
          </a:p>
        </p:txBody>
      </p:sp>
    </p:spTree>
    <p:extLst>
      <p:ext uri="{BB962C8B-B14F-4D97-AF65-F5344CB8AC3E}">
        <p14:creationId xmlns:p14="http://schemas.microsoft.com/office/powerpoint/2010/main" val="348002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AB0FCC-280B-2C14-74B1-E8A825015F22}"/>
              </a:ext>
            </a:extLst>
          </p:cNvPr>
          <p:cNvPicPr>
            <a:picLocks noGrp="1" noRot="1" noChangeAspect="1" noMove="1" noResize="1" noEditPoints="1" noAdjustHandles="1" noChangeArrowheads="1" noChangeShapeType="1" noCrop="1"/>
          </p:cNvPicPr>
          <p:nvPr/>
        </p:nvPicPr>
        <p:blipFill rotWithShape="1">
          <a:blip r:embed="rId3"/>
          <a:srcRect b="25062"/>
          <a:stretch/>
        </p:blipFill>
        <p:spPr>
          <a:xfrm>
            <a:off x="0" y="0"/>
            <a:ext cx="12192000" cy="6858000"/>
          </a:xfrm>
          <a:prstGeom prst="rect">
            <a:avLst/>
          </a:prstGeom>
        </p:spPr>
      </p:pic>
      <p:pic>
        <p:nvPicPr>
          <p:cNvPr id="3" name="Picture 2" descr="A black and orange logo&#10;&#10;Description automatically generated">
            <a:extLst>
              <a:ext uri="{FF2B5EF4-FFF2-40B4-BE49-F238E27FC236}">
                <a16:creationId xmlns:a16="http://schemas.microsoft.com/office/drawing/2014/main" id="{6C8067C3-2BDE-870C-3F8C-D03934324BC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93977" y="172335"/>
            <a:ext cx="2008811" cy="551274"/>
          </a:xfrm>
          <a:prstGeom prst="rect">
            <a:avLst/>
          </a:prstGeom>
        </p:spPr>
      </p:pic>
      <p:pic>
        <p:nvPicPr>
          <p:cNvPr id="9" name="Picture 8">
            <a:extLst>
              <a:ext uri="{FF2B5EF4-FFF2-40B4-BE49-F238E27FC236}">
                <a16:creationId xmlns:a16="http://schemas.microsoft.com/office/drawing/2014/main" id="{3DCBAC6E-B86E-C032-9C58-2B490332070F}"/>
              </a:ext>
            </a:extLst>
          </p:cNvPr>
          <p:cNvPicPr>
            <a:picLocks noChangeAspect="1"/>
          </p:cNvPicPr>
          <p:nvPr/>
        </p:nvPicPr>
        <p:blipFill>
          <a:blip r:embed="rId6"/>
          <a:stretch>
            <a:fillRect/>
          </a:stretch>
        </p:blipFill>
        <p:spPr>
          <a:xfrm>
            <a:off x="-101431" y="1290253"/>
            <a:ext cx="8738704" cy="4277493"/>
          </a:xfrm>
          <a:prstGeom prst="rect">
            <a:avLst/>
          </a:prstGeom>
        </p:spPr>
      </p:pic>
      <p:pic>
        <p:nvPicPr>
          <p:cNvPr id="11" name="Picture 10">
            <a:extLst>
              <a:ext uri="{FF2B5EF4-FFF2-40B4-BE49-F238E27FC236}">
                <a16:creationId xmlns:a16="http://schemas.microsoft.com/office/drawing/2014/main" id="{29782059-502E-BCD3-555A-14761FDE8AD2}"/>
              </a:ext>
            </a:extLst>
          </p:cNvPr>
          <p:cNvPicPr>
            <a:picLocks noChangeAspect="1"/>
          </p:cNvPicPr>
          <p:nvPr/>
        </p:nvPicPr>
        <p:blipFill>
          <a:blip r:embed="rId7"/>
          <a:stretch>
            <a:fillRect/>
          </a:stretch>
        </p:blipFill>
        <p:spPr>
          <a:xfrm>
            <a:off x="6497877" y="2631183"/>
            <a:ext cx="7555405" cy="3581690"/>
          </a:xfrm>
          <a:prstGeom prst="rect">
            <a:avLst/>
          </a:prstGeom>
        </p:spPr>
      </p:pic>
    </p:spTree>
    <p:extLst>
      <p:ext uri="{BB962C8B-B14F-4D97-AF65-F5344CB8AC3E}">
        <p14:creationId xmlns:p14="http://schemas.microsoft.com/office/powerpoint/2010/main" val="3128153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arallelogram 9">
            <a:extLst>
              <a:ext uri="{FF2B5EF4-FFF2-40B4-BE49-F238E27FC236}">
                <a16:creationId xmlns:a16="http://schemas.microsoft.com/office/drawing/2014/main" id="{464F5923-9E93-6BE3-CA66-02615E1067A7}"/>
              </a:ext>
            </a:extLst>
          </p:cNvPr>
          <p:cNvSpPr/>
          <p:nvPr/>
        </p:nvSpPr>
        <p:spPr>
          <a:xfrm rot="10800000" flipH="1">
            <a:off x="5724480" y="-85725"/>
            <a:ext cx="4198282" cy="6965248"/>
          </a:xfrm>
          <a:prstGeom prst="parallelogram">
            <a:avLst>
              <a:gd name="adj" fmla="val 25694"/>
            </a:avLst>
          </a:prstGeom>
          <a:solidFill>
            <a:srgbClr val="2B3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4" name="Picture 3" descr="A blue text on a black background&#10;&#10;Description automatically generated">
            <a:extLst>
              <a:ext uri="{FF2B5EF4-FFF2-40B4-BE49-F238E27FC236}">
                <a16:creationId xmlns:a16="http://schemas.microsoft.com/office/drawing/2014/main" id="{0F80B43E-E97F-B3B4-3DEA-7EE7004259C5}"/>
              </a:ext>
            </a:extLst>
          </p:cNvPr>
          <p:cNvPicPr>
            <a:picLocks noChangeAspect="1"/>
          </p:cNvPicPr>
          <p:nvPr/>
        </p:nvPicPr>
        <p:blipFill>
          <a:blip r:embed="rId3"/>
          <a:stretch>
            <a:fillRect/>
          </a:stretch>
        </p:blipFill>
        <p:spPr>
          <a:xfrm>
            <a:off x="1045540" y="2849748"/>
            <a:ext cx="3573780" cy="630667"/>
          </a:xfrm>
          <a:prstGeom prst="rect">
            <a:avLst/>
          </a:prstGeom>
        </p:spPr>
      </p:pic>
      <p:pic>
        <p:nvPicPr>
          <p:cNvPr id="12290" name="Picture 2" descr="PromotionalProductManagement_Leader_Leader">
            <a:extLst>
              <a:ext uri="{FF2B5EF4-FFF2-40B4-BE49-F238E27FC236}">
                <a16:creationId xmlns:a16="http://schemas.microsoft.com/office/drawing/2014/main" id="{093C39CB-3C89-3B7F-2332-8241B82843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3946" y="3574312"/>
            <a:ext cx="768878" cy="998664"/>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PromotionalProductManagement_MostImplementable_Total">
            <a:extLst>
              <a:ext uri="{FF2B5EF4-FFF2-40B4-BE49-F238E27FC236}">
                <a16:creationId xmlns:a16="http://schemas.microsoft.com/office/drawing/2014/main" id="{52D1DEFF-A76A-F21E-4A83-1E7A514F3A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2759" y="3574312"/>
            <a:ext cx="768879" cy="998664"/>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PromotionalProductManagement_MomentumLeader_Leader">
            <a:extLst>
              <a:ext uri="{FF2B5EF4-FFF2-40B4-BE49-F238E27FC236}">
                <a16:creationId xmlns:a16="http://schemas.microsoft.com/office/drawing/2014/main" id="{2B7C18B8-DD58-2BEE-7899-8156D4183E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5132" y="3574312"/>
            <a:ext cx="768879" cy="99866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7CAB934-4315-15EF-54E0-9130686CE364}"/>
              </a:ext>
            </a:extLst>
          </p:cNvPr>
          <p:cNvSpPr txBox="1"/>
          <p:nvPr/>
        </p:nvSpPr>
        <p:spPr>
          <a:xfrm>
            <a:off x="206112" y="198142"/>
            <a:ext cx="1608402" cy="984885"/>
          </a:xfrm>
          <a:prstGeom prst="rect">
            <a:avLst/>
          </a:prstGeom>
          <a:noFill/>
        </p:spPr>
        <p:txBody>
          <a:bodyPr wrap="square" lIns="0" tIns="0" rIns="0" bIns="0" rtlCol="0">
            <a:spAutoFit/>
          </a:bodyPr>
          <a:lstStyle/>
          <a:p>
            <a:pPr algn="l"/>
            <a:r>
              <a:rPr lang="en-US" sz="3200" b="1" spc="-150" dirty="0">
                <a:solidFill>
                  <a:srgbClr val="2B3057"/>
                </a:solidFill>
                <a:latin typeface="Aptos" panose="020B0004020202020204" pitchFamily="34" charset="0"/>
                <a:ea typeface="Noto Sans Symbols SemBd" panose="020B0702040504020204" pitchFamily="34" charset="0"/>
              </a:rPr>
              <a:t>Denver,</a:t>
            </a:r>
          </a:p>
          <a:p>
            <a:pPr algn="l"/>
            <a:r>
              <a:rPr lang="en-US" sz="3200" b="1" spc="-150" dirty="0">
                <a:solidFill>
                  <a:srgbClr val="2B3057"/>
                </a:solidFill>
                <a:latin typeface="Aptos" panose="020B0004020202020204" pitchFamily="34" charset="0"/>
                <a:ea typeface="Noto Sans Symbols SemBd" panose="020B0702040504020204" pitchFamily="34" charset="0"/>
              </a:rPr>
              <a:t>CO</a:t>
            </a:r>
          </a:p>
        </p:txBody>
      </p:sp>
      <p:sp>
        <p:nvSpPr>
          <p:cNvPr id="2" name="Rectangle 1">
            <a:extLst>
              <a:ext uri="{FF2B5EF4-FFF2-40B4-BE49-F238E27FC236}">
                <a16:creationId xmlns:a16="http://schemas.microsoft.com/office/drawing/2014/main" id="{ACA99F4F-70E7-9D47-37CB-E112BDC5DBEF}"/>
              </a:ext>
            </a:extLst>
          </p:cNvPr>
          <p:cNvSpPr/>
          <p:nvPr/>
        </p:nvSpPr>
        <p:spPr>
          <a:xfrm>
            <a:off x="8406140" y="-161925"/>
            <a:ext cx="4003958" cy="7041447"/>
          </a:xfrm>
          <a:prstGeom prst="rect">
            <a:avLst/>
          </a:prstGeom>
          <a:solidFill>
            <a:srgbClr val="2B3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Box 2">
            <a:extLst>
              <a:ext uri="{FF2B5EF4-FFF2-40B4-BE49-F238E27FC236}">
                <a16:creationId xmlns:a16="http://schemas.microsoft.com/office/drawing/2014/main" id="{52FF583D-4017-7BAA-6E15-2974112D15EB}"/>
              </a:ext>
            </a:extLst>
          </p:cNvPr>
          <p:cNvSpPr txBox="1"/>
          <p:nvPr/>
        </p:nvSpPr>
        <p:spPr>
          <a:xfrm>
            <a:off x="7245076" y="696121"/>
            <a:ext cx="4003958" cy="677108"/>
          </a:xfrm>
          <a:prstGeom prst="rect">
            <a:avLst/>
          </a:prstGeom>
          <a:noFill/>
        </p:spPr>
        <p:txBody>
          <a:bodyPr wrap="square" lIns="0" tIns="0" rIns="0" bIns="0" rtlCol="0">
            <a:spAutoFit/>
          </a:bodyPr>
          <a:lstStyle/>
          <a:p>
            <a:pPr algn="r"/>
            <a:r>
              <a:rPr lang="en-US" sz="4400" b="1" spc="-150" dirty="0">
                <a:latin typeface="Aptos" panose="020B0004020202020204" pitchFamily="34" charset="0"/>
                <a:ea typeface="Noto Sans Symbols SemBd" panose="020B0702040504020204" pitchFamily="34" charset="0"/>
              </a:rPr>
              <a:t>What They Offer</a:t>
            </a:r>
          </a:p>
        </p:txBody>
      </p:sp>
      <p:sp>
        <p:nvSpPr>
          <p:cNvPr id="6" name="TextBox 5">
            <a:extLst>
              <a:ext uri="{FF2B5EF4-FFF2-40B4-BE49-F238E27FC236}">
                <a16:creationId xmlns:a16="http://schemas.microsoft.com/office/drawing/2014/main" id="{A000B035-42EC-D8E3-7AD5-B1E887A834F5}"/>
              </a:ext>
            </a:extLst>
          </p:cNvPr>
          <p:cNvSpPr txBox="1"/>
          <p:nvPr/>
        </p:nvSpPr>
        <p:spPr>
          <a:xfrm>
            <a:off x="6853298" y="1652525"/>
            <a:ext cx="4799296" cy="4361002"/>
          </a:xfrm>
          <a:prstGeom prst="rect">
            <a:avLst/>
          </a:prstGeom>
          <a:noFill/>
        </p:spPr>
        <p:txBody>
          <a:bodyPr wrap="square" lIns="0" tIns="0" rIns="0" bIns="0" rtlCol="0">
            <a:spAutoFit/>
          </a:bodyPr>
          <a:lstStyle/>
          <a:p>
            <a:pPr marL="571500" indent="-571500" algn="r">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Drop Shipping &amp; Events</a:t>
            </a:r>
          </a:p>
          <a:p>
            <a:pPr marL="571500" indent="-571500" algn="r">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Printing</a:t>
            </a:r>
          </a:p>
          <a:p>
            <a:pPr marL="571500" indent="-571500" algn="r">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Giveaways</a:t>
            </a:r>
          </a:p>
          <a:p>
            <a:pPr marL="571500" indent="-571500" algn="r">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Kitting</a:t>
            </a:r>
          </a:p>
          <a:p>
            <a:pPr marL="571500" indent="-571500" algn="r">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Swag stores</a:t>
            </a:r>
          </a:p>
          <a:p>
            <a:pPr marL="571500" indent="-571500" algn="r">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Warehousing</a:t>
            </a:r>
          </a:p>
        </p:txBody>
      </p:sp>
      <p:pic>
        <p:nvPicPr>
          <p:cNvPr id="5" name="Picture 4" descr="A computer and a t-shirt&#10;&#10;Description automatically generated">
            <a:extLst>
              <a:ext uri="{FF2B5EF4-FFF2-40B4-BE49-F238E27FC236}">
                <a16:creationId xmlns:a16="http://schemas.microsoft.com/office/drawing/2014/main" id="{D25CC650-0E91-AA7E-446B-6A62973A2847}"/>
              </a:ext>
            </a:extLst>
          </p:cNvPr>
          <p:cNvPicPr>
            <a:picLocks noChangeAspect="1"/>
          </p:cNvPicPr>
          <p:nvPr/>
        </p:nvPicPr>
        <p:blipFill>
          <a:blip r:embed="rId7"/>
          <a:stretch>
            <a:fillRect/>
          </a:stretch>
        </p:blipFill>
        <p:spPr>
          <a:xfrm>
            <a:off x="4636038" y="2900489"/>
            <a:ext cx="4003958" cy="3344973"/>
          </a:xfrm>
          <a:prstGeom prst="rect">
            <a:avLst/>
          </a:prstGeom>
        </p:spPr>
      </p:pic>
      <p:sp>
        <p:nvSpPr>
          <p:cNvPr id="9" name="TextBox 8">
            <a:extLst>
              <a:ext uri="{FF2B5EF4-FFF2-40B4-BE49-F238E27FC236}">
                <a16:creationId xmlns:a16="http://schemas.microsoft.com/office/drawing/2014/main" id="{56AAB7F8-C79B-CF59-5977-C7D6E5FFF0B8}"/>
              </a:ext>
            </a:extLst>
          </p:cNvPr>
          <p:cNvSpPr txBox="1"/>
          <p:nvPr/>
        </p:nvSpPr>
        <p:spPr>
          <a:xfrm>
            <a:off x="785522" y="2018751"/>
            <a:ext cx="4275446" cy="830997"/>
          </a:xfrm>
          <a:prstGeom prst="rect">
            <a:avLst/>
          </a:prstGeom>
          <a:noFill/>
        </p:spPr>
        <p:txBody>
          <a:bodyPr wrap="square">
            <a:spAutoFit/>
          </a:bodyPr>
          <a:lstStyle/>
          <a:p>
            <a:pPr algn="ctr"/>
            <a:r>
              <a:rPr lang="en-US" sz="1600" b="1" dirty="0">
                <a:solidFill>
                  <a:srgbClr val="2B3057"/>
                </a:solidFill>
                <a:latin typeface="Aptos" panose="020B0004020202020204" pitchFamily="34" charset="0"/>
              </a:rPr>
              <a:t>“Say goodbye to swag logistics headaches and experience a fully featured swag management platform.”</a:t>
            </a:r>
            <a:endParaRPr lang="en-CA" sz="1600" b="1" dirty="0">
              <a:solidFill>
                <a:srgbClr val="2B3057"/>
              </a:solidFill>
              <a:latin typeface="Aptos" panose="020B0004020202020204" pitchFamily="34" charset="0"/>
            </a:endParaRPr>
          </a:p>
        </p:txBody>
      </p:sp>
    </p:spTree>
    <p:extLst>
      <p:ext uri="{BB962C8B-B14F-4D97-AF65-F5344CB8AC3E}">
        <p14:creationId xmlns:p14="http://schemas.microsoft.com/office/powerpoint/2010/main" val="1617534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1000"/>
                                        <p:tgtEl>
                                          <p:spTgt spid="6">
                                            <p:txEl>
                                              <p:pRg st="0" end="0"/>
                                            </p:txEl>
                                          </p:spTgt>
                                        </p:tgtEl>
                                      </p:cBhvr>
                                    </p:animEffect>
                                    <p:anim calcmode="lin" valueType="num">
                                      <p:cBhvr>
                                        <p:cTn id="24"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fade">
                                      <p:cBhvr>
                                        <p:cTn id="30" dur="1000"/>
                                        <p:tgtEl>
                                          <p:spTgt spid="6">
                                            <p:txEl>
                                              <p:pRg st="1" end="1"/>
                                            </p:txEl>
                                          </p:spTgt>
                                        </p:tgtEl>
                                      </p:cBhvr>
                                    </p:animEffect>
                                    <p:anim calcmode="lin" valueType="num">
                                      <p:cBhvr>
                                        <p:cTn id="31"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Effect transition="in" filter="fade">
                                      <p:cBhvr>
                                        <p:cTn id="37" dur="1000"/>
                                        <p:tgtEl>
                                          <p:spTgt spid="6">
                                            <p:txEl>
                                              <p:pRg st="2" end="2"/>
                                            </p:txEl>
                                          </p:spTgt>
                                        </p:tgtEl>
                                      </p:cBhvr>
                                    </p:animEffect>
                                    <p:anim calcmode="lin" valueType="num">
                                      <p:cBhvr>
                                        <p:cTn id="3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6">
                                            <p:txEl>
                                              <p:pRg st="3" end="3"/>
                                            </p:txEl>
                                          </p:spTgt>
                                        </p:tgtEl>
                                        <p:attrNameLst>
                                          <p:attrName>style.visibility</p:attrName>
                                        </p:attrNameLst>
                                      </p:cBhvr>
                                      <p:to>
                                        <p:strVal val="visible"/>
                                      </p:to>
                                    </p:set>
                                    <p:animEffect transition="in" filter="fade">
                                      <p:cBhvr>
                                        <p:cTn id="44" dur="1000"/>
                                        <p:tgtEl>
                                          <p:spTgt spid="6">
                                            <p:txEl>
                                              <p:pRg st="3" end="3"/>
                                            </p:txEl>
                                          </p:spTgt>
                                        </p:tgtEl>
                                      </p:cBhvr>
                                    </p:animEffect>
                                    <p:anim calcmode="lin" valueType="num">
                                      <p:cBhvr>
                                        <p:cTn id="45"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46"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6">
                                            <p:txEl>
                                              <p:pRg st="4" end="4"/>
                                            </p:txEl>
                                          </p:spTgt>
                                        </p:tgtEl>
                                        <p:attrNameLst>
                                          <p:attrName>style.visibility</p:attrName>
                                        </p:attrNameLst>
                                      </p:cBhvr>
                                      <p:to>
                                        <p:strVal val="visible"/>
                                      </p:to>
                                    </p:set>
                                    <p:animEffect transition="in" filter="fade">
                                      <p:cBhvr>
                                        <p:cTn id="51" dur="1000"/>
                                        <p:tgtEl>
                                          <p:spTgt spid="6">
                                            <p:txEl>
                                              <p:pRg st="4" end="4"/>
                                            </p:txEl>
                                          </p:spTgt>
                                        </p:tgtEl>
                                      </p:cBhvr>
                                    </p:animEffect>
                                    <p:anim calcmode="lin" valueType="num">
                                      <p:cBhvr>
                                        <p:cTn id="5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53"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6">
                                            <p:txEl>
                                              <p:pRg st="5" end="5"/>
                                            </p:txEl>
                                          </p:spTgt>
                                        </p:tgtEl>
                                        <p:attrNameLst>
                                          <p:attrName>style.visibility</p:attrName>
                                        </p:attrNameLst>
                                      </p:cBhvr>
                                      <p:to>
                                        <p:strVal val="visible"/>
                                      </p:to>
                                    </p:set>
                                    <p:animEffect transition="in" filter="fade">
                                      <p:cBhvr>
                                        <p:cTn id="58" dur="1000"/>
                                        <p:tgtEl>
                                          <p:spTgt spid="6">
                                            <p:txEl>
                                              <p:pRg st="5" end="5"/>
                                            </p:txEl>
                                          </p:spTgt>
                                        </p:tgtEl>
                                      </p:cBhvr>
                                    </p:animEffect>
                                    <p:anim calcmode="lin" valueType="num">
                                      <p:cBhvr>
                                        <p:cTn id="59"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60"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build="p"/>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A99F4F-70E7-9D47-37CB-E112BDC5DBEF}"/>
              </a:ext>
            </a:extLst>
          </p:cNvPr>
          <p:cNvSpPr/>
          <p:nvPr/>
        </p:nvSpPr>
        <p:spPr>
          <a:xfrm>
            <a:off x="0" y="0"/>
            <a:ext cx="12192000" cy="6858000"/>
          </a:xfrm>
          <a:prstGeom prst="rect">
            <a:avLst/>
          </a:prstGeom>
          <a:solidFill>
            <a:srgbClr val="2B3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4" name="Picture 3" descr="A blue text on a black background&#10;&#10;Description automatically generated">
            <a:extLst>
              <a:ext uri="{FF2B5EF4-FFF2-40B4-BE49-F238E27FC236}">
                <a16:creationId xmlns:a16="http://schemas.microsoft.com/office/drawing/2014/main" id="{0F80B43E-E97F-B3B4-3DEA-7EE7004259C5}"/>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212814" y="201087"/>
            <a:ext cx="2503823" cy="441851"/>
          </a:xfrm>
          <a:prstGeom prst="rect">
            <a:avLst/>
          </a:prstGeom>
        </p:spPr>
      </p:pic>
      <p:sp>
        <p:nvSpPr>
          <p:cNvPr id="3" name="TextBox 2">
            <a:extLst>
              <a:ext uri="{FF2B5EF4-FFF2-40B4-BE49-F238E27FC236}">
                <a16:creationId xmlns:a16="http://schemas.microsoft.com/office/drawing/2014/main" id="{52FF583D-4017-7BAA-6E15-2974112D15EB}"/>
              </a:ext>
            </a:extLst>
          </p:cNvPr>
          <p:cNvSpPr txBox="1"/>
          <p:nvPr/>
        </p:nvSpPr>
        <p:spPr>
          <a:xfrm>
            <a:off x="3796037" y="594481"/>
            <a:ext cx="4599923" cy="677108"/>
          </a:xfrm>
          <a:prstGeom prst="rect">
            <a:avLst/>
          </a:prstGeom>
          <a:noFill/>
        </p:spPr>
        <p:txBody>
          <a:bodyPr wrap="square" lIns="0" tIns="0" rIns="0" bIns="0" rtlCol="0">
            <a:spAutoFit/>
          </a:bodyPr>
          <a:lstStyle/>
          <a:p>
            <a:pPr algn="ctr"/>
            <a:r>
              <a:rPr lang="en-US" sz="4400" b="1" dirty="0">
                <a:latin typeface="Aptos" panose="020B0004020202020204" pitchFamily="34" charset="0"/>
                <a:ea typeface="Noto Sans Symbols SemBd" panose="020B0702040504020204" pitchFamily="34" charset="0"/>
              </a:rPr>
              <a:t>KEY TAKEAWAYS</a:t>
            </a:r>
          </a:p>
        </p:txBody>
      </p:sp>
      <p:sp>
        <p:nvSpPr>
          <p:cNvPr id="6" name="TextBox 5">
            <a:extLst>
              <a:ext uri="{FF2B5EF4-FFF2-40B4-BE49-F238E27FC236}">
                <a16:creationId xmlns:a16="http://schemas.microsoft.com/office/drawing/2014/main" id="{A000B035-42EC-D8E3-7AD5-B1E887A834F5}"/>
              </a:ext>
            </a:extLst>
          </p:cNvPr>
          <p:cNvSpPr txBox="1"/>
          <p:nvPr/>
        </p:nvSpPr>
        <p:spPr>
          <a:xfrm>
            <a:off x="1663521" y="1476376"/>
            <a:ext cx="8864954" cy="4361002"/>
          </a:xfrm>
          <a:prstGeom prst="rect">
            <a:avLst/>
          </a:prstGeom>
          <a:noFill/>
        </p:spPr>
        <p:txBody>
          <a:bodyPr wrap="square" lIns="0" tIns="0" rIns="0" bIns="0" rtlCol="0">
            <a:spAutoFit/>
          </a:bodyPr>
          <a:lstStyle/>
          <a:p>
            <a:pPr marL="571500" indent="-571500">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Full scale inventory management</a:t>
            </a:r>
          </a:p>
          <a:p>
            <a:pPr marL="571500" indent="-571500">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On demand printing and swag sourcing</a:t>
            </a:r>
          </a:p>
          <a:p>
            <a:pPr marL="571500" indent="-571500">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Shipping fulfillment</a:t>
            </a:r>
          </a:p>
          <a:p>
            <a:pPr marL="571500" indent="-571500">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Reporting</a:t>
            </a:r>
          </a:p>
          <a:p>
            <a:pPr marL="571500" indent="-571500">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Integrations</a:t>
            </a:r>
          </a:p>
          <a:p>
            <a:pPr marL="571500" indent="-571500">
              <a:lnSpc>
                <a:spcPct val="150000"/>
              </a:lnSpc>
              <a:buFont typeface="Wingdings" panose="05000000000000000000" pitchFamily="2" charset="2"/>
              <a:buChar char="§"/>
            </a:pPr>
            <a:r>
              <a:rPr lang="en-US" sz="3200" dirty="0">
                <a:latin typeface="Aptos" panose="020B0004020202020204" pitchFamily="34" charset="0"/>
                <a:ea typeface="Noto Sans Symbols SemBd" panose="020B0702040504020204" pitchFamily="34" charset="0"/>
              </a:rPr>
              <a:t>Willing to negotiate pricing based on our needs</a:t>
            </a:r>
          </a:p>
        </p:txBody>
      </p:sp>
    </p:spTree>
    <p:extLst>
      <p:ext uri="{BB962C8B-B14F-4D97-AF65-F5344CB8AC3E}">
        <p14:creationId xmlns:p14="http://schemas.microsoft.com/office/powerpoint/2010/main" val="179558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fade">
                                      <p:cBhvr>
                                        <p:cTn id="42" dur="1000"/>
                                        <p:tgtEl>
                                          <p:spTgt spid="6">
                                            <p:txEl>
                                              <p:pRg st="5" end="5"/>
                                            </p:txEl>
                                          </p:spTgt>
                                        </p:tgtEl>
                                      </p:cBhvr>
                                    </p:animEffect>
                                    <p:anim calcmode="lin" valueType="num">
                                      <p:cBhvr>
                                        <p:cTn id="4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A99F4F-70E7-9D47-37CB-E112BDC5DBEF}"/>
              </a:ext>
            </a:extLst>
          </p:cNvPr>
          <p:cNvSpPr/>
          <p:nvPr/>
        </p:nvSpPr>
        <p:spPr>
          <a:xfrm>
            <a:off x="0" y="0"/>
            <a:ext cx="12192000" cy="6858000"/>
          </a:xfrm>
          <a:prstGeom prst="rect">
            <a:avLst/>
          </a:prstGeom>
          <a:solidFill>
            <a:srgbClr val="2B3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4" name="Picture 3" descr="A blue text on a black background&#10;&#10;Description automatically generated">
            <a:extLst>
              <a:ext uri="{FF2B5EF4-FFF2-40B4-BE49-F238E27FC236}">
                <a16:creationId xmlns:a16="http://schemas.microsoft.com/office/drawing/2014/main" id="{0F80B43E-E97F-B3B4-3DEA-7EE7004259C5}"/>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5255732" y="6175673"/>
            <a:ext cx="1680536" cy="296565"/>
          </a:xfrm>
          <a:prstGeom prst="rect">
            <a:avLst/>
          </a:prstGeom>
        </p:spPr>
      </p:pic>
      <p:pic>
        <p:nvPicPr>
          <p:cNvPr id="1026" name="Picture 2">
            <a:extLst>
              <a:ext uri="{FF2B5EF4-FFF2-40B4-BE49-F238E27FC236}">
                <a16:creationId xmlns:a16="http://schemas.microsoft.com/office/drawing/2014/main" id="{7B683381-73DE-D075-42CB-A03929AF1E4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3172"/>
          <a:stretch/>
        </p:blipFill>
        <p:spPr bwMode="auto">
          <a:xfrm>
            <a:off x="2729706" y="280968"/>
            <a:ext cx="6519069" cy="56137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03B8B9D-47BC-A0D5-0A6E-23E50E51DBE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0959" r="11371" b="4876"/>
          <a:stretch/>
        </p:blipFill>
        <p:spPr bwMode="auto">
          <a:xfrm>
            <a:off x="-1611106" y="1157710"/>
            <a:ext cx="6324504" cy="541932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7992AD5B-3A0A-E7C6-4FA9-6E8E4523AF1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42725" y="1872663"/>
            <a:ext cx="5550366" cy="459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7615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500"/>
                                        <p:tgtEl>
                                          <p:spTgt spid="10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0"/>
                                        </p:tgtEl>
                                        <p:attrNameLst>
                                          <p:attrName>style.visibility</p:attrName>
                                        </p:attrNameLst>
                                      </p:cBhvr>
                                      <p:to>
                                        <p:strVal val="visible"/>
                                      </p:to>
                                    </p:set>
                                    <p:animEffect transition="in" filter="fade">
                                      <p:cBhvr>
                                        <p:cTn id="17"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5D209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B69594-9737-2ECD-8AC4-DEE8054C4707}"/>
              </a:ext>
            </a:extLst>
          </p:cNvPr>
          <p:cNvSpPr>
            <a:spLocks noGrp="1" noRot="1" noMove="1" noResize="1" noEditPoints="1" noAdjustHandles="1" noChangeArrowheads="1" noChangeShapeType="1"/>
          </p:cNvSpPr>
          <p:nvPr/>
        </p:nvSpPr>
        <p:spPr>
          <a:xfrm>
            <a:off x="4625575" y="0"/>
            <a:ext cx="7758545"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Oval 5">
            <a:extLst>
              <a:ext uri="{FF2B5EF4-FFF2-40B4-BE49-F238E27FC236}">
                <a16:creationId xmlns:a16="http://schemas.microsoft.com/office/drawing/2014/main" id="{389978E2-CBB3-488C-5D42-B00BE9D86F1C}"/>
              </a:ext>
            </a:extLst>
          </p:cNvPr>
          <p:cNvSpPr/>
          <p:nvPr/>
        </p:nvSpPr>
        <p:spPr>
          <a:xfrm>
            <a:off x="-1113886" y="-904009"/>
            <a:ext cx="7209886" cy="8666018"/>
          </a:xfrm>
          <a:prstGeom prst="ellipse">
            <a:avLst/>
          </a:prstGeom>
          <a:solidFill>
            <a:srgbClr val="5D20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5" name="Picture 4" descr="A purple letter on a black background&#10;&#10;Description automatically generated">
            <a:extLst>
              <a:ext uri="{FF2B5EF4-FFF2-40B4-BE49-F238E27FC236}">
                <a16:creationId xmlns:a16="http://schemas.microsoft.com/office/drawing/2014/main" id="{A39CDE5A-A49D-6FA9-2F74-9C08F5A5EB5F}"/>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501994" y="2172004"/>
            <a:ext cx="3185160" cy="404515"/>
          </a:xfrm>
          <a:prstGeom prst="rect">
            <a:avLst/>
          </a:prstGeom>
          <a:noFill/>
        </p:spPr>
      </p:pic>
      <p:sp>
        <p:nvSpPr>
          <p:cNvPr id="4" name="TextBox 3">
            <a:extLst>
              <a:ext uri="{FF2B5EF4-FFF2-40B4-BE49-F238E27FC236}">
                <a16:creationId xmlns:a16="http://schemas.microsoft.com/office/drawing/2014/main" id="{34D15D62-CC95-F312-B31A-74119C446A17}"/>
              </a:ext>
            </a:extLst>
          </p:cNvPr>
          <p:cNvSpPr txBox="1"/>
          <p:nvPr/>
        </p:nvSpPr>
        <p:spPr>
          <a:xfrm>
            <a:off x="135888" y="96983"/>
            <a:ext cx="3917372" cy="984885"/>
          </a:xfrm>
          <a:prstGeom prst="rect">
            <a:avLst/>
          </a:prstGeom>
          <a:noFill/>
        </p:spPr>
        <p:txBody>
          <a:bodyPr wrap="square" lIns="0" tIns="0" rIns="0" bIns="0" rtlCol="0">
            <a:spAutoFit/>
          </a:bodyPr>
          <a:lstStyle/>
          <a:p>
            <a:pPr algn="l"/>
            <a:r>
              <a:rPr lang="en-US" sz="3200" b="1" dirty="0">
                <a:latin typeface="Lexend" pitchFamily="2" charset="0"/>
              </a:rPr>
              <a:t>New York, </a:t>
            </a:r>
          </a:p>
          <a:p>
            <a:pPr algn="l"/>
            <a:r>
              <a:rPr lang="en-US" sz="3200" b="1" dirty="0">
                <a:latin typeface="Lexend" pitchFamily="2" charset="0"/>
              </a:rPr>
              <a:t>NY</a:t>
            </a:r>
            <a:endParaRPr lang="en-CA" sz="3200" b="1" dirty="0">
              <a:latin typeface="Lexend" pitchFamily="2" charset="0"/>
            </a:endParaRPr>
          </a:p>
        </p:txBody>
      </p:sp>
      <p:sp>
        <p:nvSpPr>
          <p:cNvPr id="3" name="TextBox 2">
            <a:extLst>
              <a:ext uri="{FF2B5EF4-FFF2-40B4-BE49-F238E27FC236}">
                <a16:creationId xmlns:a16="http://schemas.microsoft.com/office/drawing/2014/main" id="{4F03CD23-CD0A-4637-373C-2E1F93611AFC}"/>
              </a:ext>
            </a:extLst>
          </p:cNvPr>
          <p:cNvSpPr txBox="1"/>
          <p:nvPr/>
        </p:nvSpPr>
        <p:spPr>
          <a:xfrm>
            <a:off x="501994" y="2697263"/>
            <a:ext cx="4887424" cy="1754326"/>
          </a:xfrm>
          <a:prstGeom prst="rect">
            <a:avLst/>
          </a:prstGeom>
          <a:noFill/>
        </p:spPr>
        <p:txBody>
          <a:bodyPr wrap="square">
            <a:spAutoFit/>
          </a:bodyPr>
          <a:lstStyle/>
          <a:p>
            <a:pPr algn="l"/>
            <a:r>
              <a:rPr lang="en-US" b="1" i="0" dirty="0">
                <a:solidFill>
                  <a:schemeClr val="tx2"/>
                </a:solidFill>
                <a:effectLst/>
                <a:latin typeface="Lexend" pitchFamily="2" charset="0"/>
              </a:rPr>
              <a:t>“ROI, guaranteed.</a:t>
            </a:r>
          </a:p>
          <a:p>
            <a:pPr algn="l"/>
            <a:r>
              <a:rPr lang="en-US" b="0" i="0" dirty="0">
                <a:solidFill>
                  <a:schemeClr val="tx2"/>
                </a:solidFill>
                <a:effectLst/>
                <a:latin typeface="Lexend" pitchFamily="2" charset="0"/>
              </a:rPr>
              <a:t>Use data-driven gifting to grow your pipeline, close more deals, and create an exceptional customer experience with the world's first </a:t>
            </a:r>
            <a:r>
              <a:rPr lang="en-US" b="1" i="0" dirty="0">
                <a:solidFill>
                  <a:schemeClr val="tx2"/>
                </a:solidFill>
                <a:effectLst/>
                <a:latin typeface="Lexend" pitchFamily="2" charset="0"/>
              </a:rPr>
              <a:t>Allbound Engagement Platform</a:t>
            </a:r>
            <a:r>
              <a:rPr lang="en-US" b="0" i="0" dirty="0">
                <a:solidFill>
                  <a:schemeClr val="tx2"/>
                </a:solidFill>
                <a:effectLst/>
                <a:latin typeface="Lexend" pitchFamily="2" charset="0"/>
              </a:rPr>
              <a:t>.”</a:t>
            </a:r>
          </a:p>
        </p:txBody>
      </p:sp>
      <p:sp>
        <p:nvSpPr>
          <p:cNvPr id="7" name="TextBox 6">
            <a:extLst>
              <a:ext uri="{FF2B5EF4-FFF2-40B4-BE49-F238E27FC236}">
                <a16:creationId xmlns:a16="http://schemas.microsoft.com/office/drawing/2014/main" id="{13B7A3C3-DCCC-4CFB-0787-A6C8879D06FA}"/>
              </a:ext>
            </a:extLst>
          </p:cNvPr>
          <p:cNvSpPr txBox="1"/>
          <p:nvPr/>
        </p:nvSpPr>
        <p:spPr>
          <a:xfrm>
            <a:off x="6897460" y="954964"/>
            <a:ext cx="4685200" cy="677108"/>
          </a:xfrm>
          <a:prstGeom prst="rect">
            <a:avLst/>
          </a:prstGeom>
          <a:noFill/>
        </p:spPr>
        <p:txBody>
          <a:bodyPr wrap="square" lIns="0" tIns="0" rIns="0" bIns="0" rtlCol="0">
            <a:spAutoFit/>
          </a:bodyPr>
          <a:lstStyle/>
          <a:p>
            <a:pPr algn="l"/>
            <a:r>
              <a:rPr lang="en-US" sz="4400" b="1" dirty="0">
                <a:solidFill>
                  <a:srgbClr val="5D209F"/>
                </a:solidFill>
                <a:latin typeface="Lexend" pitchFamily="2" charset="0"/>
              </a:rPr>
              <a:t>What they offer</a:t>
            </a:r>
            <a:endParaRPr lang="en-CA" sz="4400" b="1" dirty="0">
              <a:solidFill>
                <a:srgbClr val="5D209F"/>
              </a:solidFill>
              <a:latin typeface="Lexend" pitchFamily="2" charset="0"/>
            </a:endParaRPr>
          </a:p>
        </p:txBody>
      </p:sp>
      <p:sp>
        <p:nvSpPr>
          <p:cNvPr id="12" name="TextBox 11">
            <a:extLst>
              <a:ext uri="{FF2B5EF4-FFF2-40B4-BE49-F238E27FC236}">
                <a16:creationId xmlns:a16="http://schemas.microsoft.com/office/drawing/2014/main" id="{C15D1A08-A09E-EDA8-F871-D6B349992C7E}"/>
              </a:ext>
            </a:extLst>
          </p:cNvPr>
          <p:cNvSpPr txBox="1"/>
          <p:nvPr/>
        </p:nvSpPr>
        <p:spPr>
          <a:xfrm>
            <a:off x="6605128" y="2084076"/>
            <a:ext cx="5815741" cy="3607141"/>
          </a:xfrm>
          <a:prstGeom prst="rect">
            <a:avLst/>
          </a:prstGeom>
          <a:noFill/>
        </p:spPr>
        <p:txBody>
          <a:bodyPr wrap="square" lIns="0" tIns="0" rIns="0" bIns="0" rtlCol="0">
            <a:spAutoFit/>
          </a:bodyPr>
          <a:lstStyle/>
          <a:p>
            <a:pPr marL="457200" indent="-457200" algn="l">
              <a:lnSpc>
                <a:spcPct val="150000"/>
              </a:lnSpc>
              <a:buFont typeface="Wingdings" panose="05000000000000000000" pitchFamily="2" charset="2"/>
              <a:buChar char="§"/>
            </a:pPr>
            <a:r>
              <a:rPr lang="en-US" sz="3200" dirty="0">
                <a:solidFill>
                  <a:srgbClr val="5D209F"/>
                </a:solidFill>
                <a:latin typeface="Lexend Light" pitchFamily="2" charset="0"/>
              </a:rPr>
              <a:t>Inventory management</a:t>
            </a:r>
          </a:p>
          <a:p>
            <a:pPr marL="457200" indent="-457200" algn="l">
              <a:lnSpc>
                <a:spcPct val="150000"/>
              </a:lnSpc>
              <a:buFont typeface="Wingdings" panose="05000000000000000000" pitchFamily="2" charset="2"/>
              <a:buChar char="§"/>
            </a:pPr>
            <a:r>
              <a:rPr lang="en-US" sz="3200" dirty="0">
                <a:solidFill>
                  <a:srgbClr val="5D209F"/>
                </a:solidFill>
                <a:latin typeface="Lexend Light" pitchFamily="2" charset="0"/>
              </a:rPr>
              <a:t>Gifting &amp; Bundles</a:t>
            </a:r>
          </a:p>
          <a:p>
            <a:pPr marL="457200" indent="-457200" algn="l">
              <a:lnSpc>
                <a:spcPct val="150000"/>
              </a:lnSpc>
              <a:buFont typeface="Wingdings" panose="05000000000000000000" pitchFamily="2" charset="2"/>
              <a:buChar char="§"/>
            </a:pPr>
            <a:r>
              <a:rPr lang="en-US" sz="3200" dirty="0">
                <a:solidFill>
                  <a:srgbClr val="5D209F"/>
                </a:solidFill>
                <a:latin typeface="Lexend Light" pitchFamily="2" charset="0"/>
              </a:rPr>
              <a:t>Storage and shipping</a:t>
            </a:r>
          </a:p>
          <a:p>
            <a:pPr marL="457200" indent="-457200" algn="l">
              <a:lnSpc>
                <a:spcPct val="150000"/>
              </a:lnSpc>
              <a:buFont typeface="Wingdings" panose="05000000000000000000" pitchFamily="2" charset="2"/>
              <a:buChar char="§"/>
            </a:pPr>
            <a:r>
              <a:rPr lang="en-US" sz="3200" dirty="0">
                <a:solidFill>
                  <a:srgbClr val="5D209F"/>
                </a:solidFill>
                <a:latin typeface="Lexend Light" pitchFamily="2" charset="0"/>
              </a:rPr>
              <a:t>Merchandise Builder</a:t>
            </a:r>
          </a:p>
          <a:p>
            <a:pPr marL="457200" indent="-457200" algn="l">
              <a:lnSpc>
                <a:spcPct val="150000"/>
              </a:lnSpc>
              <a:buFont typeface="Wingdings" panose="05000000000000000000" pitchFamily="2" charset="2"/>
              <a:buChar char="§"/>
            </a:pPr>
            <a:r>
              <a:rPr lang="en-US" sz="3200" dirty="0">
                <a:solidFill>
                  <a:srgbClr val="5D209F"/>
                </a:solidFill>
                <a:latin typeface="Lexend Light" pitchFamily="2" charset="0"/>
              </a:rPr>
              <a:t>ABX/ABM</a:t>
            </a:r>
          </a:p>
        </p:txBody>
      </p:sp>
      <p:pic>
        <p:nvPicPr>
          <p:cNvPr id="1026" name="Picture 2" descr="PromotionalProductManagement_Leader_Leader">
            <a:extLst>
              <a:ext uri="{FF2B5EF4-FFF2-40B4-BE49-F238E27FC236}">
                <a16:creationId xmlns:a16="http://schemas.microsoft.com/office/drawing/2014/main" id="{356982F1-E516-D338-C552-1434699825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6538" y="4572333"/>
            <a:ext cx="708333" cy="9200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irectMailAutomation_BestEstimatedROI_Mid-Market_Roi">
            <a:extLst>
              <a:ext uri="{FF2B5EF4-FFF2-40B4-BE49-F238E27FC236}">
                <a16:creationId xmlns:a16="http://schemas.microsoft.com/office/drawing/2014/main" id="{E0A15B32-C5D8-7E99-BB2A-4479B70D96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1434" y="4572333"/>
            <a:ext cx="708333" cy="92002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romotionalProductManagement_EasiestAdmin_EaseOfAdmin">
            <a:extLst>
              <a:ext uri="{FF2B5EF4-FFF2-40B4-BE49-F238E27FC236}">
                <a16:creationId xmlns:a16="http://schemas.microsoft.com/office/drawing/2014/main" id="{90D45868-469A-E675-4E8C-D73E6FB4D6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23162" y="4572333"/>
            <a:ext cx="714670" cy="92825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ccount-BasedDirectMail_EasiestSetup_EaseOfSetup">
            <a:extLst>
              <a:ext uri="{FF2B5EF4-FFF2-40B4-BE49-F238E27FC236}">
                <a16:creationId xmlns:a16="http://schemas.microsoft.com/office/drawing/2014/main" id="{E3BB50C9-B3C5-E2A8-1D04-216FEE81CD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7046" y="4569492"/>
            <a:ext cx="710520" cy="922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599335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animEffect transition="in" filter="fade">
                                      <p:cBhvr>
                                        <p:cTn id="23" dur="1000"/>
                                        <p:tgtEl>
                                          <p:spTgt spid="12">
                                            <p:txEl>
                                              <p:pRg st="0" end="0"/>
                                            </p:txEl>
                                          </p:spTgt>
                                        </p:tgtEl>
                                      </p:cBhvr>
                                    </p:animEffect>
                                    <p:anim calcmode="lin" valueType="num">
                                      <p:cBhvr>
                                        <p:cTn id="24"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2">
                                            <p:txEl>
                                              <p:pRg st="1" end="1"/>
                                            </p:txEl>
                                          </p:spTgt>
                                        </p:tgtEl>
                                        <p:attrNameLst>
                                          <p:attrName>style.visibility</p:attrName>
                                        </p:attrNameLst>
                                      </p:cBhvr>
                                      <p:to>
                                        <p:strVal val="visible"/>
                                      </p:to>
                                    </p:set>
                                    <p:animEffect transition="in" filter="fade">
                                      <p:cBhvr>
                                        <p:cTn id="30" dur="1000"/>
                                        <p:tgtEl>
                                          <p:spTgt spid="12">
                                            <p:txEl>
                                              <p:pRg st="1" end="1"/>
                                            </p:txEl>
                                          </p:spTgt>
                                        </p:tgtEl>
                                      </p:cBhvr>
                                    </p:animEffect>
                                    <p:anim calcmode="lin" valueType="num">
                                      <p:cBhvr>
                                        <p:cTn id="31"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2">
                                            <p:txEl>
                                              <p:pRg st="2" end="2"/>
                                            </p:txEl>
                                          </p:spTgt>
                                        </p:tgtEl>
                                        <p:attrNameLst>
                                          <p:attrName>style.visibility</p:attrName>
                                        </p:attrNameLst>
                                      </p:cBhvr>
                                      <p:to>
                                        <p:strVal val="visible"/>
                                      </p:to>
                                    </p:set>
                                    <p:animEffect transition="in" filter="fade">
                                      <p:cBhvr>
                                        <p:cTn id="37" dur="1000"/>
                                        <p:tgtEl>
                                          <p:spTgt spid="12">
                                            <p:txEl>
                                              <p:pRg st="2" end="2"/>
                                            </p:txEl>
                                          </p:spTgt>
                                        </p:tgtEl>
                                      </p:cBhvr>
                                    </p:animEffect>
                                    <p:anim calcmode="lin" valueType="num">
                                      <p:cBhvr>
                                        <p:cTn id="3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2">
                                            <p:txEl>
                                              <p:pRg st="3" end="3"/>
                                            </p:txEl>
                                          </p:spTgt>
                                        </p:tgtEl>
                                        <p:attrNameLst>
                                          <p:attrName>style.visibility</p:attrName>
                                        </p:attrNameLst>
                                      </p:cBhvr>
                                      <p:to>
                                        <p:strVal val="visible"/>
                                      </p:to>
                                    </p:set>
                                    <p:animEffect transition="in" filter="fade">
                                      <p:cBhvr>
                                        <p:cTn id="44" dur="1000"/>
                                        <p:tgtEl>
                                          <p:spTgt spid="12">
                                            <p:txEl>
                                              <p:pRg st="3" end="3"/>
                                            </p:txEl>
                                          </p:spTgt>
                                        </p:tgtEl>
                                      </p:cBhvr>
                                    </p:animEffect>
                                    <p:anim calcmode="lin" valueType="num">
                                      <p:cBhvr>
                                        <p:cTn id="4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46"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animEffect transition="in" filter="fade">
                                      <p:cBhvr>
                                        <p:cTn id="51" dur="1000"/>
                                        <p:tgtEl>
                                          <p:spTgt spid="12">
                                            <p:txEl>
                                              <p:pRg st="4" end="4"/>
                                            </p:txEl>
                                          </p:spTgt>
                                        </p:tgtEl>
                                      </p:cBhvr>
                                    </p:animEffect>
                                    <p:anim calcmode="lin" valueType="num">
                                      <p:cBhvr>
                                        <p:cTn id="52"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53"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2"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5D209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B69594-9737-2ECD-8AC4-DEE8054C4707}"/>
              </a:ext>
            </a:extLst>
          </p:cNvPr>
          <p:cNvSpPr>
            <a:spLocks/>
          </p:cNvSpPr>
          <p:nvPr/>
        </p:nvSpPr>
        <p:spPr>
          <a:xfrm>
            <a:off x="8029575" y="0"/>
            <a:ext cx="4354545"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Oval 5">
            <a:extLst>
              <a:ext uri="{FF2B5EF4-FFF2-40B4-BE49-F238E27FC236}">
                <a16:creationId xmlns:a16="http://schemas.microsoft.com/office/drawing/2014/main" id="{389978E2-CBB3-488C-5D42-B00BE9D86F1C}"/>
              </a:ext>
            </a:extLst>
          </p:cNvPr>
          <p:cNvSpPr>
            <a:spLocks/>
          </p:cNvSpPr>
          <p:nvPr/>
        </p:nvSpPr>
        <p:spPr>
          <a:xfrm>
            <a:off x="3956656" y="-459365"/>
            <a:ext cx="5695949" cy="7776730"/>
          </a:xfrm>
          <a:prstGeom prst="ellipse">
            <a:avLst/>
          </a:prstGeom>
          <a:solidFill>
            <a:srgbClr val="5D20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5" name="Picture 4" descr="A purple letter on a black background&#10;&#10;Description automatically generated">
            <a:extLst>
              <a:ext uri="{FF2B5EF4-FFF2-40B4-BE49-F238E27FC236}">
                <a16:creationId xmlns:a16="http://schemas.microsoft.com/office/drawing/2014/main" id="{A39CDE5A-A49D-6FA9-2F74-9C08F5A5EB5F}"/>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
                    </a14:imgEffect>
                  </a14:imgLayer>
                </a14:imgProps>
              </a:ext>
            </a:extLst>
          </a:blip>
          <a:stretch>
            <a:fillRect/>
          </a:stretch>
        </p:blipFill>
        <p:spPr>
          <a:xfrm>
            <a:off x="10055569" y="474675"/>
            <a:ext cx="1822106" cy="231407"/>
          </a:xfrm>
          <a:prstGeom prst="rect">
            <a:avLst/>
          </a:prstGeom>
          <a:noFill/>
        </p:spPr>
      </p:pic>
      <p:sp>
        <p:nvSpPr>
          <p:cNvPr id="7" name="TextBox 6">
            <a:extLst>
              <a:ext uri="{FF2B5EF4-FFF2-40B4-BE49-F238E27FC236}">
                <a16:creationId xmlns:a16="http://schemas.microsoft.com/office/drawing/2014/main" id="{13B7A3C3-DCCC-4CFB-0787-A6C8879D06FA}"/>
              </a:ext>
            </a:extLst>
          </p:cNvPr>
          <p:cNvSpPr txBox="1"/>
          <p:nvPr/>
        </p:nvSpPr>
        <p:spPr>
          <a:xfrm>
            <a:off x="3819647" y="859714"/>
            <a:ext cx="4685200" cy="677108"/>
          </a:xfrm>
          <a:prstGeom prst="rect">
            <a:avLst/>
          </a:prstGeom>
          <a:noFill/>
        </p:spPr>
        <p:txBody>
          <a:bodyPr wrap="square" lIns="0" tIns="0" rIns="0" bIns="0" rtlCol="0">
            <a:spAutoFit/>
          </a:bodyPr>
          <a:lstStyle/>
          <a:p>
            <a:pPr algn="l"/>
            <a:r>
              <a:rPr lang="en-US" sz="4400" b="1" dirty="0">
                <a:latin typeface="Lexend" pitchFamily="2" charset="0"/>
              </a:rPr>
              <a:t>Key Takeaways</a:t>
            </a:r>
            <a:endParaRPr lang="en-CA" sz="4400" b="1" dirty="0">
              <a:latin typeface="Lexend" pitchFamily="2" charset="0"/>
            </a:endParaRPr>
          </a:p>
        </p:txBody>
      </p:sp>
      <p:sp>
        <p:nvSpPr>
          <p:cNvPr id="12" name="TextBox 11">
            <a:extLst>
              <a:ext uri="{FF2B5EF4-FFF2-40B4-BE49-F238E27FC236}">
                <a16:creationId xmlns:a16="http://schemas.microsoft.com/office/drawing/2014/main" id="{C15D1A08-A09E-EDA8-F871-D6B349992C7E}"/>
              </a:ext>
            </a:extLst>
          </p:cNvPr>
          <p:cNvSpPr txBox="1"/>
          <p:nvPr/>
        </p:nvSpPr>
        <p:spPr>
          <a:xfrm>
            <a:off x="1638327" y="1727722"/>
            <a:ext cx="9020148" cy="4448910"/>
          </a:xfrm>
          <a:prstGeom prst="rect">
            <a:avLst/>
          </a:prstGeom>
          <a:noFill/>
        </p:spPr>
        <p:txBody>
          <a:bodyPr wrap="square" lIns="0" tIns="0" rIns="0" bIns="0" rtlCol="0">
            <a:spAutoFit/>
          </a:bodyPr>
          <a:lstStyle/>
          <a:p>
            <a:pPr marL="457200" indent="-457200" algn="l">
              <a:lnSpc>
                <a:spcPct val="150000"/>
              </a:lnSpc>
              <a:buFont typeface="Wingdings" panose="05000000000000000000" pitchFamily="2" charset="2"/>
              <a:buChar char="§"/>
            </a:pPr>
            <a:r>
              <a:rPr lang="en-US" sz="2800" dirty="0">
                <a:latin typeface="Lexend Light" pitchFamily="2" charset="0"/>
              </a:rPr>
              <a:t>More focus on gifting and bundles</a:t>
            </a:r>
          </a:p>
          <a:p>
            <a:pPr marL="457200" indent="-457200" algn="l">
              <a:lnSpc>
                <a:spcPct val="150000"/>
              </a:lnSpc>
              <a:buFont typeface="Wingdings" panose="05000000000000000000" pitchFamily="2" charset="2"/>
              <a:buChar char="§"/>
            </a:pPr>
            <a:r>
              <a:rPr lang="en-US" sz="2800" dirty="0">
                <a:latin typeface="Lexend Light" pitchFamily="2" charset="0"/>
              </a:rPr>
              <a:t>Logistics support</a:t>
            </a:r>
          </a:p>
          <a:p>
            <a:pPr marL="457200" indent="-457200" algn="l">
              <a:lnSpc>
                <a:spcPct val="150000"/>
              </a:lnSpc>
              <a:buFont typeface="Wingdings" panose="05000000000000000000" pitchFamily="2" charset="2"/>
              <a:buChar char="§"/>
            </a:pPr>
            <a:r>
              <a:rPr lang="en-US" sz="2800" dirty="0">
                <a:latin typeface="Lexend Light" pitchFamily="2" charset="0"/>
              </a:rPr>
              <a:t>Inventory management</a:t>
            </a:r>
          </a:p>
          <a:p>
            <a:pPr marL="457200" indent="-457200" algn="l">
              <a:lnSpc>
                <a:spcPct val="150000"/>
              </a:lnSpc>
              <a:buFont typeface="Wingdings" panose="05000000000000000000" pitchFamily="2" charset="2"/>
              <a:buChar char="§"/>
            </a:pPr>
            <a:r>
              <a:rPr lang="en-US" sz="2800" dirty="0">
                <a:latin typeface="Lexend Light" pitchFamily="2" charset="0"/>
              </a:rPr>
              <a:t>Integrations</a:t>
            </a:r>
          </a:p>
          <a:p>
            <a:pPr marL="457200" indent="-457200" algn="l">
              <a:lnSpc>
                <a:spcPct val="150000"/>
              </a:lnSpc>
              <a:buFont typeface="Wingdings" panose="05000000000000000000" pitchFamily="2" charset="2"/>
              <a:buChar char="§"/>
            </a:pPr>
            <a:r>
              <a:rPr lang="en-US" sz="2800" dirty="0">
                <a:latin typeface="Lexend Light" pitchFamily="2" charset="0"/>
              </a:rPr>
              <a:t>Competitor analysis</a:t>
            </a:r>
          </a:p>
          <a:p>
            <a:pPr marL="457200" indent="-457200">
              <a:lnSpc>
                <a:spcPct val="150000"/>
              </a:lnSpc>
              <a:buFont typeface="Wingdings" panose="05000000000000000000" pitchFamily="2" charset="2"/>
              <a:buChar char="§"/>
            </a:pPr>
            <a:r>
              <a:rPr lang="en-US" sz="2800" dirty="0">
                <a:latin typeface="Lexend Light" pitchFamily="2" charset="0"/>
              </a:rPr>
              <a:t>Cost effectiveness</a:t>
            </a:r>
          </a:p>
          <a:p>
            <a:pPr marL="457200" indent="-457200">
              <a:lnSpc>
                <a:spcPct val="150000"/>
              </a:lnSpc>
              <a:buFont typeface="Wingdings" panose="05000000000000000000" pitchFamily="2" charset="2"/>
              <a:buChar char="§"/>
            </a:pPr>
            <a:r>
              <a:rPr lang="en-US" sz="2800" dirty="0">
                <a:solidFill>
                  <a:srgbClr val="FF0000"/>
                </a:solidFill>
                <a:latin typeface="Lexend Light" pitchFamily="2" charset="0"/>
              </a:rPr>
              <a:t>Credit/ Wallet based</a:t>
            </a:r>
          </a:p>
        </p:txBody>
      </p:sp>
    </p:spTree>
    <p:extLst>
      <p:ext uri="{BB962C8B-B14F-4D97-AF65-F5344CB8AC3E}">
        <p14:creationId xmlns:p14="http://schemas.microsoft.com/office/powerpoint/2010/main" val="4261644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xEl>
                                              <p:pRg st="1" end="1"/>
                                            </p:txEl>
                                          </p:spTgt>
                                        </p:tgtEl>
                                        <p:attrNameLst>
                                          <p:attrName>style.visibility</p:attrName>
                                        </p:attrNameLst>
                                      </p:cBhvr>
                                      <p:to>
                                        <p:strVal val="visible"/>
                                      </p:to>
                                    </p:set>
                                    <p:animEffect transition="in" filter="fade">
                                      <p:cBhvr>
                                        <p:cTn id="14" dur="1000"/>
                                        <p:tgtEl>
                                          <p:spTgt spid="12">
                                            <p:txEl>
                                              <p:pRg st="1" end="1"/>
                                            </p:txEl>
                                          </p:spTgt>
                                        </p:tgtEl>
                                      </p:cBhvr>
                                    </p:animEffect>
                                    <p:anim calcmode="lin" valueType="num">
                                      <p:cBhvr>
                                        <p:cTn id="15"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animEffect transition="in" filter="fade">
                                      <p:cBhvr>
                                        <p:cTn id="21" dur="1000"/>
                                        <p:tgtEl>
                                          <p:spTgt spid="12">
                                            <p:txEl>
                                              <p:pRg st="2" end="2"/>
                                            </p:txEl>
                                          </p:spTgt>
                                        </p:tgtEl>
                                      </p:cBhvr>
                                    </p:animEffect>
                                    <p:anim calcmode="lin" valueType="num">
                                      <p:cBhvr>
                                        <p:cTn id="22"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txEl>
                                              <p:pRg st="3" end="3"/>
                                            </p:txEl>
                                          </p:spTgt>
                                        </p:tgtEl>
                                        <p:attrNameLst>
                                          <p:attrName>style.visibility</p:attrName>
                                        </p:attrNameLst>
                                      </p:cBhvr>
                                      <p:to>
                                        <p:strVal val="visible"/>
                                      </p:to>
                                    </p:set>
                                    <p:animEffect transition="in" filter="fade">
                                      <p:cBhvr>
                                        <p:cTn id="28" dur="1000"/>
                                        <p:tgtEl>
                                          <p:spTgt spid="12">
                                            <p:txEl>
                                              <p:pRg st="3" end="3"/>
                                            </p:txEl>
                                          </p:spTgt>
                                        </p:tgtEl>
                                      </p:cBhvr>
                                    </p:animEffect>
                                    <p:anim calcmode="lin" valueType="num">
                                      <p:cBhvr>
                                        <p:cTn id="29"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animEffect transition="in" filter="fade">
                                      <p:cBhvr>
                                        <p:cTn id="35" dur="1000"/>
                                        <p:tgtEl>
                                          <p:spTgt spid="12">
                                            <p:txEl>
                                              <p:pRg st="4" end="4"/>
                                            </p:txEl>
                                          </p:spTgt>
                                        </p:tgtEl>
                                      </p:cBhvr>
                                    </p:animEffect>
                                    <p:anim calcmode="lin" valueType="num">
                                      <p:cBhvr>
                                        <p:cTn id="36"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
                                            <p:txEl>
                                              <p:pRg st="5" end="5"/>
                                            </p:txEl>
                                          </p:spTgt>
                                        </p:tgtEl>
                                        <p:attrNameLst>
                                          <p:attrName>style.visibility</p:attrName>
                                        </p:attrNameLst>
                                      </p:cBhvr>
                                      <p:to>
                                        <p:strVal val="visible"/>
                                      </p:to>
                                    </p:set>
                                    <p:animEffect transition="in" filter="fade">
                                      <p:cBhvr>
                                        <p:cTn id="42" dur="1000"/>
                                        <p:tgtEl>
                                          <p:spTgt spid="12">
                                            <p:txEl>
                                              <p:pRg st="5" end="5"/>
                                            </p:txEl>
                                          </p:spTgt>
                                        </p:tgtEl>
                                      </p:cBhvr>
                                    </p:animEffect>
                                    <p:anim calcmode="lin" valueType="num">
                                      <p:cBhvr>
                                        <p:cTn id="43"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xEl>
                                              <p:pRg st="6" end="6"/>
                                            </p:txEl>
                                          </p:spTgt>
                                        </p:tgtEl>
                                        <p:attrNameLst>
                                          <p:attrName>style.visibility</p:attrName>
                                        </p:attrNameLst>
                                      </p:cBhvr>
                                      <p:to>
                                        <p:strVal val="visible"/>
                                      </p:to>
                                    </p:set>
                                    <p:animEffect transition="in" filter="fade">
                                      <p:cBhvr>
                                        <p:cTn id="49" dur="1000"/>
                                        <p:tgtEl>
                                          <p:spTgt spid="12">
                                            <p:txEl>
                                              <p:pRg st="6" end="6"/>
                                            </p:txEl>
                                          </p:spTgt>
                                        </p:tgtEl>
                                      </p:cBhvr>
                                    </p:animEffect>
                                    <p:anim calcmode="lin" valueType="num">
                                      <p:cBhvr>
                                        <p:cTn id="50"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5D209F"/>
        </a:solidFill>
        <a:effectLst/>
      </p:bgPr>
    </p:bg>
    <p:spTree>
      <p:nvGrpSpPr>
        <p:cNvPr id="1" name=""/>
        <p:cNvGrpSpPr/>
        <p:nvPr/>
      </p:nvGrpSpPr>
      <p:grpSpPr>
        <a:xfrm>
          <a:off x="0" y="0"/>
          <a:ext cx="0" cy="0"/>
          <a:chOff x="0" y="0"/>
          <a:chExt cx="0" cy="0"/>
        </a:xfrm>
      </p:grpSpPr>
      <p:pic>
        <p:nvPicPr>
          <p:cNvPr id="2" name="Picture 1" descr="A purple letter on a black background&#10;&#10;Description automatically generated">
            <a:extLst>
              <a:ext uri="{FF2B5EF4-FFF2-40B4-BE49-F238E27FC236}">
                <a16:creationId xmlns:a16="http://schemas.microsoft.com/office/drawing/2014/main" id="{FE6F7E58-3BC3-4338-4E82-9576DCCDFBF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9854313" y="1906688"/>
            <a:ext cx="1822106" cy="231407"/>
          </a:xfrm>
          <a:prstGeom prst="rect">
            <a:avLst/>
          </a:prstGeom>
          <a:noFill/>
        </p:spPr>
      </p:pic>
      <p:pic>
        <p:nvPicPr>
          <p:cNvPr id="2050" name="Picture 2">
            <a:extLst>
              <a:ext uri="{FF2B5EF4-FFF2-40B4-BE49-F238E27FC236}">
                <a16:creationId xmlns:a16="http://schemas.microsoft.com/office/drawing/2014/main" id="{BF2FF200-2994-D44F-5BD3-12AACDAB228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796" r="4977"/>
          <a:stretch/>
        </p:blipFill>
        <p:spPr bwMode="auto">
          <a:xfrm>
            <a:off x="211667" y="202920"/>
            <a:ext cx="9220200" cy="5692886"/>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a:extLst>
              <a:ext uri="{FF2B5EF4-FFF2-40B4-BE49-F238E27FC236}">
                <a16:creationId xmlns:a16="http://schemas.microsoft.com/office/drawing/2014/main" id="{228F7C0D-491F-B81B-AD1D-64EE69000A7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5452" y="1889221"/>
            <a:ext cx="11838008" cy="4968779"/>
          </a:xfrm>
          <a:prstGeom prst="rect">
            <a:avLst/>
          </a:prstGeom>
        </p:spPr>
      </p:pic>
    </p:spTree>
    <p:extLst>
      <p:ext uri="{BB962C8B-B14F-4D97-AF65-F5344CB8AC3E}">
        <p14:creationId xmlns:p14="http://schemas.microsoft.com/office/powerpoint/2010/main" val="348295812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52940B6-071A-1B6C-13AA-82135BECE76E}"/>
              </a:ext>
            </a:extLst>
          </p:cNvPr>
          <p:cNvSpPr>
            <a:spLocks/>
          </p:cNvSpPr>
          <p:nvPr/>
        </p:nvSpPr>
        <p:spPr>
          <a:xfrm>
            <a:off x="2833669" y="151117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2" name="Rectangle 21">
            <a:extLst>
              <a:ext uri="{FF2B5EF4-FFF2-40B4-BE49-F238E27FC236}">
                <a16:creationId xmlns:a16="http://schemas.microsoft.com/office/drawing/2014/main" id="{3F5FF9F5-B973-8F4D-CB26-115EA758C049}"/>
              </a:ext>
            </a:extLst>
          </p:cNvPr>
          <p:cNvSpPr/>
          <p:nvPr/>
        </p:nvSpPr>
        <p:spPr>
          <a:xfrm>
            <a:off x="800100" y="1511173"/>
            <a:ext cx="1872706" cy="630047"/>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bg2">
                    <a:lumMod val="95000"/>
                    <a:lumOff val="5000"/>
                  </a:schemeClr>
                </a:solidFill>
                <a:latin typeface="D2L Sans Black" panose="00000A00000000000000" pitchFamily="50" charset="0"/>
              </a:rPr>
              <a:t>Inventory Management</a:t>
            </a:r>
            <a:endParaRPr lang="en-CA" sz="1400" b="1" dirty="0">
              <a:solidFill>
                <a:schemeClr val="bg2">
                  <a:lumMod val="95000"/>
                  <a:lumOff val="5000"/>
                </a:schemeClr>
              </a:solidFill>
              <a:latin typeface="D2L Sans Black" panose="00000A00000000000000" pitchFamily="50" charset="0"/>
            </a:endParaRPr>
          </a:p>
        </p:txBody>
      </p:sp>
      <p:pic>
        <p:nvPicPr>
          <p:cNvPr id="27" name="Picture 26" descr="A blue and white rectangle with letters and circles&#10;&#10;Description automatically generated">
            <a:extLst>
              <a:ext uri="{FF2B5EF4-FFF2-40B4-BE49-F238E27FC236}">
                <a16:creationId xmlns:a16="http://schemas.microsoft.com/office/drawing/2014/main" id="{D146A2B4-3558-782F-49FA-68B3092564C2}"/>
              </a:ext>
            </a:extLst>
          </p:cNvPr>
          <p:cNvPicPr>
            <a:picLocks noChangeAspect="1"/>
          </p:cNvPicPr>
          <p:nvPr/>
        </p:nvPicPr>
        <p:blipFill>
          <a:blip r:embed="rId3">
            <a:biLevel thresh="75000"/>
          </a:blip>
          <a:stretch>
            <a:fillRect/>
          </a:stretch>
        </p:blipFill>
        <p:spPr>
          <a:xfrm>
            <a:off x="2833669" y="961691"/>
            <a:ext cx="1266373" cy="309589"/>
          </a:xfrm>
          <a:prstGeom prst="rect">
            <a:avLst/>
          </a:prstGeom>
          <a:ln>
            <a:noFill/>
          </a:ln>
        </p:spPr>
      </p:pic>
      <p:pic>
        <p:nvPicPr>
          <p:cNvPr id="28" name="Picture 27" descr="A black background with a couple of letters&#10;&#10;Description automatically generated">
            <a:extLst>
              <a:ext uri="{FF2B5EF4-FFF2-40B4-BE49-F238E27FC236}">
                <a16:creationId xmlns:a16="http://schemas.microsoft.com/office/drawing/2014/main" id="{D5FFC775-EE39-05C8-4590-5C2F7BF4AC24}"/>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contrast="100000"/>
                    </a14:imgEffect>
                  </a14:imgLayer>
                </a14:imgProps>
              </a:ext>
            </a:extLst>
          </a:blip>
          <a:stretch>
            <a:fillRect/>
          </a:stretch>
        </p:blipFill>
        <p:spPr>
          <a:xfrm>
            <a:off x="4292965" y="1030528"/>
            <a:ext cx="1266373" cy="171914"/>
          </a:xfrm>
          <a:prstGeom prst="rect">
            <a:avLst/>
          </a:prstGeom>
        </p:spPr>
      </p:pic>
      <p:pic>
        <p:nvPicPr>
          <p:cNvPr id="29" name="Picture 28" descr="A blue and black logo&#10;&#10;Description automatically generated">
            <a:extLst>
              <a:ext uri="{FF2B5EF4-FFF2-40B4-BE49-F238E27FC236}">
                <a16:creationId xmlns:a16="http://schemas.microsoft.com/office/drawing/2014/main" id="{8301E49E-14E8-20E2-1C60-300D4C706E1E}"/>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5720202" y="953177"/>
            <a:ext cx="1266373" cy="337700"/>
          </a:xfrm>
          <a:prstGeom prst="rect">
            <a:avLst/>
          </a:prstGeom>
        </p:spPr>
      </p:pic>
      <p:pic>
        <p:nvPicPr>
          <p:cNvPr id="30" name="Picture 29" descr="A black and orange logo&#10;&#10;Description automatically generated">
            <a:extLst>
              <a:ext uri="{FF2B5EF4-FFF2-40B4-BE49-F238E27FC236}">
                <a16:creationId xmlns:a16="http://schemas.microsoft.com/office/drawing/2014/main" id="{EA7AE932-4465-AEB4-1783-EE65CD460883}"/>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7179498" y="967953"/>
            <a:ext cx="1266375" cy="347529"/>
          </a:xfrm>
          <a:prstGeom prst="rect">
            <a:avLst/>
          </a:prstGeom>
        </p:spPr>
      </p:pic>
      <p:pic>
        <p:nvPicPr>
          <p:cNvPr id="31" name="Picture 30" descr="A blue text on a black background&#10;&#10;Description automatically generated">
            <a:extLst>
              <a:ext uri="{FF2B5EF4-FFF2-40B4-BE49-F238E27FC236}">
                <a16:creationId xmlns:a16="http://schemas.microsoft.com/office/drawing/2014/main" id="{A0310AFE-F3A1-EFA6-0EFD-795A532FEA58}"/>
              </a:ext>
            </a:extLst>
          </p:cNvPr>
          <p:cNvPicPr>
            <a:picLocks noChangeAspect="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8637835" y="1001876"/>
            <a:ext cx="1266373" cy="223478"/>
          </a:xfrm>
          <a:prstGeom prst="rect">
            <a:avLst/>
          </a:prstGeom>
        </p:spPr>
      </p:pic>
      <p:pic>
        <p:nvPicPr>
          <p:cNvPr id="32" name="Picture 31" descr="A purple letter on a black background&#10;&#10;Description automatically generated">
            <a:extLst>
              <a:ext uri="{FF2B5EF4-FFF2-40B4-BE49-F238E27FC236}">
                <a16:creationId xmlns:a16="http://schemas.microsoft.com/office/drawing/2014/main" id="{9B3D12DE-8BA3-E533-E3A6-C7074397D8F8}"/>
              </a:ext>
            </a:extLst>
          </p:cNvPr>
          <p:cNvPicPr>
            <a:picLocks noChangeAspect="1"/>
          </p:cNvPicPr>
          <p:nvPr/>
        </p:nvPicPr>
        <p:blipFill>
          <a:blip r:embed="rId12">
            <a:extLst>
              <a:ext uri="{BEBA8EAE-BF5A-486C-A8C5-ECC9F3942E4B}">
                <a14:imgProps xmlns:a14="http://schemas.microsoft.com/office/drawing/2010/main">
                  <a14:imgLayer r:embed="rId13">
                    <a14:imgEffect>
                      <a14:brightnessContrast bright="100000"/>
                    </a14:imgEffect>
                  </a14:imgLayer>
                </a14:imgProps>
              </a:ext>
            </a:extLst>
          </a:blip>
          <a:stretch>
            <a:fillRect/>
          </a:stretch>
        </p:blipFill>
        <p:spPr>
          <a:xfrm>
            <a:off x="10096169" y="1041612"/>
            <a:ext cx="1266373" cy="160830"/>
          </a:xfrm>
          <a:prstGeom prst="rect">
            <a:avLst/>
          </a:prstGeom>
          <a:noFill/>
        </p:spPr>
      </p:pic>
      <p:sp>
        <p:nvSpPr>
          <p:cNvPr id="38" name="Rectangle 37">
            <a:extLst>
              <a:ext uri="{FF2B5EF4-FFF2-40B4-BE49-F238E27FC236}">
                <a16:creationId xmlns:a16="http://schemas.microsoft.com/office/drawing/2014/main" id="{FA9FFFD7-37BD-B078-96BD-BA359FF814C5}"/>
              </a:ext>
            </a:extLst>
          </p:cNvPr>
          <p:cNvSpPr/>
          <p:nvPr/>
        </p:nvSpPr>
        <p:spPr>
          <a:xfrm>
            <a:off x="800100" y="2277216"/>
            <a:ext cx="1872706" cy="630047"/>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bg2">
                    <a:lumMod val="95000"/>
                    <a:lumOff val="5000"/>
                  </a:schemeClr>
                </a:solidFill>
                <a:latin typeface="D2L Sans Black" panose="00000A00000000000000" pitchFamily="50" charset="0"/>
              </a:rPr>
              <a:t>Project Management</a:t>
            </a:r>
            <a:endParaRPr lang="en-CA" sz="1400" b="1" dirty="0">
              <a:solidFill>
                <a:schemeClr val="bg2">
                  <a:lumMod val="95000"/>
                  <a:lumOff val="5000"/>
                </a:schemeClr>
              </a:solidFill>
              <a:latin typeface="D2L Sans Black" panose="00000A00000000000000" pitchFamily="50" charset="0"/>
            </a:endParaRPr>
          </a:p>
        </p:txBody>
      </p:sp>
      <p:sp>
        <p:nvSpPr>
          <p:cNvPr id="39" name="Rectangle 38">
            <a:extLst>
              <a:ext uri="{FF2B5EF4-FFF2-40B4-BE49-F238E27FC236}">
                <a16:creationId xmlns:a16="http://schemas.microsoft.com/office/drawing/2014/main" id="{39B31A5D-D5E5-59A0-63CA-F4840D0AD77F}"/>
              </a:ext>
            </a:extLst>
          </p:cNvPr>
          <p:cNvSpPr/>
          <p:nvPr/>
        </p:nvSpPr>
        <p:spPr>
          <a:xfrm>
            <a:off x="800100" y="3054456"/>
            <a:ext cx="1872706" cy="630047"/>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bg2">
                    <a:lumMod val="95000"/>
                    <a:lumOff val="5000"/>
                  </a:schemeClr>
                </a:solidFill>
                <a:latin typeface="D2L Sans Black" panose="00000A00000000000000" pitchFamily="50" charset="0"/>
              </a:rPr>
              <a:t>Shipping Services</a:t>
            </a:r>
            <a:endParaRPr lang="en-CA" sz="1400" b="1" dirty="0">
              <a:solidFill>
                <a:schemeClr val="bg2">
                  <a:lumMod val="95000"/>
                  <a:lumOff val="5000"/>
                </a:schemeClr>
              </a:solidFill>
              <a:latin typeface="D2L Sans Black" panose="00000A00000000000000" pitchFamily="50" charset="0"/>
            </a:endParaRPr>
          </a:p>
        </p:txBody>
      </p:sp>
      <p:sp>
        <p:nvSpPr>
          <p:cNvPr id="40" name="Rectangle 39">
            <a:extLst>
              <a:ext uri="{FF2B5EF4-FFF2-40B4-BE49-F238E27FC236}">
                <a16:creationId xmlns:a16="http://schemas.microsoft.com/office/drawing/2014/main" id="{51584869-F351-17E3-8F24-E6D89DC4BB56}"/>
              </a:ext>
            </a:extLst>
          </p:cNvPr>
          <p:cNvSpPr/>
          <p:nvPr/>
        </p:nvSpPr>
        <p:spPr>
          <a:xfrm>
            <a:off x="802742" y="3809302"/>
            <a:ext cx="1872706" cy="630047"/>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bg2">
                    <a:lumMod val="95000"/>
                    <a:lumOff val="5000"/>
                  </a:schemeClr>
                </a:solidFill>
                <a:latin typeface="D2L Sans Black" panose="00000A00000000000000" pitchFamily="50" charset="0"/>
              </a:rPr>
              <a:t>User Portal</a:t>
            </a:r>
            <a:endParaRPr lang="en-CA" sz="1400" b="1" dirty="0">
              <a:solidFill>
                <a:schemeClr val="bg2">
                  <a:lumMod val="95000"/>
                  <a:lumOff val="5000"/>
                </a:schemeClr>
              </a:solidFill>
              <a:latin typeface="D2L Sans Black" panose="00000A00000000000000" pitchFamily="50" charset="0"/>
            </a:endParaRPr>
          </a:p>
        </p:txBody>
      </p:sp>
      <p:sp>
        <p:nvSpPr>
          <p:cNvPr id="41" name="Rectangle 40">
            <a:extLst>
              <a:ext uri="{FF2B5EF4-FFF2-40B4-BE49-F238E27FC236}">
                <a16:creationId xmlns:a16="http://schemas.microsoft.com/office/drawing/2014/main" id="{BA2C800C-586A-FA1C-8DE8-18DB4F6E6CDB}"/>
              </a:ext>
            </a:extLst>
          </p:cNvPr>
          <p:cNvSpPr/>
          <p:nvPr/>
        </p:nvSpPr>
        <p:spPr>
          <a:xfrm>
            <a:off x="800100" y="4558433"/>
            <a:ext cx="1872706" cy="630047"/>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bg2">
                    <a:lumMod val="95000"/>
                    <a:lumOff val="5000"/>
                  </a:schemeClr>
                </a:solidFill>
                <a:latin typeface="D2L Sans Black" panose="00000A00000000000000" pitchFamily="50" charset="0"/>
              </a:rPr>
              <a:t>Customer Support</a:t>
            </a:r>
            <a:endParaRPr lang="en-CA" sz="1400" b="1" dirty="0">
              <a:solidFill>
                <a:schemeClr val="bg2">
                  <a:lumMod val="95000"/>
                  <a:lumOff val="5000"/>
                </a:schemeClr>
              </a:solidFill>
              <a:latin typeface="D2L Sans Black" panose="00000A00000000000000" pitchFamily="50" charset="0"/>
            </a:endParaRPr>
          </a:p>
        </p:txBody>
      </p:sp>
      <p:sp>
        <p:nvSpPr>
          <p:cNvPr id="42" name="Rectangle 41">
            <a:extLst>
              <a:ext uri="{FF2B5EF4-FFF2-40B4-BE49-F238E27FC236}">
                <a16:creationId xmlns:a16="http://schemas.microsoft.com/office/drawing/2014/main" id="{6E419CFF-4179-17CF-6202-1D83E744DED1}"/>
              </a:ext>
            </a:extLst>
          </p:cNvPr>
          <p:cNvSpPr/>
          <p:nvPr/>
        </p:nvSpPr>
        <p:spPr>
          <a:xfrm>
            <a:off x="800100" y="5352585"/>
            <a:ext cx="1872706" cy="630047"/>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bg2">
                    <a:lumMod val="95000"/>
                    <a:lumOff val="5000"/>
                  </a:schemeClr>
                </a:solidFill>
                <a:latin typeface="D2L Sans Black" panose="00000A00000000000000" pitchFamily="50" charset="0"/>
              </a:rPr>
              <a:t>Sustainability</a:t>
            </a:r>
            <a:endParaRPr lang="en-CA" sz="1400" b="1" dirty="0">
              <a:solidFill>
                <a:schemeClr val="bg2">
                  <a:lumMod val="95000"/>
                  <a:lumOff val="5000"/>
                </a:schemeClr>
              </a:solidFill>
              <a:latin typeface="D2L Sans Black" panose="00000A00000000000000" pitchFamily="50" charset="0"/>
            </a:endParaRPr>
          </a:p>
        </p:txBody>
      </p:sp>
      <p:pic>
        <p:nvPicPr>
          <p:cNvPr id="44" name="Picture 43" descr="A green check mark on a white background&#10;&#10;Description automatically generated">
            <a:extLst>
              <a:ext uri="{FF2B5EF4-FFF2-40B4-BE49-F238E27FC236}">
                <a16:creationId xmlns:a16="http://schemas.microsoft.com/office/drawing/2014/main" id="{717A930C-F927-5846-671F-CC8E35E2395C}"/>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3127481" y="1480238"/>
            <a:ext cx="683814" cy="630046"/>
          </a:xfrm>
          <a:prstGeom prst="rect">
            <a:avLst/>
          </a:prstGeom>
        </p:spPr>
      </p:pic>
      <p:sp>
        <p:nvSpPr>
          <p:cNvPr id="45" name="Rectangle 44">
            <a:extLst>
              <a:ext uri="{FF2B5EF4-FFF2-40B4-BE49-F238E27FC236}">
                <a16:creationId xmlns:a16="http://schemas.microsoft.com/office/drawing/2014/main" id="{EA215E31-B2BE-3E80-E43E-E42A63372175}"/>
              </a:ext>
            </a:extLst>
          </p:cNvPr>
          <p:cNvSpPr>
            <a:spLocks/>
          </p:cNvSpPr>
          <p:nvPr/>
        </p:nvSpPr>
        <p:spPr>
          <a:xfrm>
            <a:off x="2833669" y="227721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7" name="Rectangle 46">
            <a:extLst>
              <a:ext uri="{FF2B5EF4-FFF2-40B4-BE49-F238E27FC236}">
                <a16:creationId xmlns:a16="http://schemas.microsoft.com/office/drawing/2014/main" id="{74CCF62F-F972-9088-0E2B-E6CABBB87E79}"/>
              </a:ext>
            </a:extLst>
          </p:cNvPr>
          <p:cNvSpPr>
            <a:spLocks/>
          </p:cNvSpPr>
          <p:nvPr/>
        </p:nvSpPr>
        <p:spPr>
          <a:xfrm>
            <a:off x="2833668" y="304325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8" name="Rectangle 47">
            <a:extLst>
              <a:ext uri="{FF2B5EF4-FFF2-40B4-BE49-F238E27FC236}">
                <a16:creationId xmlns:a16="http://schemas.microsoft.com/office/drawing/2014/main" id="{598A4743-6855-7C48-6E4F-43A11934EDD6}"/>
              </a:ext>
            </a:extLst>
          </p:cNvPr>
          <p:cNvSpPr>
            <a:spLocks/>
          </p:cNvSpPr>
          <p:nvPr/>
        </p:nvSpPr>
        <p:spPr>
          <a:xfrm>
            <a:off x="2833668" y="3809305"/>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9" name="Rectangle 48">
            <a:extLst>
              <a:ext uri="{FF2B5EF4-FFF2-40B4-BE49-F238E27FC236}">
                <a16:creationId xmlns:a16="http://schemas.microsoft.com/office/drawing/2014/main" id="{E8EAF3A7-608F-86ED-6B9D-236BF6F5DD57}"/>
              </a:ext>
            </a:extLst>
          </p:cNvPr>
          <p:cNvSpPr>
            <a:spLocks/>
          </p:cNvSpPr>
          <p:nvPr/>
        </p:nvSpPr>
        <p:spPr>
          <a:xfrm>
            <a:off x="2833668" y="457533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0" name="Rectangle 49">
            <a:extLst>
              <a:ext uri="{FF2B5EF4-FFF2-40B4-BE49-F238E27FC236}">
                <a16:creationId xmlns:a16="http://schemas.microsoft.com/office/drawing/2014/main" id="{7B6AA3FE-FD3C-F444-0948-6E3A13F01D77}"/>
              </a:ext>
            </a:extLst>
          </p:cNvPr>
          <p:cNvSpPr>
            <a:spLocks/>
          </p:cNvSpPr>
          <p:nvPr/>
        </p:nvSpPr>
        <p:spPr>
          <a:xfrm>
            <a:off x="2833668" y="535258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54" name="Picture 53" descr="A red x on a black background&#10;&#10;Description automatically generated">
            <a:extLst>
              <a:ext uri="{FF2B5EF4-FFF2-40B4-BE49-F238E27FC236}">
                <a16:creationId xmlns:a16="http://schemas.microsoft.com/office/drawing/2014/main" id="{9A997A46-4717-3843-1B90-26B9AC2E3666}"/>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contrast="40000"/>
                    </a14:imgEffect>
                  </a14:imgLayer>
                </a14:imgProps>
              </a:ext>
            </a:extLst>
          </a:blip>
          <a:stretch>
            <a:fillRect/>
          </a:stretch>
        </p:blipFill>
        <p:spPr>
          <a:xfrm>
            <a:off x="3263510" y="3170964"/>
            <a:ext cx="374628" cy="374628"/>
          </a:xfrm>
          <a:prstGeom prst="rect">
            <a:avLst/>
          </a:prstGeom>
        </p:spPr>
      </p:pic>
      <p:pic>
        <p:nvPicPr>
          <p:cNvPr id="56" name="Picture 55" descr="A green check mark on a white background&#10;&#10;Description automatically generated">
            <a:extLst>
              <a:ext uri="{FF2B5EF4-FFF2-40B4-BE49-F238E27FC236}">
                <a16:creationId xmlns:a16="http://schemas.microsoft.com/office/drawing/2014/main" id="{0FF75616-DCCA-A956-D040-DDD03C76CE15}"/>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3107809" y="4552914"/>
            <a:ext cx="683814" cy="630046"/>
          </a:xfrm>
          <a:prstGeom prst="rect">
            <a:avLst/>
          </a:prstGeom>
        </p:spPr>
      </p:pic>
      <p:pic>
        <p:nvPicPr>
          <p:cNvPr id="57" name="Picture 56" descr="A green check mark on a white background&#10;&#10;Description automatically generated">
            <a:extLst>
              <a:ext uri="{FF2B5EF4-FFF2-40B4-BE49-F238E27FC236}">
                <a16:creationId xmlns:a16="http://schemas.microsoft.com/office/drawing/2014/main" id="{42B8D3D1-6A98-85D7-2C2E-6DB05A148984}"/>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3127481" y="5316935"/>
            <a:ext cx="683814" cy="630046"/>
          </a:xfrm>
          <a:prstGeom prst="rect">
            <a:avLst/>
          </a:prstGeom>
        </p:spPr>
      </p:pic>
      <p:sp>
        <p:nvSpPr>
          <p:cNvPr id="58" name="Rectangle 57">
            <a:extLst>
              <a:ext uri="{FF2B5EF4-FFF2-40B4-BE49-F238E27FC236}">
                <a16:creationId xmlns:a16="http://schemas.microsoft.com/office/drawing/2014/main" id="{BA8FD6B7-F791-CB40-B76B-D4019E2769F5}"/>
              </a:ext>
            </a:extLst>
          </p:cNvPr>
          <p:cNvSpPr>
            <a:spLocks/>
          </p:cNvSpPr>
          <p:nvPr/>
        </p:nvSpPr>
        <p:spPr>
          <a:xfrm>
            <a:off x="4294260" y="151117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0" name="Rectangle 59">
            <a:extLst>
              <a:ext uri="{FF2B5EF4-FFF2-40B4-BE49-F238E27FC236}">
                <a16:creationId xmlns:a16="http://schemas.microsoft.com/office/drawing/2014/main" id="{9DF0178D-C416-118E-2CE2-A595D489E455}"/>
              </a:ext>
            </a:extLst>
          </p:cNvPr>
          <p:cNvSpPr>
            <a:spLocks/>
          </p:cNvSpPr>
          <p:nvPr/>
        </p:nvSpPr>
        <p:spPr>
          <a:xfrm>
            <a:off x="4292966" y="227721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1" name="Rectangle 60">
            <a:extLst>
              <a:ext uri="{FF2B5EF4-FFF2-40B4-BE49-F238E27FC236}">
                <a16:creationId xmlns:a16="http://schemas.microsoft.com/office/drawing/2014/main" id="{E55676B2-B0C0-E7EE-54BD-B0799C1E780E}"/>
              </a:ext>
            </a:extLst>
          </p:cNvPr>
          <p:cNvSpPr>
            <a:spLocks/>
          </p:cNvSpPr>
          <p:nvPr/>
        </p:nvSpPr>
        <p:spPr>
          <a:xfrm>
            <a:off x="4292965" y="304325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2" name="Rectangle 61">
            <a:extLst>
              <a:ext uri="{FF2B5EF4-FFF2-40B4-BE49-F238E27FC236}">
                <a16:creationId xmlns:a16="http://schemas.microsoft.com/office/drawing/2014/main" id="{BF2BB41F-B0B3-EF9B-8B5C-9D9317086419}"/>
              </a:ext>
            </a:extLst>
          </p:cNvPr>
          <p:cNvSpPr>
            <a:spLocks/>
          </p:cNvSpPr>
          <p:nvPr/>
        </p:nvSpPr>
        <p:spPr>
          <a:xfrm>
            <a:off x="4292965" y="3809305"/>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3" name="Rectangle 62">
            <a:extLst>
              <a:ext uri="{FF2B5EF4-FFF2-40B4-BE49-F238E27FC236}">
                <a16:creationId xmlns:a16="http://schemas.microsoft.com/office/drawing/2014/main" id="{2FB553E0-F4BF-9242-8E9C-5E7DC259EA7A}"/>
              </a:ext>
            </a:extLst>
          </p:cNvPr>
          <p:cNvSpPr>
            <a:spLocks/>
          </p:cNvSpPr>
          <p:nvPr/>
        </p:nvSpPr>
        <p:spPr>
          <a:xfrm>
            <a:off x="4292965" y="457533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72" name="Rectangle 3071">
            <a:extLst>
              <a:ext uri="{FF2B5EF4-FFF2-40B4-BE49-F238E27FC236}">
                <a16:creationId xmlns:a16="http://schemas.microsoft.com/office/drawing/2014/main" id="{F579C750-4102-9730-4493-053BB8E5B70C}"/>
              </a:ext>
            </a:extLst>
          </p:cNvPr>
          <p:cNvSpPr>
            <a:spLocks/>
          </p:cNvSpPr>
          <p:nvPr/>
        </p:nvSpPr>
        <p:spPr>
          <a:xfrm>
            <a:off x="4292965" y="535258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73" name="Rectangle 3072">
            <a:extLst>
              <a:ext uri="{FF2B5EF4-FFF2-40B4-BE49-F238E27FC236}">
                <a16:creationId xmlns:a16="http://schemas.microsoft.com/office/drawing/2014/main" id="{99F71DFB-A1CE-587E-ECD7-78ABEC773E58}"/>
              </a:ext>
            </a:extLst>
          </p:cNvPr>
          <p:cNvSpPr>
            <a:spLocks/>
          </p:cNvSpPr>
          <p:nvPr/>
        </p:nvSpPr>
        <p:spPr>
          <a:xfrm>
            <a:off x="5720202" y="151117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75" name="Rectangle 3074">
            <a:extLst>
              <a:ext uri="{FF2B5EF4-FFF2-40B4-BE49-F238E27FC236}">
                <a16:creationId xmlns:a16="http://schemas.microsoft.com/office/drawing/2014/main" id="{E29CC10B-D90A-1436-57F1-8E69A8C90167}"/>
              </a:ext>
            </a:extLst>
          </p:cNvPr>
          <p:cNvSpPr>
            <a:spLocks/>
          </p:cNvSpPr>
          <p:nvPr/>
        </p:nvSpPr>
        <p:spPr>
          <a:xfrm>
            <a:off x="5718908" y="227721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76" name="Rectangle 3075">
            <a:extLst>
              <a:ext uri="{FF2B5EF4-FFF2-40B4-BE49-F238E27FC236}">
                <a16:creationId xmlns:a16="http://schemas.microsoft.com/office/drawing/2014/main" id="{730EB46B-320B-02B9-A1B0-9CA8D611EFD5}"/>
              </a:ext>
            </a:extLst>
          </p:cNvPr>
          <p:cNvSpPr>
            <a:spLocks/>
          </p:cNvSpPr>
          <p:nvPr/>
        </p:nvSpPr>
        <p:spPr>
          <a:xfrm>
            <a:off x="5718907" y="304325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77" name="Rectangle 3076">
            <a:extLst>
              <a:ext uri="{FF2B5EF4-FFF2-40B4-BE49-F238E27FC236}">
                <a16:creationId xmlns:a16="http://schemas.microsoft.com/office/drawing/2014/main" id="{4C359592-D9BE-0177-4DCB-2CDD6FA22E24}"/>
              </a:ext>
            </a:extLst>
          </p:cNvPr>
          <p:cNvSpPr>
            <a:spLocks/>
          </p:cNvSpPr>
          <p:nvPr/>
        </p:nvSpPr>
        <p:spPr>
          <a:xfrm>
            <a:off x="5718907" y="3809305"/>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78" name="Rectangle 3077">
            <a:extLst>
              <a:ext uri="{FF2B5EF4-FFF2-40B4-BE49-F238E27FC236}">
                <a16:creationId xmlns:a16="http://schemas.microsoft.com/office/drawing/2014/main" id="{C9486720-6E2C-1684-60DA-CBE65DA0BBDA}"/>
              </a:ext>
            </a:extLst>
          </p:cNvPr>
          <p:cNvSpPr>
            <a:spLocks/>
          </p:cNvSpPr>
          <p:nvPr/>
        </p:nvSpPr>
        <p:spPr>
          <a:xfrm>
            <a:off x="5718907" y="457533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79" name="Rectangle 3078">
            <a:extLst>
              <a:ext uri="{FF2B5EF4-FFF2-40B4-BE49-F238E27FC236}">
                <a16:creationId xmlns:a16="http://schemas.microsoft.com/office/drawing/2014/main" id="{381038D2-5D86-E636-CAB7-2B78EA9D2AF1}"/>
              </a:ext>
            </a:extLst>
          </p:cNvPr>
          <p:cNvSpPr>
            <a:spLocks/>
          </p:cNvSpPr>
          <p:nvPr/>
        </p:nvSpPr>
        <p:spPr>
          <a:xfrm>
            <a:off x="5718907" y="535258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80" name="Rectangle 3079">
            <a:extLst>
              <a:ext uri="{FF2B5EF4-FFF2-40B4-BE49-F238E27FC236}">
                <a16:creationId xmlns:a16="http://schemas.microsoft.com/office/drawing/2014/main" id="{E3CDA465-408E-79A4-A650-511E91A01F2C}"/>
              </a:ext>
            </a:extLst>
          </p:cNvPr>
          <p:cNvSpPr>
            <a:spLocks/>
          </p:cNvSpPr>
          <p:nvPr/>
        </p:nvSpPr>
        <p:spPr>
          <a:xfrm>
            <a:off x="7180793" y="151117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81" name="Rectangle 3080">
            <a:extLst>
              <a:ext uri="{FF2B5EF4-FFF2-40B4-BE49-F238E27FC236}">
                <a16:creationId xmlns:a16="http://schemas.microsoft.com/office/drawing/2014/main" id="{0673627E-0BFF-3E65-5D58-1335B277C578}"/>
              </a:ext>
            </a:extLst>
          </p:cNvPr>
          <p:cNvSpPr>
            <a:spLocks/>
          </p:cNvSpPr>
          <p:nvPr/>
        </p:nvSpPr>
        <p:spPr>
          <a:xfrm>
            <a:off x="7179499" y="227721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82" name="Rectangle 3081">
            <a:extLst>
              <a:ext uri="{FF2B5EF4-FFF2-40B4-BE49-F238E27FC236}">
                <a16:creationId xmlns:a16="http://schemas.microsoft.com/office/drawing/2014/main" id="{ECB00842-6BD3-000C-7B3C-A7AC57FC3577}"/>
              </a:ext>
            </a:extLst>
          </p:cNvPr>
          <p:cNvSpPr>
            <a:spLocks/>
          </p:cNvSpPr>
          <p:nvPr/>
        </p:nvSpPr>
        <p:spPr>
          <a:xfrm>
            <a:off x="7217466" y="3051861"/>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83" name="Rectangle 3082">
            <a:extLst>
              <a:ext uri="{FF2B5EF4-FFF2-40B4-BE49-F238E27FC236}">
                <a16:creationId xmlns:a16="http://schemas.microsoft.com/office/drawing/2014/main" id="{948173BA-536A-D2CE-EB52-35F265537D22}"/>
              </a:ext>
            </a:extLst>
          </p:cNvPr>
          <p:cNvSpPr>
            <a:spLocks/>
          </p:cNvSpPr>
          <p:nvPr/>
        </p:nvSpPr>
        <p:spPr>
          <a:xfrm>
            <a:off x="7179498" y="3809305"/>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84" name="Rectangle 3083">
            <a:extLst>
              <a:ext uri="{FF2B5EF4-FFF2-40B4-BE49-F238E27FC236}">
                <a16:creationId xmlns:a16="http://schemas.microsoft.com/office/drawing/2014/main" id="{C1059ACD-528E-0ECE-5A39-ED64B5AF280D}"/>
              </a:ext>
            </a:extLst>
          </p:cNvPr>
          <p:cNvSpPr>
            <a:spLocks/>
          </p:cNvSpPr>
          <p:nvPr/>
        </p:nvSpPr>
        <p:spPr>
          <a:xfrm>
            <a:off x="7179498" y="457533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85" name="Rectangle 3084">
            <a:extLst>
              <a:ext uri="{FF2B5EF4-FFF2-40B4-BE49-F238E27FC236}">
                <a16:creationId xmlns:a16="http://schemas.microsoft.com/office/drawing/2014/main" id="{C7AE2DE2-1964-E9CF-77E8-E9B62F779864}"/>
              </a:ext>
            </a:extLst>
          </p:cNvPr>
          <p:cNvSpPr>
            <a:spLocks/>
          </p:cNvSpPr>
          <p:nvPr/>
        </p:nvSpPr>
        <p:spPr>
          <a:xfrm>
            <a:off x="7179498" y="535258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86" name="Rectangle 3085">
            <a:extLst>
              <a:ext uri="{FF2B5EF4-FFF2-40B4-BE49-F238E27FC236}">
                <a16:creationId xmlns:a16="http://schemas.microsoft.com/office/drawing/2014/main" id="{53D8CB6E-74B9-2959-20F1-0EBFD27F7807}"/>
              </a:ext>
            </a:extLst>
          </p:cNvPr>
          <p:cNvSpPr>
            <a:spLocks/>
          </p:cNvSpPr>
          <p:nvPr/>
        </p:nvSpPr>
        <p:spPr>
          <a:xfrm>
            <a:off x="8639130" y="151117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87" name="Rectangle 3086">
            <a:extLst>
              <a:ext uri="{FF2B5EF4-FFF2-40B4-BE49-F238E27FC236}">
                <a16:creationId xmlns:a16="http://schemas.microsoft.com/office/drawing/2014/main" id="{98CE9FAB-4098-1855-B3CF-E25F5A692E54}"/>
              </a:ext>
            </a:extLst>
          </p:cNvPr>
          <p:cNvSpPr>
            <a:spLocks/>
          </p:cNvSpPr>
          <p:nvPr/>
        </p:nvSpPr>
        <p:spPr>
          <a:xfrm>
            <a:off x="8637836" y="227721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88" name="Rectangle 3087">
            <a:extLst>
              <a:ext uri="{FF2B5EF4-FFF2-40B4-BE49-F238E27FC236}">
                <a16:creationId xmlns:a16="http://schemas.microsoft.com/office/drawing/2014/main" id="{C13BA765-B676-B907-4520-597A51622E44}"/>
              </a:ext>
            </a:extLst>
          </p:cNvPr>
          <p:cNvSpPr>
            <a:spLocks/>
          </p:cNvSpPr>
          <p:nvPr/>
        </p:nvSpPr>
        <p:spPr>
          <a:xfrm>
            <a:off x="8637835" y="304325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89" name="Rectangle 3088">
            <a:extLst>
              <a:ext uri="{FF2B5EF4-FFF2-40B4-BE49-F238E27FC236}">
                <a16:creationId xmlns:a16="http://schemas.microsoft.com/office/drawing/2014/main" id="{284C4A52-C1E9-AA67-92EF-0860E41C229D}"/>
              </a:ext>
            </a:extLst>
          </p:cNvPr>
          <p:cNvSpPr>
            <a:spLocks/>
          </p:cNvSpPr>
          <p:nvPr/>
        </p:nvSpPr>
        <p:spPr>
          <a:xfrm>
            <a:off x="8637835" y="3809305"/>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90" name="Rectangle 3089">
            <a:extLst>
              <a:ext uri="{FF2B5EF4-FFF2-40B4-BE49-F238E27FC236}">
                <a16:creationId xmlns:a16="http://schemas.microsoft.com/office/drawing/2014/main" id="{E3E20437-5F55-2BA0-873E-B68A6F6BA5A7}"/>
              </a:ext>
            </a:extLst>
          </p:cNvPr>
          <p:cNvSpPr>
            <a:spLocks/>
          </p:cNvSpPr>
          <p:nvPr/>
        </p:nvSpPr>
        <p:spPr>
          <a:xfrm>
            <a:off x="8637835" y="457533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91" name="Rectangle 3090">
            <a:extLst>
              <a:ext uri="{FF2B5EF4-FFF2-40B4-BE49-F238E27FC236}">
                <a16:creationId xmlns:a16="http://schemas.microsoft.com/office/drawing/2014/main" id="{F9BBDB3B-6507-5C0C-7995-13D53BB471A0}"/>
              </a:ext>
            </a:extLst>
          </p:cNvPr>
          <p:cNvSpPr>
            <a:spLocks/>
          </p:cNvSpPr>
          <p:nvPr/>
        </p:nvSpPr>
        <p:spPr>
          <a:xfrm>
            <a:off x="8637835" y="535258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92" name="Rectangle 3091">
            <a:extLst>
              <a:ext uri="{FF2B5EF4-FFF2-40B4-BE49-F238E27FC236}">
                <a16:creationId xmlns:a16="http://schemas.microsoft.com/office/drawing/2014/main" id="{D8EB6FC8-5E0D-5692-7B5D-22FB17262A55}"/>
              </a:ext>
            </a:extLst>
          </p:cNvPr>
          <p:cNvSpPr>
            <a:spLocks/>
          </p:cNvSpPr>
          <p:nvPr/>
        </p:nvSpPr>
        <p:spPr>
          <a:xfrm>
            <a:off x="10096169" y="151117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93" name="Rectangle 3092">
            <a:extLst>
              <a:ext uri="{FF2B5EF4-FFF2-40B4-BE49-F238E27FC236}">
                <a16:creationId xmlns:a16="http://schemas.microsoft.com/office/drawing/2014/main" id="{154BCC7F-4F6D-DB5E-E060-07752270BB59}"/>
              </a:ext>
            </a:extLst>
          </p:cNvPr>
          <p:cNvSpPr>
            <a:spLocks/>
          </p:cNvSpPr>
          <p:nvPr/>
        </p:nvSpPr>
        <p:spPr>
          <a:xfrm>
            <a:off x="10094875" y="227721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94" name="Rectangle 3093">
            <a:extLst>
              <a:ext uri="{FF2B5EF4-FFF2-40B4-BE49-F238E27FC236}">
                <a16:creationId xmlns:a16="http://schemas.microsoft.com/office/drawing/2014/main" id="{5C3E46CB-7DA2-C23E-4AA5-800574ACF70D}"/>
              </a:ext>
            </a:extLst>
          </p:cNvPr>
          <p:cNvSpPr>
            <a:spLocks/>
          </p:cNvSpPr>
          <p:nvPr/>
        </p:nvSpPr>
        <p:spPr>
          <a:xfrm>
            <a:off x="10094874" y="304325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95" name="Rectangle 3094">
            <a:extLst>
              <a:ext uri="{FF2B5EF4-FFF2-40B4-BE49-F238E27FC236}">
                <a16:creationId xmlns:a16="http://schemas.microsoft.com/office/drawing/2014/main" id="{CD32773B-F3D2-FB7A-8133-63E6E5A0DA72}"/>
              </a:ext>
            </a:extLst>
          </p:cNvPr>
          <p:cNvSpPr>
            <a:spLocks/>
          </p:cNvSpPr>
          <p:nvPr/>
        </p:nvSpPr>
        <p:spPr>
          <a:xfrm>
            <a:off x="10094874" y="3809305"/>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96" name="Rectangle 3095">
            <a:extLst>
              <a:ext uri="{FF2B5EF4-FFF2-40B4-BE49-F238E27FC236}">
                <a16:creationId xmlns:a16="http://schemas.microsoft.com/office/drawing/2014/main" id="{2020638B-FB14-5A40-E375-CCADDB77A9D9}"/>
              </a:ext>
            </a:extLst>
          </p:cNvPr>
          <p:cNvSpPr>
            <a:spLocks/>
          </p:cNvSpPr>
          <p:nvPr/>
        </p:nvSpPr>
        <p:spPr>
          <a:xfrm>
            <a:off x="10094874" y="457533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97" name="Rectangle 3096">
            <a:extLst>
              <a:ext uri="{FF2B5EF4-FFF2-40B4-BE49-F238E27FC236}">
                <a16:creationId xmlns:a16="http://schemas.microsoft.com/office/drawing/2014/main" id="{4DD693DB-A8DC-A087-700A-E6ABC637FF11}"/>
              </a:ext>
            </a:extLst>
          </p:cNvPr>
          <p:cNvSpPr>
            <a:spLocks/>
          </p:cNvSpPr>
          <p:nvPr/>
        </p:nvSpPr>
        <p:spPr>
          <a:xfrm>
            <a:off x="10094874" y="5352586"/>
            <a:ext cx="1266373" cy="630044"/>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3098" name="Picture 3097" descr="A green check mark on a white background&#10;&#10;Description automatically generated">
            <a:extLst>
              <a:ext uri="{FF2B5EF4-FFF2-40B4-BE49-F238E27FC236}">
                <a16:creationId xmlns:a16="http://schemas.microsoft.com/office/drawing/2014/main" id="{E4905DE8-C4BB-1187-051E-B316586349CC}"/>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4595601" y="1491365"/>
            <a:ext cx="683814" cy="630046"/>
          </a:xfrm>
          <a:prstGeom prst="rect">
            <a:avLst/>
          </a:prstGeom>
        </p:spPr>
      </p:pic>
      <p:pic>
        <p:nvPicPr>
          <p:cNvPr id="3100" name="Picture 3099" descr="A white text with a green stripe&#10;&#10;Description automatically generated">
            <a:extLst>
              <a:ext uri="{FF2B5EF4-FFF2-40B4-BE49-F238E27FC236}">
                <a16:creationId xmlns:a16="http://schemas.microsoft.com/office/drawing/2014/main" id="{5862CAB6-9774-611B-B5B7-D97B0AF9012E}"/>
              </a:ext>
            </a:extLst>
          </p:cNvPr>
          <p:cNvPicPr>
            <a:picLocks noChangeAspect="1"/>
          </p:cNvPicPr>
          <p:nvPr/>
        </p:nvPicPr>
        <p:blipFill>
          <a:blip r:embed="rId18"/>
          <a:stretch>
            <a:fillRect/>
          </a:stretch>
        </p:blipFill>
        <p:spPr>
          <a:xfrm>
            <a:off x="242086" y="218730"/>
            <a:ext cx="905933" cy="458402"/>
          </a:xfrm>
          <a:prstGeom prst="rect">
            <a:avLst/>
          </a:prstGeom>
        </p:spPr>
      </p:pic>
      <p:pic>
        <p:nvPicPr>
          <p:cNvPr id="3101" name="Picture 3100" descr="A red x on a black background&#10;&#10;Description automatically generated">
            <a:extLst>
              <a:ext uri="{FF2B5EF4-FFF2-40B4-BE49-F238E27FC236}">
                <a16:creationId xmlns:a16="http://schemas.microsoft.com/office/drawing/2014/main" id="{ACD853A8-3F64-2A38-747B-97CD97EE57D8}"/>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contrast="40000"/>
                    </a14:imgEffect>
                  </a14:imgLayer>
                </a14:imgProps>
              </a:ext>
            </a:extLst>
          </a:blip>
          <a:stretch>
            <a:fillRect/>
          </a:stretch>
        </p:blipFill>
        <p:spPr>
          <a:xfrm>
            <a:off x="4738837" y="2394959"/>
            <a:ext cx="374628" cy="374628"/>
          </a:xfrm>
          <a:prstGeom prst="rect">
            <a:avLst/>
          </a:prstGeom>
        </p:spPr>
      </p:pic>
      <p:pic>
        <p:nvPicPr>
          <p:cNvPr id="3102" name="Picture 3101" descr="A green check mark on a white background&#10;&#10;Description automatically generated">
            <a:extLst>
              <a:ext uri="{FF2B5EF4-FFF2-40B4-BE49-F238E27FC236}">
                <a16:creationId xmlns:a16="http://schemas.microsoft.com/office/drawing/2014/main" id="{03721918-4028-C77D-57B0-392A0C45B9E5}"/>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4593117" y="3023446"/>
            <a:ext cx="683814" cy="630046"/>
          </a:xfrm>
          <a:prstGeom prst="rect">
            <a:avLst/>
          </a:prstGeom>
        </p:spPr>
      </p:pic>
      <p:pic>
        <p:nvPicPr>
          <p:cNvPr id="3103" name="Picture 3102" descr="A green check mark on a white background&#10;&#10;Description automatically generated">
            <a:extLst>
              <a:ext uri="{FF2B5EF4-FFF2-40B4-BE49-F238E27FC236}">
                <a16:creationId xmlns:a16="http://schemas.microsoft.com/office/drawing/2014/main" id="{43A95F81-3D69-CE61-5A84-3EDFB8FFDADA}"/>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4584244" y="3769678"/>
            <a:ext cx="683814" cy="630046"/>
          </a:xfrm>
          <a:prstGeom prst="rect">
            <a:avLst/>
          </a:prstGeom>
        </p:spPr>
      </p:pic>
      <p:pic>
        <p:nvPicPr>
          <p:cNvPr id="3104" name="Picture 3103" descr="A green check mark on a white background&#10;&#10;Description automatically generated">
            <a:extLst>
              <a:ext uri="{FF2B5EF4-FFF2-40B4-BE49-F238E27FC236}">
                <a16:creationId xmlns:a16="http://schemas.microsoft.com/office/drawing/2014/main" id="{34A528EE-AF3E-1D62-BE17-C93B659137CF}"/>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4584244" y="4555528"/>
            <a:ext cx="683814" cy="630046"/>
          </a:xfrm>
          <a:prstGeom prst="rect">
            <a:avLst/>
          </a:prstGeom>
        </p:spPr>
      </p:pic>
      <p:pic>
        <p:nvPicPr>
          <p:cNvPr id="3105" name="Picture 3104" descr="A green check mark on a white background&#10;&#10;Description automatically generated">
            <a:extLst>
              <a:ext uri="{FF2B5EF4-FFF2-40B4-BE49-F238E27FC236}">
                <a16:creationId xmlns:a16="http://schemas.microsoft.com/office/drawing/2014/main" id="{1B246D95-77D2-7493-7CEE-0436444C8617}"/>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4584244" y="5332780"/>
            <a:ext cx="683814" cy="630046"/>
          </a:xfrm>
          <a:prstGeom prst="rect">
            <a:avLst/>
          </a:prstGeom>
        </p:spPr>
      </p:pic>
      <p:pic>
        <p:nvPicPr>
          <p:cNvPr id="3106" name="Picture 3105" descr="A green check mark on a white background&#10;&#10;Description automatically generated">
            <a:extLst>
              <a:ext uri="{FF2B5EF4-FFF2-40B4-BE49-F238E27FC236}">
                <a16:creationId xmlns:a16="http://schemas.microsoft.com/office/drawing/2014/main" id="{D240743A-DE2C-3A3E-3ED3-7312C50B4FAE}"/>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6010186" y="1469024"/>
            <a:ext cx="683814" cy="630046"/>
          </a:xfrm>
          <a:prstGeom prst="rect">
            <a:avLst/>
          </a:prstGeom>
        </p:spPr>
      </p:pic>
      <p:pic>
        <p:nvPicPr>
          <p:cNvPr id="3108" name="Picture 3107" descr="A green check mark on a white background&#10;&#10;Description automatically generated">
            <a:extLst>
              <a:ext uri="{FF2B5EF4-FFF2-40B4-BE49-F238E27FC236}">
                <a16:creationId xmlns:a16="http://schemas.microsoft.com/office/drawing/2014/main" id="{65D50898-6992-08D4-3B24-0B24F0C6995A}"/>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6010186" y="3001105"/>
            <a:ext cx="683814" cy="630046"/>
          </a:xfrm>
          <a:prstGeom prst="rect">
            <a:avLst/>
          </a:prstGeom>
        </p:spPr>
      </p:pic>
      <p:pic>
        <p:nvPicPr>
          <p:cNvPr id="3109" name="Picture 3108" descr="A red x on a black background&#10;&#10;Description automatically generated">
            <a:extLst>
              <a:ext uri="{FF2B5EF4-FFF2-40B4-BE49-F238E27FC236}">
                <a16:creationId xmlns:a16="http://schemas.microsoft.com/office/drawing/2014/main" id="{9E398677-4715-6F0D-68A6-749E37C6C59F}"/>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contrast="40000"/>
                    </a14:imgEffect>
                  </a14:imgLayer>
                </a14:imgProps>
              </a:ext>
            </a:extLst>
          </a:blip>
          <a:stretch>
            <a:fillRect/>
          </a:stretch>
        </p:blipFill>
        <p:spPr>
          <a:xfrm>
            <a:off x="6138821" y="3942609"/>
            <a:ext cx="374628" cy="374628"/>
          </a:xfrm>
          <a:prstGeom prst="rect">
            <a:avLst/>
          </a:prstGeom>
        </p:spPr>
      </p:pic>
      <p:pic>
        <p:nvPicPr>
          <p:cNvPr id="3112" name="Picture 3111" descr="A green check mark on a white background&#10;&#10;Description automatically generated">
            <a:extLst>
              <a:ext uri="{FF2B5EF4-FFF2-40B4-BE49-F238E27FC236}">
                <a16:creationId xmlns:a16="http://schemas.microsoft.com/office/drawing/2014/main" id="{00ED68B2-0145-38ED-1702-D63798D91F28}"/>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5984228" y="5332780"/>
            <a:ext cx="683814" cy="630046"/>
          </a:xfrm>
          <a:prstGeom prst="rect">
            <a:avLst/>
          </a:prstGeom>
        </p:spPr>
      </p:pic>
      <p:pic>
        <p:nvPicPr>
          <p:cNvPr id="3113" name="Picture 3112" descr="A red x on a black background&#10;&#10;Description automatically generated">
            <a:extLst>
              <a:ext uri="{FF2B5EF4-FFF2-40B4-BE49-F238E27FC236}">
                <a16:creationId xmlns:a16="http://schemas.microsoft.com/office/drawing/2014/main" id="{05941835-1D6F-719D-3C08-846E1D4D7E3A}"/>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contrast="40000"/>
                    </a14:imgEffect>
                  </a14:imgLayer>
                </a14:imgProps>
              </a:ext>
            </a:extLst>
          </a:blip>
          <a:stretch>
            <a:fillRect/>
          </a:stretch>
        </p:blipFill>
        <p:spPr>
          <a:xfrm>
            <a:off x="7625370" y="3925793"/>
            <a:ext cx="374628" cy="374628"/>
          </a:xfrm>
          <a:prstGeom prst="rect">
            <a:avLst/>
          </a:prstGeom>
        </p:spPr>
      </p:pic>
      <p:pic>
        <p:nvPicPr>
          <p:cNvPr id="3114" name="Picture 3113" descr="A green check mark on a white background&#10;&#10;Description automatically generated">
            <a:extLst>
              <a:ext uri="{FF2B5EF4-FFF2-40B4-BE49-F238E27FC236}">
                <a16:creationId xmlns:a16="http://schemas.microsoft.com/office/drawing/2014/main" id="{4BBD9601-916D-6E5E-0BC2-2EE3433F5A3A}"/>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7480737" y="4552914"/>
            <a:ext cx="683814" cy="630046"/>
          </a:xfrm>
          <a:prstGeom prst="rect">
            <a:avLst/>
          </a:prstGeom>
        </p:spPr>
      </p:pic>
      <p:pic>
        <p:nvPicPr>
          <p:cNvPr id="3115" name="Picture 3114" descr="A green check mark on a white background&#10;&#10;Description automatically generated">
            <a:extLst>
              <a:ext uri="{FF2B5EF4-FFF2-40B4-BE49-F238E27FC236}">
                <a16:creationId xmlns:a16="http://schemas.microsoft.com/office/drawing/2014/main" id="{E433286F-1D52-F747-AD85-180F49AC7410}"/>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7516778" y="1480238"/>
            <a:ext cx="683814" cy="630046"/>
          </a:xfrm>
          <a:prstGeom prst="rect">
            <a:avLst/>
          </a:prstGeom>
        </p:spPr>
      </p:pic>
      <p:pic>
        <p:nvPicPr>
          <p:cNvPr id="3116" name="Picture 3115" descr="A green check mark on a white background&#10;&#10;Description automatically generated">
            <a:extLst>
              <a:ext uri="{FF2B5EF4-FFF2-40B4-BE49-F238E27FC236}">
                <a16:creationId xmlns:a16="http://schemas.microsoft.com/office/drawing/2014/main" id="{7128C41A-A3ED-C1A4-6B11-A83EB8D2E34E}"/>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7470777" y="2229879"/>
            <a:ext cx="683814" cy="630046"/>
          </a:xfrm>
          <a:prstGeom prst="rect">
            <a:avLst/>
          </a:prstGeom>
        </p:spPr>
      </p:pic>
      <p:pic>
        <p:nvPicPr>
          <p:cNvPr id="3117" name="Picture 3116" descr="A green check mark on a white background&#10;&#10;Description automatically generated">
            <a:extLst>
              <a:ext uri="{FF2B5EF4-FFF2-40B4-BE49-F238E27FC236}">
                <a16:creationId xmlns:a16="http://schemas.microsoft.com/office/drawing/2014/main" id="{F0AF4E2D-7D8E-4821-874B-3A70AF7564E3}"/>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7480737" y="3001105"/>
            <a:ext cx="683814" cy="630046"/>
          </a:xfrm>
          <a:prstGeom prst="rect">
            <a:avLst/>
          </a:prstGeom>
        </p:spPr>
      </p:pic>
      <p:pic>
        <p:nvPicPr>
          <p:cNvPr id="3118" name="Picture 3117" descr="A green check mark on a white background&#10;&#10;Description automatically generated">
            <a:extLst>
              <a:ext uri="{FF2B5EF4-FFF2-40B4-BE49-F238E27FC236}">
                <a16:creationId xmlns:a16="http://schemas.microsoft.com/office/drawing/2014/main" id="{239A54C0-809D-28B6-85E7-AA9FD64DCDF4}"/>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7486708" y="5332780"/>
            <a:ext cx="683814" cy="630046"/>
          </a:xfrm>
          <a:prstGeom prst="rect">
            <a:avLst/>
          </a:prstGeom>
        </p:spPr>
      </p:pic>
      <p:pic>
        <p:nvPicPr>
          <p:cNvPr id="3119" name="Picture 3118" descr="A green check mark on a white background&#10;&#10;Description automatically generated">
            <a:extLst>
              <a:ext uri="{FF2B5EF4-FFF2-40B4-BE49-F238E27FC236}">
                <a16:creationId xmlns:a16="http://schemas.microsoft.com/office/drawing/2014/main" id="{E50DEA27-0199-1B27-CCDD-9891D89CA333}"/>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8928037" y="1472480"/>
            <a:ext cx="683814" cy="630046"/>
          </a:xfrm>
          <a:prstGeom prst="rect">
            <a:avLst/>
          </a:prstGeom>
        </p:spPr>
      </p:pic>
      <p:pic>
        <p:nvPicPr>
          <p:cNvPr id="3120" name="Picture 3119" descr="A green check mark on a white background&#10;&#10;Description automatically generated">
            <a:extLst>
              <a:ext uri="{FF2B5EF4-FFF2-40B4-BE49-F238E27FC236}">
                <a16:creationId xmlns:a16="http://schemas.microsoft.com/office/drawing/2014/main" id="{E05377DD-C63F-DD17-32CD-42EC07589BD2}"/>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8934030" y="2249732"/>
            <a:ext cx="683814" cy="630046"/>
          </a:xfrm>
          <a:prstGeom prst="rect">
            <a:avLst/>
          </a:prstGeom>
        </p:spPr>
      </p:pic>
      <p:pic>
        <p:nvPicPr>
          <p:cNvPr id="3121" name="Picture 3120" descr="A green check mark on a white background&#10;&#10;Description automatically generated">
            <a:extLst>
              <a:ext uri="{FF2B5EF4-FFF2-40B4-BE49-F238E27FC236}">
                <a16:creationId xmlns:a16="http://schemas.microsoft.com/office/drawing/2014/main" id="{079D5182-C45A-3B8E-DFD5-57364AAA3C39}"/>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8941328" y="3010166"/>
            <a:ext cx="683814" cy="630046"/>
          </a:xfrm>
          <a:prstGeom prst="rect">
            <a:avLst/>
          </a:prstGeom>
        </p:spPr>
      </p:pic>
      <p:pic>
        <p:nvPicPr>
          <p:cNvPr id="3122" name="Picture 3121" descr="A green check mark on a white background&#10;&#10;Description automatically generated">
            <a:extLst>
              <a:ext uri="{FF2B5EF4-FFF2-40B4-BE49-F238E27FC236}">
                <a16:creationId xmlns:a16="http://schemas.microsoft.com/office/drawing/2014/main" id="{F56F5DFE-C50F-AA3D-DC89-46B88D259532}"/>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8928037" y="3743118"/>
            <a:ext cx="683814" cy="630046"/>
          </a:xfrm>
          <a:prstGeom prst="rect">
            <a:avLst/>
          </a:prstGeom>
        </p:spPr>
      </p:pic>
      <p:pic>
        <p:nvPicPr>
          <p:cNvPr id="3123" name="Picture 3122" descr="A green check mark on a white background&#10;&#10;Description automatically generated">
            <a:extLst>
              <a:ext uri="{FF2B5EF4-FFF2-40B4-BE49-F238E27FC236}">
                <a16:creationId xmlns:a16="http://schemas.microsoft.com/office/drawing/2014/main" id="{404B210F-7BA7-7704-89BB-7BF780367A04}"/>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8928037" y="4552914"/>
            <a:ext cx="683814" cy="630046"/>
          </a:xfrm>
          <a:prstGeom prst="rect">
            <a:avLst/>
          </a:prstGeom>
        </p:spPr>
      </p:pic>
      <p:pic>
        <p:nvPicPr>
          <p:cNvPr id="3124" name="Picture 3123" descr="A green check mark on a white background&#10;&#10;Description automatically generated">
            <a:extLst>
              <a:ext uri="{FF2B5EF4-FFF2-40B4-BE49-F238E27FC236}">
                <a16:creationId xmlns:a16="http://schemas.microsoft.com/office/drawing/2014/main" id="{AFDC9E0D-7E32-45F8-1419-46077D328E0B}"/>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8922630" y="5316935"/>
            <a:ext cx="683814" cy="630046"/>
          </a:xfrm>
          <a:prstGeom prst="rect">
            <a:avLst/>
          </a:prstGeom>
        </p:spPr>
      </p:pic>
      <p:pic>
        <p:nvPicPr>
          <p:cNvPr id="3125" name="Picture 3124" descr="A green check mark on a white background&#10;&#10;Description automatically generated">
            <a:extLst>
              <a:ext uri="{FF2B5EF4-FFF2-40B4-BE49-F238E27FC236}">
                <a16:creationId xmlns:a16="http://schemas.microsoft.com/office/drawing/2014/main" id="{D3C377B5-56C5-3FB8-07BE-C4C008D69B0A}"/>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10386153" y="1469024"/>
            <a:ext cx="683814" cy="630046"/>
          </a:xfrm>
          <a:prstGeom prst="rect">
            <a:avLst/>
          </a:prstGeom>
        </p:spPr>
      </p:pic>
      <p:pic>
        <p:nvPicPr>
          <p:cNvPr id="3126" name="Picture 3125" descr="A green check mark on a white background&#10;&#10;Description automatically generated">
            <a:extLst>
              <a:ext uri="{FF2B5EF4-FFF2-40B4-BE49-F238E27FC236}">
                <a16:creationId xmlns:a16="http://schemas.microsoft.com/office/drawing/2014/main" id="{C6B82DE8-FEA7-F223-9148-F86DFDAA6072}"/>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10386153" y="2222336"/>
            <a:ext cx="683814" cy="630046"/>
          </a:xfrm>
          <a:prstGeom prst="rect">
            <a:avLst/>
          </a:prstGeom>
        </p:spPr>
      </p:pic>
      <p:pic>
        <p:nvPicPr>
          <p:cNvPr id="3127" name="Picture 3126" descr="A green check mark on a white background&#10;&#10;Description automatically generated">
            <a:extLst>
              <a:ext uri="{FF2B5EF4-FFF2-40B4-BE49-F238E27FC236}">
                <a16:creationId xmlns:a16="http://schemas.microsoft.com/office/drawing/2014/main" id="{A2CFD3D7-8740-9503-E32E-9C4C694B2387}"/>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10386153" y="3010166"/>
            <a:ext cx="683814" cy="630046"/>
          </a:xfrm>
          <a:prstGeom prst="rect">
            <a:avLst/>
          </a:prstGeom>
        </p:spPr>
      </p:pic>
      <p:pic>
        <p:nvPicPr>
          <p:cNvPr id="3128" name="Picture 3127" descr="A green check mark on a white background&#10;&#10;Description automatically generated">
            <a:extLst>
              <a:ext uri="{FF2B5EF4-FFF2-40B4-BE49-F238E27FC236}">
                <a16:creationId xmlns:a16="http://schemas.microsoft.com/office/drawing/2014/main" id="{DB4E7634-B357-228D-A147-18E1AF368EFC}"/>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10386153" y="3769678"/>
            <a:ext cx="683814" cy="630046"/>
          </a:xfrm>
          <a:prstGeom prst="rect">
            <a:avLst/>
          </a:prstGeom>
        </p:spPr>
      </p:pic>
      <p:pic>
        <p:nvPicPr>
          <p:cNvPr id="3129" name="Picture 3128" descr="A green check mark on a white background&#10;&#10;Description automatically generated">
            <a:extLst>
              <a:ext uri="{FF2B5EF4-FFF2-40B4-BE49-F238E27FC236}">
                <a16:creationId xmlns:a16="http://schemas.microsoft.com/office/drawing/2014/main" id="{A4A33284-C556-C8AE-56F2-4535817DC27A}"/>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10398869" y="4532786"/>
            <a:ext cx="683814" cy="630046"/>
          </a:xfrm>
          <a:prstGeom prst="rect">
            <a:avLst/>
          </a:prstGeom>
        </p:spPr>
      </p:pic>
      <p:pic>
        <p:nvPicPr>
          <p:cNvPr id="3130" name="Picture 3129" descr="A green check mark on a white background&#10;&#10;Description automatically generated">
            <a:extLst>
              <a:ext uri="{FF2B5EF4-FFF2-40B4-BE49-F238E27FC236}">
                <a16:creationId xmlns:a16="http://schemas.microsoft.com/office/drawing/2014/main" id="{D444D8C3-7F77-A432-7358-6507EBFDF6BF}"/>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10386153" y="5316935"/>
            <a:ext cx="683814" cy="630046"/>
          </a:xfrm>
          <a:prstGeom prst="rect">
            <a:avLst/>
          </a:prstGeom>
        </p:spPr>
      </p:pic>
      <p:sp>
        <p:nvSpPr>
          <p:cNvPr id="3131" name="Rectangle 3130">
            <a:extLst>
              <a:ext uri="{FF2B5EF4-FFF2-40B4-BE49-F238E27FC236}">
                <a16:creationId xmlns:a16="http://schemas.microsoft.com/office/drawing/2014/main" id="{A0F699D7-A68E-C212-9C19-ADD11E679750}"/>
              </a:ext>
            </a:extLst>
          </p:cNvPr>
          <p:cNvSpPr/>
          <p:nvPr/>
        </p:nvSpPr>
        <p:spPr>
          <a:xfrm>
            <a:off x="7105616" y="744965"/>
            <a:ext cx="1385843" cy="5334101"/>
          </a:xfrm>
          <a:prstGeom prst="rect">
            <a:avLst/>
          </a:prstGeom>
          <a:noFill/>
          <a:ln w="28575">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132" name="Rectangle 3131">
            <a:extLst>
              <a:ext uri="{FF2B5EF4-FFF2-40B4-BE49-F238E27FC236}">
                <a16:creationId xmlns:a16="http://schemas.microsoft.com/office/drawing/2014/main" id="{600222FD-4A18-D941-17AD-C8BA608FF0AC}"/>
              </a:ext>
            </a:extLst>
          </p:cNvPr>
          <p:cNvSpPr/>
          <p:nvPr/>
        </p:nvSpPr>
        <p:spPr>
          <a:xfrm>
            <a:off x="8573751" y="744966"/>
            <a:ext cx="1387103" cy="5334101"/>
          </a:xfrm>
          <a:prstGeom prst="rect">
            <a:avLst/>
          </a:prstGeom>
          <a:noFill/>
          <a:ln w="28575">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3151" name="Picture 3150" descr="A green check mark on a white background&#10;&#10;Description automatically generated">
            <a:extLst>
              <a:ext uri="{FF2B5EF4-FFF2-40B4-BE49-F238E27FC236}">
                <a16:creationId xmlns:a16="http://schemas.microsoft.com/office/drawing/2014/main" id="{3DB6D45A-7DD8-EE39-075A-C42C342FE0E5}"/>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6002688" y="4529833"/>
            <a:ext cx="683814" cy="630046"/>
          </a:xfrm>
          <a:prstGeom prst="rect">
            <a:avLst/>
          </a:prstGeom>
        </p:spPr>
      </p:pic>
      <p:pic>
        <p:nvPicPr>
          <p:cNvPr id="3152" name="Picture 3151" descr="A green check mark on a white background&#10;&#10;Description automatically generated">
            <a:extLst>
              <a:ext uri="{FF2B5EF4-FFF2-40B4-BE49-F238E27FC236}">
                <a16:creationId xmlns:a16="http://schemas.microsoft.com/office/drawing/2014/main" id="{DC181904-7B05-CC8F-7A3C-194DDC24C308}"/>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3156824" y="2252775"/>
            <a:ext cx="683814" cy="630046"/>
          </a:xfrm>
          <a:prstGeom prst="rect">
            <a:avLst/>
          </a:prstGeom>
        </p:spPr>
      </p:pic>
      <p:pic>
        <p:nvPicPr>
          <p:cNvPr id="3153" name="Picture 3152" descr="A red x on a black background&#10;&#10;Description automatically generated">
            <a:extLst>
              <a:ext uri="{FF2B5EF4-FFF2-40B4-BE49-F238E27FC236}">
                <a16:creationId xmlns:a16="http://schemas.microsoft.com/office/drawing/2014/main" id="{DA1883D9-CE0D-8D02-04C0-7B8183EF41A9}"/>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contrast="40000"/>
                    </a14:imgEffect>
                  </a14:imgLayer>
                </a14:imgProps>
              </a:ext>
            </a:extLst>
          </a:blip>
          <a:stretch>
            <a:fillRect/>
          </a:stretch>
        </p:blipFill>
        <p:spPr>
          <a:xfrm>
            <a:off x="3263510" y="3933185"/>
            <a:ext cx="374628" cy="374628"/>
          </a:xfrm>
          <a:prstGeom prst="rect">
            <a:avLst/>
          </a:prstGeom>
        </p:spPr>
      </p:pic>
      <p:pic>
        <p:nvPicPr>
          <p:cNvPr id="3154" name="Picture 3153" descr="A green check mark on a white background&#10;&#10;Description automatically generated">
            <a:extLst>
              <a:ext uri="{FF2B5EF4-FFF2-40B4-BE49-F238E27FC236}">
                <a16:creationId xmlns:a16="http://schemas.microsoft.com/office/drawing/2014/main" id="{BC013535-4DE2-047E-0F29-ADB1E68FBE02}"/>
              </a:ext>
            </a:extLst>
          </p:cNvPr>
          <p:cNvPicPr>
            <a:picLocks noChangeAspect="1"/>
          </p:cNvPicPr>
          <p:nvPr/>
        </p:nvPicPr>
        <p:blipFill rotWithShape="1">
          <a:blip r:embed="rId14">
            <a:alphaModFix amt="85000"/>
            <a:extLst>
              <a:ext uri="{BEBA8EAE-BF5A-486C-A8C5-ECC9F3942E4B}">
                <a14:imgProps xmlns:a14="http://schemas.microsoft.com/office/drawing/2010/main">
                  <a14:imgLayer r:embed="rId15">
                    <a14:imgEffect>
                      <a14:backgroundRemoval t="8539" b="76852" l="10000" r="90000"/>
                    </a14:imgEffect>
                    <a14:imgEffect>
                      <a14:artisticPaintStrokes/>
                    </a14:imgEffect>
                  </a14:imgLayer>
                </a14:imgProps>
              </a:ext>
            </a:extLst>
          </a:blip>
          <a:srcRect b="14609"/>
          <a:stretch/>
        </p:blipFill>
        <p:spPr>
          <a:xfrm>
            <a:off x="6012412" y="2222336"/>
            <a:ext cx="683814" cy="630046"/>
          </a:xfrm>
          <a:prstGeom prst="rect">
            <a:avLst/>
          </a:prstGeom>
        </p:spPr>
      </p:pic>
    </p:spTree>
    <p:extLst>
      <p:ext uri="{BB962C8B-B14F-4D97-AF65-F5344CB8AC3E}">
        <p14:creationId xmlns:p14="http://schemas.microsoft.com/office/powerpoint/2010/main" val="372853801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bg/>
                                          </p:spTgt>
                                        </p:tgtEl>
                                        <p:attrNameLst>
                                          <p:attrName>style.visibility</p:attrName>
                                        </p:attrNameLst>
                                      </p:cBhvr>
                                      <p:to>
                                        <p:strVal val="visible"/>
                                      </p:to>
                                    </p:set>
                                    <p:animEffect transition="in" filter="fade">
                                      <p:cBhvr>
                                        <p:cTn id="7" dur="500"/>
                                        <p:tgtEl>
                                          <p:spTgt spid="22">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xEl>
                                              <p:pRg st="0" end="0"/>
                                            </p:txEl>
                                          </p:spTgt>
                                        </p:tgtEl>
                                        <p:attrNameLst>
                                          <p:attrName>style.visibility</p:attrName>
                                        </p:attrNameLst>
                                      </p:cBhvr>
                                      <p:to>
                                        <p:strVal val="visible"/>
                                      </p:to>
                                    </p:set>
                                    <p:animEffect transition="in" filter="fade">
                                      <p:cBhvr>
                                        <p:cTn id="12" dur="500"/>
                                        <p:tgtEl>
                                          <p:spTgt spid="22">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8">
                                            <p:bg/>
                                          </p:spTgt>
                                        </p:tgtEl>
                                        <p:attrNameLst>
                                          <p:attrName>style.visibility</p:attrName>
                                        </p:attrNameLst>
                                      </p:cBhvr>
                                      <p:to>
                                        <p:strVal val="visible"/>
                                      </p:to>
                                    </p:set>
                                    <p:animEffect transition="in" filter="fade">
                                      <p:cBhvr>
                                        <p:cTn id="15" dur="500"/>
                                        <p:tgtEl>
                                          <p:spTgt spid="38">
                                            <p:bg/>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8">
                                            <p:txEl>
                                              <p:pRg st="0" end="0"/>
                                            </p:txEl>
                                          </p:spTgt>
                                        </p:tgtEl>
                                        <p:attrNameLst>
                                          <p:attrName>style.visibility</p:attrName>
                                        </p:attrNameLst>
                                      </p:cBhvr>
                                      <p:to>
                                        <p:strVal val="visible"/>
                                      </p:to>
                                    </p:set>
                                    <p:animEffect transition="in" filter="fade">
                                      <p:cBhvr>
                                        <p:cTn id="20" dur="500"/>
                                        <p:tgtEl>
                                          <p:spTgt spid="38">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9">
                                            <p:bg/>
                                          </p:spTgt>
                                        </p:tgtEl>
                                        <p:attrNameLst>
                                          <p:attrName>style.visibility</p:attrName>
                                        </p:attrNameLst>
                                      </p:cBhvr>
                                      <p:to>
                                        <p:strVal val="visible"/>
                                      </p:to>
                                    </p:set>
                                    <p:animEffect transition="in" filter="fade">
                                      <p:cBhvr>
                                        <p:cTn id="23" dur="500"/>
                                        <p:tgtEl>
                                          <p:spTgt spid="39">
                                            <p:bg/>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9">
                                            <p:txEl>
                                              <p:pRg st="0" end="0"/>
                                            </p:txEl>
                                          </p:spTgt>
                                        </p:tgtEl>
                                        <p:attrNameLst>
                                          <p:attrName>style.visibility</p:attrName>
                                        </p:attrNameLst>
                                      </p:cBhvr>
                                      <p:to>
                                        <p:strVal val="visible"/>
                                      </p:to>
                                    </p:set>
                                    <p:animEffect transition="in" filter="fade">
                                      <p:cBhvr>
                                        <p:cTn id="28" dur="500"/>
                                        <p:tgtEl>
                                          <p:spTgt spid="39">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0">
                                            <p:bg/>
                                          </p:spTgt>
                                        </p:tgtEl>
                                        <p:attrNameLst>
                                          <p:attrName>style.visibility</p:attrName>
                                        </p:attrNameLst>
                                      </p:cBhvr>
                                      <p:to>
                                        <p:strVal val="visible"/>
                                      </p:to>
                                    </p:set>
                                    <p:animEffect transition="in" filter="fade">
                                      <p:cBhvr>
                                        <p:cTn id="31" dur="500"/>
                                        <p:tgtEl>
                                          <p:spTgt spid="40">
                                            <p:bg/>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0">
                                            <p:txEl>
                                              <p:pRg st="0" end="0"/>
                                            </p:txEl>
                                          </p:spTgt>
                                        </p:tgtEl>
                                        <p:attrNameLst>
                                          <p:attrName>style.visibility</p:attrName>
                                        </p:attrNameLst>
                                      </p:cBhvr>
                                      <p:to>
                                        <p:strVal val="visible"/>
                                      </p:to>
                                    </p:set>
                                    <p:animEffect transition="in" filter="fade">
                                      <p:cBhvr>
                                        <p:cTn id="36" dur="500"/>
                                        <p:tgtEl>
                                          <p:spTgt spid="40">
                                            <p:txEl>
                                              <p:pRg st="0" end="0"/>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1">
                                            <p:bg/>
                                          </p:spTgt>
                                        </p:tgtEl>
                                        <p:attrNameLst>
                                          <p:attrName>style.visibility</p:attrName>
                                        </p:attrNameLst>
                                      </p:cBhvr>
                                      <p:to>
                                        <p:strVal val="visible"/>
                                      </p:to>
                                    </p:set>
                                    <p:animEffect transition="in" filter="fade">
                                      <p:cBhvr>
                                        <p:cTn id="39" dur="500"/>
                                        <p:tgtEl>
                                          <p:spTgt spid="41">
                                            <p:bg/>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1">
                                            <p:txEl>
                                              <p:pRg st="0" end="0"/>
                                            </p:txEl>
                                          </p:spTgt>
                                        </p:tgtEl>
                                        <p:attrNameLst>
                                          <p:attrName>style.visibility</p:attrName>
                                        </p:attrNameLst>
                                      </p:cBhvr>
                                      <p:to>
                                        <p:strVal val="visible"/>
                                      </p:to>
                                    </p:set>
                                    <p:animEffect transition="in" filter="fade">
                                      <p:cBhvr>
                                        <p:cTn id="44" dur="500"/>
                                        <p:tgtEl>
                                          <p:spTgt spid="41">
                                            <p:txEl>
                                              <p:pRg st="0" end="0"/>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2">
                                            <p:bg/>
                                          </p:spTgt>
                                        </p:tgtEl>
                                        <p:attrNameLst>
                                          <p:attrName>style.visibility</p:attrName>
                                        </p:attrNameLst>
                                      </p:cBhvr>
                                      <p:to>
                                        <p:strVal val="visible"/>
                                      </p:to>
                                    </p:set>
                                    <p:animEffect transition="in" filter="fade">
                                      <p:cBhvr>
                                        <p:cTn id="47" dur="500"/>
                                        <p:tgtEl>
                                          <p:spTgt spid="42">
                                            <p:bg/>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2">
                                            <p:txEl>
                                              <p:pRg st="0" end="0"/>
                                            </p:txEl>
                                          </p:spTgt>
                                        </p:tgtEl>
                                        <p:attrNameLst>
                                          <p:attrName>style.visibility</p:attrName>
                                        </p:attrNameLst>
                                      </p:cBhvr>
                                      <p:to>
                                        <p:strVal val="visible"/>
                                      </p:to>
                                    </p:set>
                                    <p:animEffect transition="in" filter="fade">
                                      <p:cBhvr>
                                        <p:cTn id="52" dur="500"/>
                                        <p:tgtEl>
                                          <p:spTgt spid="4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500"/>
                                        <p:tgtEl>
                                          <p:spTgt spid="27"/>
                                        </p:tgtEl>
                                      </p:cBhvr>
                                    </p:animEffect>
                                  </p:childTnLst>
                                </p:cTn>
                              </p:par>
                              <p:par>
                                <p:cTn id="58" presetID="10" presetClass="entr" presetSubtype="0" fill="hold"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1" presetID="10" presetClass="entr" presetSubtype="0" fill="hold"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par>
                                <p:cTn id="64" presetID="10" presetClass="entr" presetSubtype="0" fill="hold"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par>
                                <p:cTn id="67" presetID="10" presetClass="entr" presetSubtype="0" fill="hold"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par>
                                <p:cTn id="70" presetID="10" presetClass="entr" presetSubtype="0" fill="hold" nodeType="with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500"/>
                                        <p:tgtEl>
                                          <p:spTgt spid="12"/>
                                        </p:tgtEl>
                                      </p:cBhvr>
                                    </p:animEffect>
                                  </p:childTnLst>
                                </p:cTn>
                              </p:par>
                              <p:par>
                                <p:cTn id="78" presetID="10" presetClass="entr" presetSubtype="0" fill="hold" nodeType="with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500"/>
                                        <p:tgtEl>
                                          <p:spTgt spid="4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5"/>
                                        </p:tgtEl>
                                        <p:attrNameLst>
                                          <p:attrName>style.visibility</p:attrName>
                                        </p:attrNameLst>
                                      </p:cBhvr>
                                      <p:to>
                                        <p:strVal val="visible"/>
                                      </p:to>
                                    </p:set>
                                    <p:animEffect transition="in" filter="fade">
                                      <p:cBhvr>
                                        <p:cTn id="85" dur="500"/>
                                        <p:tgtEl>
                                          <p:spTgt spid="45"/>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7"/>
                                        </p:tgtEl>
                                        <p:attrNameLst>
                                          <p:attrName>style.visibility</p:attrName>
                                        </p:attrNameLst>
                                      </p:cBhvr>
                                      <p:to>
                                        <p:strVal val="visible"/>
                                      </p:to>
                                    </p:set>
                                    <p:animEffect transition="in" filter="fade">
                                      <p:cBhvr>
                                        <p:cTn id="90" dur="500"/>
                                        <p:tgtEl>
                                          <p:spTgt spid="47"/>
                                        </p:tgtEl>
                                      </p:cBhvr>
                                    </p:animEffect>
                                  </p:childTnLst>
                                </p:cTn>
                              </p:par>
                              <p:par>
                                <p:cTn id="91" presetID="10" presetClass="entr" presetSubtype="0" fill="hold" nodeType="withEffect">
                                  <p:stCondLst>
                                    <p:cond delay="0"/>
                                  </p:stCondLst>
                                  <p:childTnLst>
                                    <p:set>
                                      <p:cBhvr>
                                        <p:cTn id="92" dur="1" fill="hold">
                                          <p:stCondLst>
                                            <p:cond delay="0"/>
                                          </p:stCondLst>
                                        </p:cTn>
                                        <p:tgtEl>
                                          <p:spTgt spid="54"/>
                                        </p:tgtEl>
                                        <p:attrNameLst>
                                          <p:attrName>style.visibility</p:attrName>
                                        </p:attrNameLst>
                                      </p:cBhvr>
                                      <p:to>
                                        <p:strVal val="visible"/>
                                      </p:to>
                                    </p:set>
                                    <p:animEffect transition="in" filter="fade">
                                      <p:cBhvr>
                                        <p:cTn id="93" dur="500"/>
                                        <p:tgtEl>
                                          <p:spTgt spid="5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500"/>
                                        <p:tgtEl>
                                          <p:spTgt spid="48"/>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49"/>
                                        </p:tgtEl>
                                        <p:attrNameLst>
                                          <p:attrName>style.visibility</p:attrName>
                                        </p:attrNameLst>
                                      </p:cBhvr>
                                      <p:to>
                                        <p:strVal val="visible"/>
                                      </p:to>
                                    </p:set>
                                    <p:animEffect transition="in" filter="fade">
                                      <p:cBhvr>
                                        <p:cTn id="103" dur="500"/>
                                        <p:tgtEl>
                                          <p:spTgt spid="49"/>
                                        </p:tgtEl>
                                      </p:cBhvr>
                                    </p:animEffect>
                                  </p:childTnLst>
                                </p:cTn>
                              </p:par>
                              <p:par>
                                <p:cTn id="104" presetID="10" presetClass="entr" presetSubtype="0" fill="hold" nodeType="withEffect">
                                  <p:stCondLst>
                                    <p:cond delay="0"/>
                                  </p:stCondLst>
                                  <p:childTnLst>
                                    <p:set>
                                      <p:cBhvr>
                                        <p:cTn id="105" dur="1" fill="hold">
                                          <p:stCondLst>
                                            <p:cond delay="0"/>
                                          </p:stCondLst>
                                        </p:cTn>
                                        <p:tgtEl>
                                          <p:spTgt spid="56"/>
                                        </p:tgtEl>
                                        <p:attrNameLst>
                                          <p:attrName>style.visibility</p:attrName>
                                        </p:attrNameLst>
                                      </p:cBhvr>
                                      <p:to>
                                        <p:strVal val="visible"/>
                                      </p:to>
                                    </p:set>
                                    <p:animEffect transition="in" filter="fade">
                                      <p:cBhvr>
                                        <p:cTn id="106" dur="500"/>
                                        <p:tgtEl>
                                          <p:spTgt spid="56"/>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50"/>
                                        </p:tgtEl>
                                        <p:attrNameLst>
                                          <p:attrName>style.visibility</p:attrName>
                                        </p:attrNameLst>
                                      </p:cBhvr>
                                      <p:to>
                                        <p:strVal val="visible"/>
                                      </p:to>
                                    </p:set>
                                    <p:animEffect transition="in" filter="fade">
                                      <p:cBhvr>
                                        <p:cTn id="111" dur="500"/>
                                        <p:tgtEl>
                                          <p:spTgt spid="50"/>
                                        </p:tgtEl>
                                      </p:cBhvr>
                                    </p:animEffect>
                                  </p:childTnLst>
                                </p:cTn>
                              </p:par>
                              <p:par>
                                <p:cTn id="112" presetID="10" presetClass="entr" presetSubtype="0" fill="hold" nodeType="withEffect">
                                  <p:stCondLst>
                                    <p:cond delay="0"/>
                                  </p:stCondLst>
                                  <p:childTnLst>
                                    <p:set>
                                      <p:cBhvr>
                                        <p:cTn id="113" dur="1" fill="hold">
                                          <p:stCondLst>
                                            <p:cond delay="0"/>
                                          </p:stCondLst>
                                        </p:cTn>
                                        <p:tgtEl>
                                          <p:spTgt spid="57"/>
                                        </p:tgtEl>
                                        <p:attrNameLst>
                                          <p:attrName>style.visibility</p:attrName>
                                        </p:attrNameLst>
                                      </p:cBhvr>
                                      <p:to>
                                        <p:strVal val="visible"/>
                                      </p:to>
                                    </p:set>
                                    <p:animEffect transition="in" filter="fade">
                                      <p:cBhvr>
                                        <p:cTn id="114" dur="500"/>
                                        <p:tgtEl>
                                          <p:spTgt spid="57"/>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58"/>
                                        </p:tgtEl>
                                        <p:attrNameLst>
                                          <p:attrName>style.visibility</p:attrName>
                                        </p:attrNameLst>
                                      </p:cBhvr>
                                      <p:to>
                                        <p:strVal val="visible"/>
                                      </p:to>
                                    </p:set>
                                    <p:animEffect transition="in" filter="fade">
                                      <p:cBhvr>
                                        <p:cTn id="119" dur="500"/>
                                        <p:tgtEl>
                                          <p:spTgt spid="58"/>
                                        </p:tgtEl>
                                      </p:cBhvr>
                                    </p:animEffect>
                                  </p:childTnLst>
                                </p:cTn>
                              </p:par>
                              <p:par>
                                <p:cTn id="120" presetID="10" presetClass="entr" presetSubtype="0" fill="hold" nodeType="withEffect">
                                  <p:stCondLst>
                                    <p:cond delay="0"/>
                                  </p:stCondLst>
                                  <p:childTnLst>
                                    <p:set>
                                      <p:cBhvr>
                                        <p:cTn id="121" dur="1" fill="hold">
                                          <p:stCondLst>
                                            <p:cond delay="0"/>
                                          </p:stCondLst>
                                        </p:cTn>
                                        <p:tgtEl>
                                          <p:spTgt spid="3098"/>
                                        </p:tgtEl>
                                        <p:attrNameLst>
                                          <p:attrName>style.visibility</p:attrName>
                                        </p:attrNameLst>
                                      </p:cBhvr>
                                      <p:to>
                                        <p:strVal val="visible"/>
                                      </p:to>
                                    </p:set>
                                    <p:animEffect transition="in" filter="fade">
                                      <p:cBhvr>
                                        <p:cTn id="122" dur="500"/>
                                        <p:tgtEl>
                                          <p:spTgt spid="3098"/>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0"/>
                                        </p:tgtEl>
                                        <p:attrNameLst>
                                          <p:attrName>style.visibility</p:attrName>
                                        </p:attrNameLst>
                                      </p:cBhvr>
                                      <p:to>
                                        <p:strVal val="visible"/>
                                      </p:to>
                                    </p:set>
                                    <p:animEffect transition="in" filter="fade">
                                      <p:cBhvr>
                                        <p:cTn id="127" dur="500"/>
                                        <p:tgtEl>
                                          <p:spTgt spid="60"/>
                                        </p:tgtEl>
                                      </p:cBhvr>
                                    </p:animEffect>
                                  </p:childTnLst>
                                </p:cTn>
                              </p:par>
                              <p:par>
                                <p:cTn id="128" presetID="10" presetClass="entr" presetSubtype="0" fill="hold" nodeType="withEffect">
                                  <p:stCondLst>
                                    <p:cond delay="0"/>
                                  </p:stCondLst>
                                  <p:childTnLst>
                                    <p:set>
                                      <p:cBhvr>
                                        <p:cTn id="129" dur="1" fill="hold">
                                          <p:stCondLst>
                                            <p:cond delay="0"/>
                                          </p:stCondLst>
                                        </p:cTn>
                                        <p:tgtEl>
                                          <p:spTgt spid="3101"/>
                                        </p:tgtEl>
                                        <p:attrNameLst>
                                          <p:attrName>style.visibility</p:attrName>
                                        </p:attrNameLst>
                                      </p:cBhvr>
                                      <p:to>
                                        <p:strVal val="visible"/>
                                      </p:to>
                                    </p:set>
                                    <p:animEffect transition="in" filter="fade">
                                      <p:cBhvr>
                                        <p:cTn id="130" dur="500"/>
                                        <p:tgtEl>
                                          <p:spTgt spid="3101"/>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61"/>
                                        </p:tgtEl>
                                        <p:attrNameLst>
                                          <p:attrName>style.visibility</p:attrName>
                                        </p:attrNameLst>
                                      </p:cBhvr>
                                      <p:to>
                                        <p:strVal val="visible"/>
                                      </p:to>
                                    </p:set>
                                    <p:animEffect transition="in" filter="fade">
                                      <p:cBhvr>
                                        <p:cTn id="135" dur="500"/>
                                        <p:tgtEl>
                                          <p:spTgt spid="61"/>
                                        </p:tgtEl>
                                      </p:cBhvr>
                                    </p:animEffect>
                                  </p:childTnLst>
                                </p:cTn>
                              </p:par>
                              <p:par>
                                <p:cTn id="136" presetID="10" presetClass="entr" presetSubtype="0" fill="hold" nodeType="withEffect">
                                  <p:stCondLst>
                                    <p:cond delay="0"/>
                                  </p:stCondLst>
                                  <p:childTnLst>
                                    <p:set>
                                      <p:cBhvr>
                                        <p:cTn id="137" dur="1" fill="hold">
                                          <p:stCondLst>
                                            <p:cond delay="0"/>
                                          </p:stCondLst>
                                        </p:cTn>
                                        <p:tgtEl>
                                          <p:spTgt spid="3102"/>
                                        </p:tgtEl>
                                        <p:attrNameLst>
                                          <p:attrName>style.visibility</p:attrName>
                                        </p:attrNameLst>
                                      </p:cBhvr>
                                      <p:to>
                                        <p:strVal val="visible"/>
                                      </p:to>
                                    </p:set>
                                    <p:animEffect transition="in" filter="fade">
                                      <p:cBhvr>
                                        <p:cTn id="138" dur="500"/>
                                        <p:tgtEl>
                                          <p:spTgt spid="3102"/>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62"/>
                                        </p:tgtEl>
                                        <p:attrNameLst>
                                          <p:attrName>style.visibility</p:attrName>
                                        </p:attrNameLst>
                                      </p:cBhvr>
                                      <p:to>
                                        <p:strVal val="visible"/>
                                      </p:to>
                                    </p:set>
                                    <p:animEffect transition="in" filter="fade">
                                      <p:cBhvr>
                                        <p:cTn id="143" dur="500"/>
                                        <p:tgtEl>
                                          <p:spTgt spid="62"/>
                                        </p:tgtEl>
                                      </p:cBhvr>
                                    </p:animEffect>
                                  </p:childTnLst>
                                </p:cTn>
                              </p:par>
                              <p:par>
                                <p:cTn id="144" presetID="10" presetClass="entr" presetSubtype="0" fill="hold" nodeType="withEffect">
                                  <p:stCondLst>
                                    <p:cond delay="0"/>
                                  </p:stCondLst>
                                  <p:childTnLst>
                                    <p:set>
                                      <p:cBhvr>
                                        <p:cTn id="145" dur="1" fill="hold">
                                          <p:stCondLst>
                                            <p:cond delay="0"/>
                                          </p:stCondLst>
                                        </p:cTn>
                                        <p:tgtEl>
                                          <p:spTgt spid="3103"/>
                                        </p:tgtEl>
                                        <p:attrNameLst>
                                          <p:attrName>style.visibility</p:attrName>
                                        </p:attrNameLst>
                                      </p:cBhvr>
                                      <p:to>
                                        <p:strVal val="visible"/>
                                      </p:to>
                                    </p:set>
                                    <p:animEffect transition="in" filter="fade">
                                      <p:cBhvr>
                                        <p:cTn id="146" dur="500"/>
                                        <p:tgtEl>
                                          <p:spTgt spid="3103"/>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63"/>
                                        </p:tgtEl>
                                        <p:attrNameLst>
                                          <p:attrName>style.visibility</p:attrName>
                                        </p:attrNameLst>
                                      </p:cBhvr>
                                      <p:to>
                                        <p:strVal val="visible"/>
                                      </p:to>
                                    </p:set>
                                    <p:animEffect transition="in" filter="fade">
                                      <p:cBhvr>
                                        <p:cTn id="151" dur="500"/>
                                        <p:tgtEl>
                                          <p:spTgt spid="63"/>
                                        </p:tgtEl>
                                      </p:cBhvr>
                                    </p:animEffect>
                                  </p:childTnLst>
                                </p:cTn>
                              </p:par>
                              <p:par>
                                <p:cTn id="152" presetID="10" presetClass="entr" presetSubtype="0" fill="hold" nodeType="withEffect">
                                  <p:stCondLst>
                                    <p:cond delay="0"/>
                                  </p:stCondLst>
                                  <p:childTnLst>
                                    <p:set>
                                      <p:cBhvr>
                                        <p:cTn id="153" dur="1" fill="hold">
                                          <p:stCondLst>
                                            <p:cond delay="0"/>
                                          </p:stCondLst>
                                        </p:cTn>
                                        <p:tgtEl>
                                          <p:spTgt spid="3104"/>
                                        </p:tgtEl>
                                        <p:attrNameLst>
                                          <p:attrName>style.visibility</p:attrName>
                                        </p:attrNameLst>
                                      </p:cBhvr>
                                      <p:to>
                                        <p:strVal val="visible"/>
                                      </p:to>
                                    </p:set>
                                    <p:animEffect transition="in" filter="fade">
                                      <p:cBhvr>
                                        <p:cTn id="154" dur="500"/>
                                        <p:tgtEl>
                                          <p:spTgt spid="3104"/>
                                        </p:tgtEl>
                                      </p:cBhvr>
                                    </p:animEffect>
                                  </p:childTnLst>
                                </p:cTn>
                              </p:par>
                            </p:childTnLst>
                          </p:cTn>
                        </p:par>
                      </p:childTnLst>
                    </p:cTn>
                  </p:par>
                  <p:par>
                    <p:cTn id="155" fill="hold">
                      <p:stCondLst>
                        <p:cond delay="indefinite"/>
                      </p:stCondLst>
                      <p:childTnLst>
                        <p:par>
                          <p:cTn id="156" fill="hold">
                            <p:stCondLst>
                              <p:cond delay="0"/>
                            </p:stCondLst>
                            <p:childTnLst>
                              <p:par>
                                <p:cTn id="157" presetID="10" presetClass="entr" presetSubtype="0" fill="hold" grpId="0" nodeType="clickEffect">
                                  <p:stCondLst>
                                    <p:cond delay="0"/>
                                  </p:stCondLst>
                                  <p:childTnLst>
                                    <p:set>
                                      <p:cBhvr>
                                        <p:cTn id="158" dur="1" fill="hold">
                                          <p:stCondLst>
                                            <p:cond delay="0"/>
                                          </p:stCondLst>
                                        </p:cTn>
                                        <p:tgtEl>
                                          <p:spTgt spid="3072"/>
                                        </p:tgtEl>
                                        <p:attrNameLst>
                                          <p:attrName>style.visibility</p:attrName>
                                        </p:attrNameLst>
                                      </p:cBhvr>
                                      <p:to>
                                        <p:strVal val="visible"/>
                                      </p:to>
                                    </p:set>
                                    <p:animEffect transition="in" filter="fade">
                                      <p:cBhvr>
                                        <p:cTn id="159" dur="500"/>
                                        <p:tgtEl>
                                          <p:spTgt spid="3072"/>
                                        </p:tgtEl>
                                      </p:cBhvr>
                                    </p:animEffect>
                                  </p:childTnLst>
                                </p:cTn>
                              </p:par>
                              <p:par>
                                <p:cTn id="160" presetID="10" presetClass="entr" presetSubtype="0" fill="hold" nodeType="withEffect">
                                  <p:stCondLst>
                                    <p:cond delay="0"/>
                                  </p:stCondLst>
                                  <p:childTnLst>
                                    <p:set>
                                      <p:cBhvr>
                                        <p:cTn id="161" dur="1" fill="hold">
                                          <p:stCondLst>
                                            <p:cond delay="0"/>
                                          </p:stCondLst>
                                        </p:cTn>
                                        <p:tgtEl>
                                          <p:spTgt spid="3105"/>
                                        </p:tgtEl>
                                        <p:attrNameLst>
                                          <p:attrName>style.visibility</p:attrName>
                                        </p:attrNameLst>
                                      </p:cBhvr>
                                      <p:to>
                                        <p:strVal val="visible"/>
                                      </p:to>
                                    </p:set>
                                    <p:animEffect transition="in" filter="fade">
                                      <p:cBhvr>
                                        <p:cTn id="162" dur="500"/>
                                        <p:tgtEl>
                                          <p:spTgt spid="3105"/>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3073"/>
                                        </p:tgtEl>
                                        <p:attrNameLst>
                                          <p:attrName>style.visibility</p:attrName>
                                        </p:attrNameLst>
                                      </p:cBhvr>
                                      <p:to>
                                        <p:strVal val="visible"/>
                                      </p:to>
                                    </p:set>
                                    <p:animEffect transition="in" filter="fade">
                                      <p:cBhvr>
                                        <p:cTn id="167" dur="500"/>
                                        <p:tgtEl>
                                          <p:spTgt spid="3073"/>
                                        </p:tgtEl>
                                      </p:cBhvr>
                                    </p:animEffect>
                                  </p:childTnLst>
                                </p:cTn>
                              </p:par>
                              <p:par>
                                <p:cTn id="168" presetID="10" presetClass="entr" presetSubtype="0" fill="hold" nodeType="withEffect">
                                  <p:stCondLst>
                                    <p:cond delay="0"/>
                                  </p:stCondLst>
                                  <p:childTnLst>
                                    <p:set>
                                      <p:cBhvr>
                                        <p:cTn id="169" dur="1" fill="hold">
                                          <p:stCondLst>
                                            <p:cond delay="0"/>
                                          </p:stCondLst>
                                        </p:cTn>
                                        <p:tgtEl>
                                          <p:spTgt spid="3106"/>
                                        </p:tgtEl>
                                        <p:attrNameLst>
                                          <p:attrName>style.visibility</p:attrName>
                                        </p:attrNameLst>
                                      </p:cBhvr>
                                      <p:to>
                                        <p:strVal val="visible"/>
                                      </p:to>
                                    </p:set>
                                    <p:animEffect transition="in" filter="fade">
                                      <p:cBhvr>
                                        <p:cTn id="170" dur="500"/>
                                        <p:tgtEl>
                                          <p:spTgt spid="3106"/>
                                        </p:tgtEl>
                                      </p:cBhvr>
                                    </p:animEffect>
                                  </p:childTnLst>
                                </p:cTn>
                              </p:par>
                            </p:childTnLst>
                          </p:cTn>
                        </p:par>
                      </p:childTnLst>
                    </p:cTn>
                  </p:par>
                  <p:par>
                    <p:cTn id="171" fill="hold">
                      <p:stCondLst>
                        <p:cond delay="indefinite"/>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3075"/>
                                        </p:tgtEl>
                                        <p:attrNameLst>
                                          <p:attrName>style.visibility</p:attrName>
                                        </p:attrNameLst>
                                      </p:cBhvr>
                                      <p:to>
                                        <p:strVal val="visible"/>
                                      </p:to>
                                    </p:set>
                                    <p:animEffect transition="in" filter="fade">
                                      <p:cBhvr>
                                        <p:cTn id="175" dur="500"/>
                                        <p:tgtEl>
                                          <p:spTgt spid="3075"/>
                                        </p:tgtEl>
                                      </p:cBhvr>
                                    </p:animEffect>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grpId="0" nodeType="clickEffect">
                                  <p:stCondLst>
                                    <p:cond delay="0"/>
                                  </p:stCondLst>
                                  <p:childTnLst>
                                    <p:set>
                                      <p:cBhvr>
                                        <p:cTn id="179" dur="1" fill="hold">
                                          <p:stCondLst>
                                            <p:cond delay="0"/>
                                          </p:stCondLst>
                                        </p:cTn>
                                        <p:tgtEl>
                                          <p:spTgt spid="3076"/>
                                        </p:tgtEl>
                                        <p:attrNameLst>
                                          <p:attrName>style.visibility</p:attrName>
                                        </p:attrNameLst>
                                      </p:cBhvr>
                                      <p:to>
                                        <p:strVal val="visible"/>
                                      </p:to>
                                    </p:set>
                                    <p:animEffect transition="in" filter="fade">
                                      <p:cBhvr>
                                        <p:cTn id="180" dur="500"/>
                                        <p:tgtEl>
                                          <p:spTgt spid="3076"/>
                                        </p:tgtEl>
                                      </p:cBhvr>
                                    </p:animEffect>
                                  </p:childTnLst>
                                </p:cTn>
                              </p:par>
                              <p:par>
                                <p:cTn id="181" presetID="10" presetClass="entr" presetSubtype="0" fill="hold" nodeType="withEffect">
                                  <p:stCondLst>
                                    <p:cond delay="0"/>
                                  </p:stCondLst>
                                  <p:childTnLst>
                                    <p:set>
                                      <p:cBhvr>
                                        <p:cTn id="182" dur="1" fill="hold">
                                          <p:stCondLst>
                                            <p:cond delay="0"/>
                                          </p:stCondLst>
                                        </p:cTn>
                                        <p:tgtEl>
                                          <p:spTgt spid="3108"/>
                                        </p:tgtEl>
                                        <p:attrNameLst>
                                          <p:attrName>style.visibility</p:attrName>
                                        </p:attrNameLst>
                                      </p:cBhvr>
                                      <p:to>
                                        <p:strVal val="visible"/>
                                      </p:to>
                                    </p:set>
                                    <p:animEffect transition="in" filter="fade">
                                      <p:cBhvr>
                                        <p:cTn id="183" dur="500"/>
                                        <p:tgtEl>
                                          <p:spTgt spid="3108"/>
                                        </p:tgtEl>
                                      </p:cBhvr>
                                    </p:animEffec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grpId="0" nodeType="clickEffect">
                                  <p:stCondLst>
                                    <p:cond delay="0"/>
                                  </p:stCondLst>
                                  <p:childTnLst>
                                    <p:set>
                                      <p:cBhvr>
                                        <p:cTn id="187" dur="1" fill="hold">
                                          <p:stCondLst>
                                            <p:cond delay="0"/>
                                          </p:stCondLst>
                                        </p:cTn>
                                        <p:tgtEl>
                                          <p:spTgt spid="3077"/>
                                        </p:tgtEl>
                                        <p:attrNameLst>
                                          <p:attrName>style.visibility</p:attrName>
                                        </p:attrNameLst>
                                      </p:cBhvr>
                                      <p:to>
                                        <p:strVal val="visible"/>
                                      </p:to>
                                    </p:set>
                                    <p:animEffect transition="in" filter="fade">
                                      <p:cBhvr>
                                        <p:cTn id="188" dur="500"/>
                                        <p:tgtEl>
                                          <p:spTgt spid="3077"/>
                                        </p:tgtEl>
                                      </p:cBhvr>
                                    </p:animEffect>
                                  </p:childTnLst>
                                </p:cTn>
                              </p:par>
                              <p:par>
                                <p:cTn id="189" presetID="10" presetClass="entr" presetSubtype="0" fill="hold" nodeType="withEffect">
                                  <p:stCondLst>
                                    <p:cond delay="0"/>
                                  </p:stCondLst>
                                  <p:childTnLst>
                                    <p:set>
                                      <p:cBhvr>
                                        <p:cTn id="190" dur="1" fill="hold">
                                          <p:stCondLst>
                                            <p:cond delay="0"/>
                                          </p:stCondLst>
                                        </p:cTn>
                                        <p:tgtEl>
                                          <p:spTgt spid="3109"/>
                                        </p:tgtEl>
                                        <p:attrNameLst>
                                          <p:attrName>style.visibility</p:attrName>
                                        </p:attrNameLst>
                                      </p:cBhvr>
                                      <p:to>
                                        <p:strVal val="visible"/>
                                      </p:to>
                                    </p:set>
                                    <p:animEffect transition="in" filter="fade">
                                      <p:cBhvr>
                                        <p:cTn id="191" dur="500"/>
                                        <p:tgtEl>
                                          <p:spTgt spid="3109"/>
                                        </p:tgtEl>
                                      </p:cBhvr>
                                    </p:animEffect>
                                  </p:childTnLst>
                                </p:cTn>
                              </p:par>
                            </p:childTnLst>
                          </p:cTn>
                        </p:par>
                      </p:childTnLst>
                    </p:cTn>
                  </p:par>
                  <p:par>
                    <p:cTn id="192" fill="hold">
                      <p:stCondLst>
                        <p:cond delay="indefinite"/>
                      </p:stCondLst>
                      <p:childTnLst>
                        <p:par>
                          <p:cTn id="193" fill="hold">
                            <p:stCondLst>
                              <p:cond delay="0"/>
                            </p:stCondLst>
                            <p:childTnLst>
                              <p:par>
                                <p:cTn id="194" presetID="10" presetClass="entr" presetSubtype="0" fill="hold" grpId="0" nodeType="clickEffect">
                                  <p:stCondLst>
                                    <p:cond delay="0"/>
                                  </p:stCondLst>
                                  <p:childTnLst>
                                    <p:set>
                                      <p:cBhvr>
                                        <p:cTn id="195" dur="1" fill="hold">
                                          <p:stCondLst>
                                            <p:cond delay="0"/>
                                          </p:stCondLst>
                                        </p:cTn>
                                        <p:tgtEl>
                                          <p:spTgt spid="3078"/>
                                        </p:tgtEl>
                                        <p:attrNameLst>
                                          <p:attrName>style.visibility</p:attrName>
                                        </p:attrNameLst>
                                      </p:cBhvr>
                                      <p:to>
                                        <p:strVal val="visible"/>
                                      </p:to>
                                    </p:set>
                                    <p:animEffect transition="in" filter="fade">
                                      <p:cBhvr>
                                        <p:cTn id="196" dur="500"/>
                                        <p:tgtEl>
                                          <p:spTgt spid="3078"/>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ntr" presetSubtype="0" fill="hold" grpId="0" nodeType="clickEffect">
                                  <p:stCondLst>
                                    <p:cond delay="0"/>
                                  </p:stCondLst>
                                  <p:childTnLst>
                                    <p:set>
                                      <p:cBhvr>
                                        <p:cTn id="200" dur="1" fill="hold">
                                          <p:stCondLst>
                                            <p:cond delay="0"/>
                                          </p:stCondLst>
                                        </p:cTn>
                                        <p:tgtEl>
                                          <p:spTgt spid="3079"/>
                                        </p:tgtEl>
                                        <p:attrNameLst>
                                          <p:attrName>style.visibility</p:attrName>
                                        </p:attrNameLst>
                                      </p:cBhvr>
                                      <p:to>
                                        <p:strVal val="visible"/>
                                      </p:to>
                                    </p:set>
                                    <p:animEffect transition="in" filter="fade">
                                      <p:cBhvr>
                                        <p:cTn id="201" dur="500"/>
                                        <p:tgtEl>
                                          <p:spTgt spid="3079"/>
                                        </p:tgtEl>
                                      </p:cBhvr>
                                    </p:animEffect>
                                  </p:childTnLst>
                                </p:cTn>
                              </p:par>
                              <p:par>
                                <p:cTn id="202" presetID="10" presetClass="entr" presetSubtype="0" fill="hold" nodeType="withEffect">
                                  <p:stCondLst>
                                    <p:cond delay="0"/>
                                  </p:stCondLst>
                                  <p:childTnLst>
                                    <p:set>
                                      <p:cBhvr>
                                        <p:cTn id="203" dur="1" fill="hold">
                                          <p:stCondLst>
                                            <p:cond delay="0"/>
                                          </p:stCondLst>
                                        </p:cTn>
                                        <p:tgtEl>
                                          <p:spTgt spid="3112"/>
                                        </p:tgtEl>
                                        <p:attrNameLst>
                                          <p:attrName>style.visibility</p:attrName>
                                        </p:attrNameLst>
                                      </p:cBhvr>
                                      <p:to>
                                        <p:strVal val="visible"/>
                                      </p:to>
                                    </p:set>
                                    <p:animEffect transition="in" filter="fade">
                                      <p:cBhvr>
                                        <p:cTn id="204" dur="500"/>
                                        <p:tgtEl>
                                          <p:spTgt spid="3112"/>
                                        </p:tgtEl>
                                      </p:cBhvr>
                                    </p:animEffect>
                                  </p:childTnLst>
                                </p:cTn>
                              </p:par>
                            </p:childTnLst>
                          </p:cTn>
                        </p:par>
                      </p:childTnLst>
                    </p:cTn>
                  </p:par>
                  <p:par>
                    <p:cTn id="205" fill="hold">
                      <p:stCondLst>
                        <p:cond delay="indefinite"/>
                      </p:stCondLst>
                      <p:childTnLst>
                        <p:par>
                          <p:cTn id="206" fill="hold">
                            <p:stCondLst>
                              <p:cond delay="0"/>
                            </p:stCondLst>
                            <p:childTnLst>
                              <p:par>
                                <p:cTn id="207" presetID="10" presetClass="entr" presetSubtype="0" fill="hold" grpId="0" nodeType="clickEffect">
                                  <p:stCondLst>
                                    <p:cond delay="0"/>
                                  </p:stCondLst>
                                  <p:childTnLst>
                                    <p:set>
                                      <p:cBhvr>
                                        <p:cTn id="208" dur="1" fill="hold">
                                          <p:stCondLst>
                                            <p:cond delay="0"/>
                                          </p:stCondLst>
                                        </p:cTn>
                                        <p:tgtEl>
                                          <p:spTgt spid="3080"/>
                                        </p:tgtEl>
                                        <p:attrNameLst>
                                          <p:attrName>style.visibility</p:attrName>
                                        </p:attrNameLst>
                                      </p:cBhvr>
                                      <p:to>
                                        <p:strVal val="visible"/>
                                      </p:to>
                                    </p:set>
                                    <p:animEffect transition="in" filter="fade">
                                      <p:cBhvr>
                                        <p:cTn id="209" dur="500"/>
                                        <p:tgtEl>
                                          <p:spTgt spid="3080"/>
                                        </p:tgtEl>
                                      </p:cBhvr>
                                    </p:animEffect>
                                  </p:childTnLst>
                                </p:cTn>
                              </p:par>
                              <p:par>
                                <p:cTn id="210" presetID="10" presetClass="entr" presetSubtype="0" fill="hold" nodeType="withEffect">
                                  <p:stCondLst>
                                    <p:cond delay="0"/>
                                  </p:stCondLst>
                                  <p:childTnLst>
                                    <p:set>
                                      <p:cBhvr>
                                        <p:cTn id="211" dur="1" fill="hold">
                                          <p:stCondLst>
                                            <p:cond delay="0"/>
                                          </p:stCondLst>
                                        </p:cTn>
                                        <p:tgtEl>
                                          <p:spTgt spid="3115"/>
                                        </p:tgtEl>
                                        <p:attrNameLst>
                                          <p:attrName>style.visibility</p:attrName>
                                        </p:attrNameLst>
                                      </p:cBhvr>
                                      <p:to>
                                        <p:strVal val="visible"/>
                                      </p:to>
                                    </p:set>
                                    <p:animEffect transition="in" filter="fade">
                                      <p:cBhvr>
                                        <p:cTn id="212" dur="500"/>
                                        <p:tgtEl>
                                          <p:spTgt spid="3115"/>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ntr" presetSubtype="0" fill="hold" grpId="0" nodeType="clickEffect">
                                  <p:stCondLst>
                                    <p:cond delay="0"/>
                                  </p:stCondLst>
                                  <p:childTnLst>
                                    <p:set>
                                      <p:cBhvr>
                                        <p:cTn id="216" dur="1" fill="hold">
                                          <p:stCondLst>
                                            <p:cond delay="0"/>
                                          </p:stCondLst>
                                        </p:cTn>
                                        <p:tgtEl>
                                          <p:spTgt spid="3081"/>
                                        </p:tgtEl>
                                        <p:attrNameLst>
                                          <p:attrName>style.visibility</p:attrName>
                                        </p:attrNameLst>
                                      </p:cBhvr>
                                      <p:to>
                                        <p:strVal val="visible"/>
                                      </p:to>
                                    </p:set>
                                    <p:animEffect transition="in" filter="fade">
                                      <p:cBhvr>
                                        <p:cTn id="217" dur="500"/>
                                        <p:tgtEl>
                                          <p:spTgt spid="3081"/>
                                        </p:tgtEl>
                                      </p:cBhvr>
                                    </p:animEffect>
                                  </p:childTnLst>
                                </p:cTn>
                              </p:par>
                              <p:par>
                                <p:cTn id="218" presetID="10" presetClass="entr" presetSubtype="0" fill="hold" nodeType="withEffect">
                                  <p:stCondLst>
                                    <p:cond delay="0"/>
                                  </p:stCondLst>
                                  <p:childTnLst>
                                    <p:set>
                                      <p:cBhvr>
                                        <p:cTn id="219" dur="1" fill="hold">
                                          <p:stCondLst>
                                            <p:cond delay="0"/>
                                          </p:stCondLst>
                                        </p:cTn>
                                        <p:tgtEl>
                                          <p:spTgt spid="3116"/>
                                        </p:tgtEl>
                                        <p:attrNameLst>
                                          <p:attrName>style.visibility</p:attrName>
                                        </p:attrNameLst>
                                      </p:cBhvr>
                                      <p:to>
                                        <p:strVal val="visible"/>
                                      </p:to>
                                    </p:set>
                                    <p:animEffect transition="in" filter="fade">
                                      <p:cBhvr>
                                        <p:cTn id="220" dur="500"/>
                                        <p:tgtEl>
                                          <p:spTgt spid="3116"/>
                                        </p:tgtEl>
                                      </p:cBhvr>
                                    </p:animEffect>
                                  </p:childTnLst>
                                </p:cTn>
                              </p:par>
                            </p:childTnLst>
                          </p:cTn>
                        </p:par>
                      </p:childTnLst>
                    </p:cTn>
                  </p:par>
                  <p:par>
                    <p:cTn id="221" fill="hold">
                      <p:stCondLst>
                        <p:cond delay="indefinite"/>
                      </p:stCondLst>
                      <p:childTnLst>
                        <p:par>
                          <p:cTn id="222" fill="hold">
                            <p:stCondLst>
                              <p:cond delay="0"/>
                            </p:stCondLst>
                            <p:childTnLst>
                              <p:par>
                                <p:cTn id="223" presetID="10" presetClass="entr" presetSubtype="0" fill="hold" grpId="0" nodeType="clickEffect">
                                  <p:stCondLst>
                                    <p:cond delay="0"/>
                                  </p:stCondLst>
                                  <p:childTnLst>
                                    <p:set>
                                      <p:cBhvr>
                                        <p:cTn id="224" dur="1" fill="hold">
                                          <p:stCondLst>
                                            <p:cond delay="0"/>
                                          </p:stCondLst>
                                        </p:cTn>
                                        <p:tgtEl>
                                          <p:spTgt spid="3082"/>
                                        </p:tgtEl>
                                        <p:attrNameLst>
                                          <p:attrName>style.visibility</p:attrName>
                                        </p:attrNameLst>
                                      </p:cBhvr>
                                      <p:to>
                                        <p:strVal val="visible"/>
                                      </p:to>
                                    </p:set>
                                    <p:animEffect transition="in" filter="fade">
                                      <p:cBhvr>
                                        <p:cTn id="225" dur="500"/>
                                        <p:tgtEl>
                                          <p:spTgt spid="3082"/>
                                        </p:tgtEl>
                                      </p:cBhvr>
                                    </p:animEffect>
                                  </p:childTnLst>
                                </p:cTn>
                              </p:par>
                              <p:par>
                                <p:cTn id="226" presetID="10" presetClass="entr" presetSubtype="0" fill="hold" nodeType="withEffect">
                                  <p:stCondLst>
                                    <p:cond delay="0"/>
                                  </p:stCondLst>
                                  <p:childTnLst>
                                    <p:set>
                                      <p:cBhvr>
                                        <p:cTn id="227" dur="1" fill="hold">
                                          <p:stCondLst>
                                            <p:cond delay="0"/>
                                          </p:stCondLst>
                                        </p:cTn>
                                        <p:tgtEl>
                                          <p:spTgt spid="3117"/>
                                        </p:tgtEl>
                                        <p:attrNameLst>
                                          <p:attrName>style.visibility</p:attrName>
                                        </p:attrNameLst>
                                      </p:cBhvr>
                                      <p:to>
                                        <p:strVal val="visible"/>
                                      </p:to>
                                    </p:set>
                                    <p:animEffect transition="in" filter="fade">
                                      <p:cBhvr>
                                        <p:cTn id="228" dur="500"/>
                                        <p:tgtEl>
                                          <p:spTgt spid="3117"/>
                                        </p:tgtEl>
                                      </p:cBhvr>
                                    </p:animEffect>
                                  </p:childTnLst>
                                </p:cTn>
                              </p:par>
                            </p:childTnLst>
                          </p:cTn>
                        </p:par>
                      </p:childTnLst>
                    </p:cTn>
                  </p:par>
                  <p:par>
                    <p:cTn id="229" fill="hold">
                      <p:stCondLst>
                        <p:cond delay="indefinite"/>
                      </p:stCondLst>
                      <p:childTnLst>
                        <p:par>
                          <p:cTn id="230" fill="hold">
                            <p:stCondLst>
                              <p:cond delay="0"/>
                            </p:stCondLst>
                            <p:childTnLst>
                              <p:par>
                                <p:cTn id="231" presetID="10" presetClass="entr" presetSubtype="0" fill="hold" grpId="0" nodeType="clickEffect">
                                  <p:stCondLst>
                                    <p:cond delay="0"/>
                                  </p:stCondLst>
                                  <p:childTnLst>
                                    <p:set>
                                      <p:cBhvr>
                                        <p:cTn id="232" dur="1" fill="hold">
                                          <p:stCondLst>
                                            <p:cond delay="0"/>
                                          </p:stCondLst>
                                        </p:cTn>
                                        <p:tgtEl>
                                          <p:spTgt spid="3083"/>
                                        </p:tgtEl>
                                        <p:attrNameLst>
                                          <p:attrName>style.visibility</p:attrName>
                                        </p:attrNameLst>
                                      </p:cBhvr>
                                      <p:to>
                                        <p:strVal val="visible"/>
                                      </p:to>
                                    </p:set>
                                    <p:animEffect transition="in" filter="fade">
                                      <p:cBhvr>
                                        <p:cTn id="233" dur="500"/>
                                        <p:tgtEl>
                                          <p:spTgt spid="3083"/>
                                        </p:tgtEl>
                                      </p:cBhvr>
                                    </p:animEffect>
                                  </p:childTnLst>
                                </p:cTn>
                              </p:par>
                              <p:par>
                                <p:cTn id="234" presetID="10" presetClass="entr" presetSubtype="0" fill="hold" nodeType="withEffect">
                                  <p:stCondLst>
                                    <p:cond delay="0"/>
                                  </p:stCondLst>
                                  <p:childTnLst>
                                    <p:set>
                                      <p:cBhvr>
                                        <p:cTn id="235" dur="1" fill="hold">
                                          <p:stCondLst>
                                            <p:cond delay="0"/>
                                          </p:stCondLst>
                                        </p:cTn>
                                        <p:tgtEl>
                                          <p:spTgt spid="3113"/>
                                        </p:tgtEl>
                                        <p:attrNameLst>
                                          <p:attrName>style.visibility</p:attrName>
                                        </p:attrNameLst>
                                      </p:cBhvr>
                                      <p:to>
                                        <p:strVal val="visible"/>
                                      </p:to>
                                    </p:set>
                                    <p:animEffect transition="in" filter="fade">
                                      <p:cBhvr>
                                        <p:cTn id="236" dur="500"/>
                                        <p:tgtEl>
                                          <p:spTgt spid="3113"/>
                                        </p:tgtEl>
                                      </p:cBhvr>
                                    </p:animEffect>
                                  </p:childTnLst>
                                </p:cTn>
                              </p:par>
                            </p:childTnLst>
                          </p:cTn>
                        </p:par>
                      </p:childTnLst>
                    </p:cTn>
                  </p:par>
                  <p:par>
                    <p:cTn id="237" fill="hold">
                      <p:stCondLst>
                        <p:cond delay="indefinite"/>
                      </p:stCondLst>
                      <p:childTnLst>
                        <p:par>
                          <p:cTn id="238" fill="hold">
                            <p:stCondLst>
                              <p:cond delay="0"/>
                            </p:stCondLst>
                            <p:childTnLst>
                              <p:par>
                                <p:cTn id="239" presetID="10" presetClass="entr" presetSubtype="0" fill="hold" grpId="0" nodeType="clickEffect">
                                  <p:stCondLst>
                                    <p:cond delay="0"/>
                                  </p:stCondLst>
                                  <p:childTnLst>
                                    <p:set>
                                      <p:cBhvr>
                                        <p:cTn id="240" dur="1" fill="hold">
                                          <p:stCondLst>
                                            <p:cond delay="0"/>
                                          </p:stCondLst>
                                        </p:cTn>
                                        <p:tgtEl>
                                          <p:spTgt spid="3084"/>
                                        </p:tgtEl>
                                        <p:attrNameLst>
                                          <p:attrName>style.visibility</p:attrName>
                                        </p:attrNameLst>
                                      </p:cBhvr>
                                      <p:to>
                                        <p:strVal val="visible"/>
                                      </p:to>
                                    </p:set>
                                    <p:animEffect transition="in" filter="fade">
                                      <p:cBhvr>
                                        <p:cTn id="241" dur="500"/>
                                        <p:tgtEl>
                                          <p:spTgt spid="3084"/>
                                        </p:tgtEl>
                                      </p:cBhvr>
                                    </p:animEffect>
                                  </p:childTnLst>
                                </p:cTn>
                              </p:par>
                              <p:par>
                                <p:cTn id="242" presetID="10" presetClass="entr" presetSubtype="0" fill="hold" nodeType="withEffect">
                                  <p:stCondLst>
                                    <p:cond delay="0"/>
                                  </p:stCondLst>
                                  <p:childTnLst>
                                    <p:set>
                                      <p:cBhvr>
                                        <p:cTn id="243" dur="1" fill="hold">
                                          <p:stCondLst>
                                            <p:cond delay="0"/>
                                          </p:stCondLst>
                                        </p:cTn>
                                        <p:tgtEl>
                                          <p:spTgt spid="3114"/>
                                        </p:tgtEl>
                                        <p:attrNameLst>
                                          <p:attrName>style.visibility</p:attrName>
                                        </p:attrNameLst>
                                      </p:cBhvr>
                                      <p:to>
                                        <p:strVal val="visible"/>
                                      </p:to>
                                    </p:set>
                                    <p:animEffect transition="in" filter="fade">
                                      <p:cBhvr>
                                        <p:cTn id="244" dur="500"/>
                                        <p:tgtEl>
                                          <p:spTgt spid="3114"/>
                                        </p:tgtEl>
                                      </p:cBhvr>
                                    </p:animEffect>
                                  </p:childTnLst>
                                </p:cTn>
                              </p:par>
                            </p:childTnLst>
                          </p:cTn>
                        </p:par>
                      </p:childTnLst>
                    </p:cTn>
                  </p:par>
                  <p:par>
                    <p:cTn id="245" fill="hold">
                      <p:stCondLst>
                        <p:cond delay="indefinite"/>
                      </p:stCondLst>
                      <p:childTnLst>
                        <p:par>
                          <p:cTn id="246" fill="hold">
                            <p:stCondLst>
                              <p:cond delay="0"/>
                            </p:stCondLst>
                            <p:childTnLst>
                              <p:par>
                                <p:cTn id="247" presetID="10" presetClass="entr" presetSubtype="0" fill="hold" grpId="0" nodeType="clickEffect">
                                  <p:stCondLst>
                                    <p:cond delay="0"/>
                                  </p:stCondLst>
                                  <p:childTnLst>
                                    <p:set>
                                      <p:cBhvr>
                                        <p:cTn id="248" dur="1" fill="hold">
                                          <p:stCondLst>
                                            <p:cond delay="0"/>
                                          </p:stCondLst>
                                        </p:cTn>
                                        <p:tgtEl>
                                          <p:spTgt spid="3085"/>
                                        </p:tgtEl>
                                        <p:attrNameLst>
                                          <p:attrName>style.visibility</p:attrName>
                                        </p:attrNameLst>
                                      </p:cBhvr>
                                      <p:to>
                                        <p:strVal val="visible"/>
                                      </p:to>
                                    </p:set>
                                    <p:animEffect transition="in" filter="fade">
                                      <p:cBhvr>
                                        <p:cTn id="249" dur="500"/>
                                        <p:tgtEl>
                                          <p:spTgt spid="3085"/>
                                        </p:tgtEl>
                                      </p:cBhvr>
                                    </p:animEffect>
                                  </p:childTnLst>
                                </p:cTn>
                              </p:par>
                              <p:par>
                                <p:cTn id="250" presetID="10" presetClass="entr" presetSubtype="0" fill="hold" nodeType="withEffect">
                                  <p:stCondLst>
                                    <p:cond delay="0"/>
                                  </p:stCondLst>
                                  <p:childTnLst>
                                    <p:set>
                                      <p:cBhvr>
                                        <p:cTn id="251" dur="1" fill="hold">
                                          <p:stCondLst>
                                            <p:cond delay="0"/>
                                          </p:stCondLst>
                                        </p:cTn>
                                        <p:tgtEl>
                                          <p:spTgt spid="3118"/>
                                        </p:tgtEl>
                                        <p:attrNameLst>
                                          <p:attrName>style.visibility</p:attrName>
                                        </p:attrNameLst>
                                      </p:cBhvr>
                                      <p:to>
                                        <p:strVal val="visible"/>
                                      </p:to>
                                    </p:set>
                                    <p:animEffect transition="in" filter="fade">
                                      <p:cBhvr>
                                        <p:cTn id="252" dur="500"/>
                                        <p:tgtEl>
                                          <p:spTgt spid="3118"/>
                                        </p:tgtEl>
                                      </p:cBhvr>
                                    </p:animEffect>
                                  </p:childTnLst>
                                </p:cTn>
                              </p:par>
                            </p:childTnLst>
                          </p:cTn>
                        </p:par>
                      </p:childTnLst>
                    </p:cTn>
                  </p:par>
                  <p:par>
                    <p:cTn id="253" fill="hold">
                      <p:stCondLst>
                        <p:cond delay="indefinite"/>
                      </p:stCondLst>
                      <p:childTnLst>
                        <p:par>
                          <p:cTn id="254" fill="hold">
                            <p:stCondLst>
                              <p:cond delay="0"/>
                            </p:stCondLst>
                            <p:childTnLst>
                              <p:par>
                                <p:cTn id="255" presetID="10" presetClass="entr" presetSubtype="0" fill="hold" grpId="0" nodeType="clickEffect">
                                  <p:stCondLst>
                                    <p:cond delay="0"/>
                                  </p:stCondLst>
                                  <p:childTnLst>
                                    <p:set>
                                      <p:cBhvr>
                                        <p:cTn id="256" dur="1" fill="hold">
                                          <p:stCondLst>
                                            <p:cond delay="0"/>
                                          </p:stCondLst>
                                        </p:cTn>
                                        <p:tgtEl>
                                          <p:spTgt spid="3086"/>
                                        </p:tgtEl>
                                        <p:attrNameLst>
                                          <p:attrName>style.visibility</p:attrName>
                                        </p:attrNameLst>
                                      </p:cBhvr>
                                      <p:to>
                                        <p:strVal val="visible"/>
                                      </p:to>
                                    </p:set>
                                    <p:animEffect transition="in" filter="fade">
                                      <p:cBhvr>
                                        <p:cTn id="257" dur="500"/>
                                        <p:tgtEl>
                                          <p:spTgt spid="3086"/>
                                        </p:tgtEl>
                                      </p:cBhvr>
                                    </p:animEffect>
                                  </p:childTnLst>
                                </p:cTn>
                              </p:par>
                              <p:par>
                                <p:cTn id="258" presetID="10" presetClass="entr" presetSubtype="0" fill="hold" nodeType="withEffect">
                                  <p:stCondLst>
                                    <p:cond delay="0"/>
                                  </p:stCondLst>
                                  <p:childTnLst>
                                    <p:set>
                                      <p:cBhvr>
                                        <p:cTn id="259" dur="1" fill="hold">
                                          <p:stCondLst>
                                            <p:cond delay="0"/>
                                          </p:stCondLst>
                                        </p:cTn>
                                        <p:tgtEl>
                                          <p:spTgt spid="3119"/>
                                        </p:tgtEl>
                                        <p:attrNameLst>
                                          <p:attrName>style.visibility</p:attrName>
                                        </p:attrNameLst>
                                      </p:cBhvr>
                                      <p:to>
                                        <p:strVal val="visible"/>
                                      </p:to>
                                    </p:set>
                                    <p:animEffect transition="in" filter="fade">
                                      <p:cBhvr>
                                        <p:cTn id="260" dur="500"/>
                                        <p:tgtEl>
                                          <p:spTgt spid="3119"/>
                                        </p:tgtEl>
                                      </p:cBhvr>
                                    </p:animEffect>
                                  </p:childTnLst>
                                </p:cTn>
                              </p:par>
                            </p:childTnLst>
                          </p:cTn>
                        </p:par>
                      </p:childTnLst>
                    </p:cTn>
                  </p:par>
                  <p:par>
                    <p:cTn id="261" fill="hold">
                      <p:stCondLst>
                        <p:cond delay="indefinite"/>
                      </p:stCondLst>
                      <p:childTnLst>
                        <p:par>
                          <p:cTn id="262" fill="hold">
                            <p:stCondLst>
                              <p:cond delay="0"/>
                            </p:stCondLst>
                            <p:childTnLst>
                              <p:par>
                                <p:cTn id="263" presetID="10" presetClass="entr" presetSubtype="0" fill="hold" grpId="0" nodeType="clickEffect">
                                  <p:stCondLst>
                                    <p:cond delay="0"/>
                                  </p:stCondLst>
                                  <p:childTnLst>
                                    <p:set>
                                      <p:cBhvr>
                                        <p:cTn id="264" dur="1" fill="hold">
                                          <p:stCondLst>
                                            <p:cond delay="0"/>
                                          </p:stCondLst>
                                        </p:cTn>
                                        <p:tgtEl>
                                          <p:spTgt spid="3087"/>
                                        </p:tgtEl>
                                        <p:attrNameLst>
                                          <p:attrName>style.visibility</p:attrName>
                                        </p:attrNameLst>
                                      </p:cBhvr>
                                      <p:to>
                                        <p:strVal val="visible"/>
                                      </p:to>
                                    </p:set>
                                    <p:animEffect transition="in" filter="fade">
                                      <p:cBhvr>
                                        <p:cTn id="265" dur="500"/>
                                        <p:tgtEl>
                                          <p:spTgt spid="3087"/>
                                        </p:tgtEl>
                                      </p:cBhvr>
                                    </p:animEffect>
                                  </p:childTnLst>
                                </p:cTn>
                              </p:par>
                              <p:par>
                                <p:cTn id="266" presetID="10" presetClass="entr" presetSubtype="0" fill="hold" nodeType="withEffect">
                                  <p:stCondLst>
                                    <p:cond delay="0"/>
                                  </p:stCondLst>
                                  <p:childTnLst>
                                    <p:set>
                                      <p:cBhvr>
                                        <p:cTn id="267" dur="1" fill="hold">
                                          <p:stCondLst>
                                            <p:cond delay="0"/>
                                          </p:stCondLst>
                                        </p:cTn>
                                        <p:tgtEl>
                                          <p:spTgt spid="3120"/>
                                        </p:tgtEl>
                                        <p:attrNameLst>
                                          <p:attrName>style.visibility</p:attrName>
                                        </p:attrNameLst>
                                      </p:cBhvr>
                                      <p:to>
                                        <p:strVal val="visible"/>
                                      </p:to>
                                    </p:set>
                                    <p:animEffect transition="in" filter="fade">
                                      <p:cBhvr>
                                        <p:cTn id="268" dur="500"/>
                                        <p:tgtEl>
                                          <p:spTgt spid="3120"/>
                                        </p:tgtEl>
                                      </p:cBhvr>
                                    </p:animEffect>
                                  </p:childTnLst>
                                </p:cTn>
                              </p:par>
                            </p:childTnLst>
                          </p:cTn>
                        </p:par>
                      </p:childTnLst>
                    </p:cTn>
                  </p:par>
                  <p:par>
                    <p:cTn id="269" fill="hold">
                      <p:stCondLst>
                        <p:cond delay="indefinite"/>
                      </p:stCondLst>
                      <p:childTnLst>
                        <p:par>
                          <p:cTn id="270" fill="hold">
                            <p:stCondLst>
                              <p:cond delay="0"/>
                            </p:stCondLst>
                            <p:childTnLst>
                              <p:par>
                                <p:cTn id="271" presetID="10" presetClass="entr" presetSubtype="0" fill="hold" grpId="0" nodeType="clickEffect">
                                  <p:stCondLst>
                                    <p:cond delay="0"/>
                                  </p:stCondLst>
                                  <p:childTnLst>
                                    <p:set>
                                      <p:cBhvr>
                                        <p:cTn id="272" dur="1" fill="hold">
                                          <p:stCondLst>
                                            <p:cond delay="0"/>
                                          </p:stCondLst>
                                        </p:cTn>
                                        <p:tgtEl>
                                          <p:spTgt spid="3088"/>
                                        </p:tgtEl>
                                        <p:attrNameLst>
                                          <p:attrName>style.visibility</p:attrName>
                                        </p:attrNameLst>
                                      </p:cBhvr>
                                      <p:to>
                                        <p:strVal val="visible"/>
                                      </p:to>
                                    </p:set>
                                    <p:animEffect transition="in" filter="fade">
                                      <p:cBhvr>
                                        <p:cTn id="273" dur="500"/>
                                        <p:tgtEl>
                                          <p:spTgt spid="3088"/>
                                        </p:tgtEl>
                                      </p:cBhvr>
                                    </p:animEffect>
                                  </p:childTnLst>
                                </p:cTn>
                              </p:par>
                              <p:par>
                                <p:cTn id="274" presetID="10" presetClass="entr" presetSubtype="0" fill="hold" nodeType="withEffect">
                                  <p:stCondLst>
                                    <p:cond delay="0"/>
                                  </p:stCondLst>
                                  <p:childTnLst>
                                    <p:set>
                                      <p:cBhvr>
                                        <p:cTn id="275" dur="1" fill="hold">
                                          <p:stCondLst>
                                            <p:cond delay="0"/>
                                          </p:stCondLst>
                                        </p:cTn>
                                        <p:tgtEl>
                                          <p:spTgt spid="3121"/>
                                        </p:tgtEl>
                                        <p:attrNameLst>
                                          <p:attrName>style.visibility</p:attrName>
                                        </p:attrNameLst>
                                      </p:cBhvr>
                                      <p:to>
                                        <p:strVal val="visible"/>
                                      </p:to>
                                    </p:set>
                                    <p:animEffect transition="in" filter="fade">
                                      <p:cBhvr>
                                        <p:cTn id="276" dur="500"/>
                                        <p:tgtEl>
                                          <p:spTgt spid="3121"/>
                                        </p:tgtEl>
                                      </p:cBhvr>
                                    </p:animEffect>
                                  </p:childTnLst>
                                </p:cTn>
                              </p:par>
                            </p:childTnLst>
                          </p:cTn>
                        </p:par>
                      </p:childTnLst>
                    </p:cTn>
                  </p:par>
                  <p:par>
                    <p:cTn id="277" fill="hold">
                      <p:stCondLst>
                        <p:cond delay="indefinite"/>
                      </p:stCondLst>
                      <p:childTnLst>
                        <p:par>
                          <p:cTn id="278" fill="hold">
                            <p:stCondLst>
                              <p:cond delay="0"/>
                            </p:stCondLst>
                            <p:childTnLst>
                              <p:par>
                                <p:cTn id="279" presetID="10" presetClass="entr" presetSubtype="0" fill="hold" grpId="0" nodeType="clickEffect">
                                  <p:stCondLst>
                                    <p:cond delay="0"/>
                                  </p:stCondLst>
                                  <p:childTnLst>
                                    <p:set>
                                      <p:cBhvr>
                                        <p:cTn id="280" dur="1" fill="hold">
                                          <p:stCondLst>
                                            <p:cond delay="0"/>
                                          </p:stCondLst>
                                        </p:cTn>
                                        <p:tgtEl>
                                          <p:spTgt spid="3089"/>
                                        </p:tgtEl>
                                        <p:attrNameLst>
                                          <p:attrName>style.visibility</p:attrName>
                                        </p:attrNameLst>
                                      </p:cBhvr>
                                      <p:to>
                                        <p:strVal val="visible"/>
                                      </p:to>
                                    </p:set>
                                    <p:animEffect transition="in" filter="fade">
                                      <p:cBhvr>
                                        <p:cTn id="281" dur="500"/>
                                        <p:tgtEl>
                                          <p:spTgt spid="3089"/>
                                        </p:tgtEl>
                                      </p:cBhvr>
                                    </p:animEffect>
                                  </p:childTnLst>
                                </p:cTn>
                              </p:par>
                              <p:par>
                                <p:cTn id="282" presetID="10" presetClass="entr" presetSubtype="0" fill="hold" nodeType="withEffect">
                                  <p:stCondLst>
                                    <p:cond delay="0"/>
                                  </p:stCondLst>
                                  <p:childTnLst>
                                    <p:set>
                                      <p:cBhvr>
                                        <p:cTn id="283" dur="1" fill="hold">
                                          <p:stCondLst>
                                            <p:cond delay="0"/>
                                          </p:stCondLst>
                                        </p:cTn>
                                        <p:tgtEl>
                                          <p:spTgt spid="3122"/>
                                        </p:tgtEl>
                                        <p:attrNameLst>
                                          <p:attrName>style.visibility</p:attrName>
                                        </p:attrNameLst>
                                      </p:cBhvr>
                                      <p:to>
                                        <p:strVal val="visible"/>
                                      </p:to>
                                    </p:set>
                                    <p:animEffect transition="in" filter="fade">
                                      <p:cBhvr>
                                        <p:cTn id="284" dur="500"/>
                                        <p:tgtEl>
                                          <p:spTgt spid="3122"/>
                                        </p:tgtEl>
                                      </p:cBhvr>
                                    </p:animEffect>
                                  </p:childTnLst>
                                </p:cTn>
                              </p:par>
                            </p:childTnLst>
                          </p:cTn>
                        </p:par>
                      </p:childTnLst>
                    </p:cTn>
                  </p:par>
                  <p:par>
                    <p:cTn id="285" fill="hold">
                      <p:stCondLst>
                        <p:cond delay="indefinite"/>
                      </p:stCondLst>
                      <p:childTnLst>
                        <p:par>
                          <p:cTn id="286" fill="hold">
                            <p:stCondLst>
                              <p:cond delay="0"/>
                            </p:stCondLst>
                            <p:childTnLst>
                              <p:par>
                                <p:cTn id="287" presetID="10" presetClass="entr" presetSubtype="0" fill="hold" grpId="0" nodeType="clickEffect">
                                  <p:stCondLst>
                                    <p:cond delay="0"/>
                                  </p:stCondLst>
                                  <p:childTnLst>
                                    <p:set>
                                      <p:cBhvr>
                                        <p:cTn id="288" dur="1" fill="hold">
                                          <p:stCondLst>
                                            <p:cond delay="0"/>
                                          </p:stCondLst>
                                        </p:cTn>
                                        <p:tgtEl>
                                          <p:spTgt spid="3090"/>
                                        </p:tgtEl>
                                        <p:attrNameLst>
                                          <p:attrName>style.visibility</p:attrName>
                                        </p:attrNameLst>
                                      </p:cBhvr>
                                      <p:to>
                                        <p:strVal val="visible"/>
                                      </p:to>
                                    </p:set>
                                    <p:animEffect transition="in" filter="fade">
                                      <p:cBhvr>
                                        <p:cTn id="289" dur="500"/>
                                        <p:tgtEl>
                                          <p:spTgt spid="3090"/>
                                        </p:tgtEl>
                                      </p:cBhvr>
                                    </p:animEffect>
                                  </p:childTnLst>
                                </p:cTn>
                              </p:par>
                              <p:par>
                                <p:cTn id="290" presetID="10" presetClass="entr" presetSubtype="0" fill="hold" nodeType="withEffect">
                                  <p:stCondLst>
                                    <p:cond delay="0"/>
                                  </p:stCondLst>
                                  <p:childTnLst>
                                    <p:set>
                                      <p:cBhvr>
                                        <p:cTn id="291" dur="1" fill="hold">
                                          <p:stCondLst>
                                            <p:cond delay="0"/>
                                          </p:stCondLst>
                                        </p:cTn>
                                        <p:tgtEl>
                                          <p:spTgt spid="3123"/>
                                        </p:tgtEl>
                                        <p:attrNameLst>
                                          <p:attrName>style.visibility</p:attrName>
                                        </p:attrNameLst>
                                      </p:cBhvr>
                                      <p:to>
                                        <p:strVal val="visible"/>
                                      </p:to>
                                    </p:set>
                                    <p:animEffect transition="in" filter="fade">
                                      <p:cBhvr>
                                        <p:cTn id="292" dur="500"/>
                                        <p:tgtEl>
                                          <p:spTgt spid="3123"/>
                                        </p:tgtEl>
                                      </p:cBhvr>
                                    </p:animEffect>
                                  </p:childTnLst>
                                </p:cTn>
                              </p:par>
                            </p:childTnLst>
                          </p:cTn>
                        </p:par>
                      </p:childTnLst>
                    </p:cTn>
                  </p:par>
                  <p:par>
                    <p:cTn id="293" fill="hold">
                      <p:stCondLst>
                        <p:cond delay="indefinite"/>
                      </p:stCondLst>
                      <p:childTnLst>
                        <p:par>
                          <p:cTn id="294" fill="hold">
                            <p:stCondLst>
                              <p:cond delay="0"/>
                            </p:stCondLst>
                            <p:childTnLst>
                              <p:par>
                                <p:cTn id="295" presetID="10" presetClass="entr" presetSubtype="0" fill="hold" grpId="0" nodeType="clickEffect">
                                  <p:stCondLst>
                                    <p:cond delay="0"/>
                                  </p:stCondLst>
                                  <p:childTnLst>
                                    <p:set>
                                      <p:cBhvr>
                                        <p:cTn id="296" dur="1" fill="hold">
                                          <p:stCondLst>
                                            <p:cond delay="0"/>
                                          </p:stCondLst>
                                        </p:cTn>
                                        <p:tgtEl>
                                          <p:spTgt spid="3091"/>
                                        </p:tgtEl>
                                        <p:attrNameLst>
                                          <p:attrName>style.visibility</p:attrName>
                                        </p:attrNameLst>
                                      </p:cBhvr>
                                      <p:to>
                                        <p:strVal val="visible"/>
                                      </p:to>
                                    </p:set>
                                    <p:animEffect transition="in" filter="fade">
                                      <p:cBhvr>
                                        <p:cTn id="297" dur="500"/>
                                        <p:tgtEl>
                                          <p:spTgt spid="3091"/>
                                        </p:tgtEl>
                                      </p:cBhvr>
                                    </p:animEffect>
                                  </p:childTnLst>
                                </p:cTn>
                              </p:par>
                              <p:par>
                                <p:cTn id="298" presetID="10" presetClass="entr" presetSubtype="0" fill="hold" nodeType="withEffect">
                                  <p:stCondLst>
                                    <p:cond delay="0"/>
                                  </p:stCondLst>
                                  <p:childTnLst>
                                    <p:set>
                                      <p:cBhvr>
                                        <p:cTn id="299" dur="1" fill="hold">
                                          <p:stCondLst>
                                            <p:cond delay="0"/>
                                          </p:stCondLst>
                                        </p:cTn>
                                        <p:tgtEl>
                                          <p:spTgt spid="3124"/>
                                        </p:tgtEl>
                                        <p:attrNameLst>
                                          <p:attrName>style.visibility</p:attrName>
                                        </p:attrNameLst>
                                      </p:cBhvr>
                                      <p:to>
                                        <p:strVal val="visible"/>
                                      </p:to>
                                    </p:set>
                                    <p:animEffect transition="in" filter="fade">
                                      <p:cBhvr>
                                        <p:cTn id="300" dur="500"/>
                                        <p:tgtEl>
                                          <p:spTgt spid="3124"/>
                                        </p:tgtEl>
                                      </p:cBhvr>
                                    </p:animEffect>
                                  </p:childTnLst>
                                </p:cTn>
                              </p:par>
                            </p:childTnLst>
                          </p:cTn>
                        </p:par>
                      </p:childTnLst>
                    </p:cTn>
                  </p:par>
                  <p:par>
                    <p:cTn id="301" fill="hold">
                      <p:stCondLst>
                        <p:cond delay="indefinite"/>
                      </p:stCondLst>
                      <p:childTnLst>
                        <p:par>
                          <p:cTn id="302" fill="hold">
                            <p:stCondLst>
                              <p:cond delay="0"/>
                            </p:stCondLst>
                            <p:childTnLst>
                              <p:par>
                                <p:cTn id="303" presetID="10" presetClass="entr" presetSubtype="0" fill="hold" grpId="0" nodeType="clickEffect">
                                  <p:stCondLst>
                                    <p:cond delay="0"/>
                                  </p:stCondLst>
                                  <p:childTnLst>
                                    <p:set>
                                      <p:cBhvr>
                                        <p:cTn id="304" dur="1" fill="hold">
                                          <p:stCondLst>
                                            <p:cond delay="0"/>
                                          </p:stCondLst>
                                        </p:cTn>
                                        <p:tgtEl>
                                          <p:spTgt spid="3092"/>
                                        </p:tgtEl>
                                        <p:attrNameLst>
                                          <p:attrName>style.visibility</p:attrName>
                                        </p:attrNameLst>
                                      </p:cBhvr>
                                      <p:to>
                                        <p:strVal val="visible"/>
                                      </p:to>
                                    </p:set>
                                    <p:animEffect transition="in" filter="fade">
                                      <p:cBhvr>
                                        <p:cTn id="305" dur="500"/>
                                        <p:tgtEl>
                                          <p:spTgt spid="3092"/>
                                        </p:tgtEl>
                                      </p:cBhvr>
                                    </p:animEffect>
                                  </p:childTnLst>
                                </p:cTn>
                              </p:par>
                              <p:par>
                                <p:cTn id="306" presetID="10" presetClass="entr" presetSubtype="0" fill="hold" nodeType="withEffect">
                                  <p:stCondLst>
                                    <p:cond delay="0"/>
                                  </p:stCondLst>
                                  <p:childTnLst>
                                    <p:set>
                                      <p:cBhvr>
                                        <p:cTn id="307" dur="1" fill="hold">
                                          <p:stCondLst>
                                            <p:cond delay="0"/>
                                          </p:stCondLst>
                                        </p:cTn>
                                        <p:tgtEl>
                                          <p:spTgt spid="3125"/>
                                        </p:tgtEl>
                                        <p:attrNameLst>
                                          <p:attrName>style.visibility</p:attrName>
                                        </p:attrNameLst>
                                      </p:cBhvr>
                                      <p:to>
                                        <p:strVal val="visible"/>
                                      </p:to>
                                    </p:set>
                                    <p:animEffect transition="in" filter="fade">
                                      <p:cBhvr>
                                        <p:cTn id="308" dur="500"/>
                                        <p:tgtEl>
                                          <p:spTgt spid="3125"/>
                                        </p:tgtEl>
                                      </p:cBhvr>
                                    </p:animEffect>
                                  </p:childTnLst>
                                </p:cTn>
                              </p:par>
                            </p:childTnLst>
                          </p:cTn>
                        </p:par>
                      </p:childTnLst>
                    </p:cTn>
                  </p:par>
                  <p:par>
                    <p:cTn id="309" fill="hold">
                      <p:stCondLst>
                        <p:cond delay="indefinite"/>
                      </p:stCondLst>
                      <p:childTnLst>
                        <p:par>
                          <p:cTn id="310" fill="hold">
                            <p:stCondLst>
                              <p:cond delay="0"/>
                            </p:stCondLst>
                            <p:childTnLst>
                              <p:par>
                                <p:cTn id="311" presetID="10" presetClass="entr" presetSubtype="0" fill="hold" grpId="0" nodeType="clickEffect">
                                  <p:stCondLst>
                                    <p:cond delay="0"/>
                                  </p:stCondLst>
                                  <p:childTnLst>
                                    <p:set>
                                      <p:cBhvr>
                                        <p:cTn id="312" dur="1" fill="hold">
                                          <p:stCondLst>
                                            <p:cond delay="0"/>
                                          </p:stCondLst>
                                        </p:cTn>
                                        <p:tgtEl>
                                          <p:spTgt spid="3093"/>
                                        </p:tgtEl>
                                        <p:attrNameLst>
                                          <p:attrName>style.visibility</p:attrName>
                                        </p:attrNameLst>
                                      </p:cBhvr>
                                      <p:to>
                                        <p:strVal val="visible"/>
                                      </p:to>
                                    </p:set>
                                    <p:animEffect transition="in" filter="fade">
                                      <p:cBhvr>
                                        <p:cTn id="313" dur="500"/>
                                        <p:tgtEl>
                                          <p:spTgt spid="3093"/>
                                        </p:tgtEl>
                                      </p:cBhvr>
                                    </p:animEffect>
                                  </p:childTnLst>
                                </p:cTn>
                              </p:par>
                              <p:par>
                                <p:cTn id="314" presetID="10" presetClass="entr" presetSubtype="0" fill="hold" nodeType="withEffect">
                                  <p:stCondLst>
                                    <p:cond delay="0"/>
                                  </p:stCondLst>
                                  <p:childTnLst>
                                    <p:set>
                                      <p:cBhvr>
                                        <p:cTn id="315" dur="1" fill="hold">
                                          <p:stCondLst>
                                            <p:cond delay="0"/>
                                          </p:stCondLst>
                                        </p:cTn>
                                        <p:tgtEl>
                                          <p:spTgt spid="3126"/>
                                        </p:tgtEl>
                                        <p:attrNameLst>
                                          <p:attrName>style.visibility</p:attrName>
                                        </p:attrNameLst>
                                      </p:cBhvr>
                                      <p:to>
                                        <p:strVal val="visible"/>
                                      </p:to>
                                    </p:set>
                                    <p:animEffect transition="in" filter="fade">
                                      <p:cBhvr>
                                        <p:cTn id="316" dur="500"/>
                                        <p:tgtEl>
                                          <p:spTgt spid="3126"/>
                                        </p:tgtEl>
                                      </p:cBhvr>
                                    </p:animEffect>
                                  </p:childTnLst>
                                </p:cTn>
                              </p:par>
                            </p:childTnLst>
                          </p:cTn>
                        </p:par>
                      </p:childTnLst>
                    </p:cTn>
                  </p:par>
                  <p:par>
                    <p:cTn id="317" fill="hold">
                      <p:stCondLst>
                        <p:cond delay="indefinite"/>
                      </p:stCondLst>
                      <p:childTnLst>
                        <p:par>
                          <p:cTn id="318" fill="hold">
                            <p:stCondLst>
                              <p:cond delay="0"/>
                            </p:stCondLst>
                            <p:childTnLst>
                              <p:par>
                                <p:cTn id="319" presetID="10" presetClass="entr" presetSubtype="0" fill="hold" grpId="0" nodeType="clickEffect">
                                  <p:stCondLst>
                                    <p:cond delay="0"/>
                                  </p:stCondLst>
                                  <p:childTnLst>
                                    <p:set>
                                      <p:cBhvr>
                                        <p:cTn id="320" dur="1" fill="hold">
                                          <p:stCondLst>
                                            <p:cond delay="0"/>
                                          </p:stCondLst>
                                        </p:cTn>
                                        <p:tgtEl>
                                          <p:spTgt spid="3094"/>
                                        </p:tgtEl>
                                        <p:attrNameLst>
                                          <p:attrName>style.visibility</p:attrName>
                                        </p:attrNameLst>
                                      </p:cBhvr>
                                      <p:to>
                                        <p:strVal val="visible"/>
                                      </p:to>
                                    </p:set>
                                    <p:animEffect transition="in" filter="fade">
                                      <p:cBhvr>
                                        <p:cTn id="321" dur="500"/>
                                        <p:tgtEl>
                                          <p:spTgt spid="3094"/>
                                        </p:tgtEl>
                                      </p:cBhvr>
                                    </p:animEffect>
                                  </p:childTnLst>
                                </p:cTn>
                              </p:par>
                              <p:par>
                                <p:cTn id="322" presetID="10" presetClass="entr" presetSubtype="0" fill="hold" nodeType="withEffect">
                                  <p:stCondLst>
                                    <p:cond delay="0"/>
                                  </p:stCondLst>
                                  <p:childTnLst>
                                    <p:set>
                                      <p:cBhvr>
                                        <p:cTn id="323" dur="1" fill="hold">
                                          <p:stCondLst>
                                            <p:cond delay="0"/>
                                          </p:stCondLst>
                                        </p:cTn>
                                        <p:tgtEl>
                                          <p:spTgt spid="3127"/>
                                        </p:tgtEl>
                                        <p:attrNameLst>
                                          <p:attrName>style.visibility</p:attrName>
                                        </p:attrNameLst>
                                      </p:cBhvr>
                                      <p:to>
                                        <p:strVal val="visible"/>
                                      </p:to>
                                    </p:set>
                                    <p:animEffect transition="in" filter="fade">
                                      <p:cBhvr>
                                        <p:cTn id="324" dur="500"/>
                                        <p:tgtEl>
                                          <p:spTgt spid="3127"/>
                                        </p:tgtEl>
                                      </p:cBhvr>
                                    </p:animEffect>
                                  </p:childTnLst>
                                </p:cTn>
                              </p:par>
                            </p:childTnLst>
                          </p:cTn>
                        </p:par>
                      </p:childTnLst>
                    </p:cTn>
                  </p:par>
                  <p:par>
                    <p:cTn id="325" fill="hold">
                      <p:stCondLst>
                        <p:cond delay="indefinite"/>
                      </p:stCondLst>
                      <p:childTnLst>
                        <p:par>
                          <p:cTn id="326" fill="hold">
                            <p:stCondLst>
                              <p:cond delay="0"/>
                            </p:stCondLst>
                            <p:childTnLst>
                              <p:par>
                                <p:cTn id="327" presetID="10" presetClass="entr" presetSubtype="0" fill="hold" grpId="0" nodeType="clickEffect">
                                  <p:stCondLst>
                                    <p:cond delay="0"/>
                                  </p:stCondLst>
                                  <p:childTnLst>
                                    <p:set>
                                      <p:cBhvr>
                                        <p:cTn id="328" dur="1" fill="hold">
                                          <p:stCondLst>
                                            <p:cond delay="0"/>
                                          </p:stCondLst>
                                        </p:cTn>
                                        <p:tgtEl>
                                          <p:spTgt spid="3095"/>
                                        </p:tgtEl>
                                        <p:attrNameLst>
                                          <p:attrName>style.visibility</p:attrName>
                                        </p:attrNameLst>
                                      </p:cBhvr>
                                      <p:to>
                                        <p:strVal val="visible"/>
                                      </p:to>
                                    </p:set>
                                    <p:animEffect transition="in" filter="fade">
                                      <p:cBhvr>
                                        <p:cTn id="329" dur="500"/>
                                        <p:tgtEl>
                                          <p:spTgt spid="3095"/>
                                        </p:tgtEl>
                                      </p:cBhvr>
                                    </p:animEffect>
                                  </p:childTnLst>
                                </p:cTn>
                              </p:par>
                              <p:par>
                                <p:cTn id="330" presetID="10" presetClass="entr" presetSubtype="0" fill="hold" nodeType="withEffect">
                                  <p:stCondLst>
                                    <p:cond delay="0"/>
                                  </p:stCondLst>
                                  <p:childTnLst>
                                    <p:set>
                                      <p:cBhvr>
                                        <p:cTn id="331" dur="1" fill="hold">
                                          <p:stCondLst>
                                            <p:cond delay="0"/>
                                          </p:stCondLst>
                                        </p:cTn>
                                        <p:tgtEl>
                                          <p:spTgt spid="3128"/>
                                        </p:tgtEl>
                                        <p:attrNameLst>
                                          <p:attrName>style.visibility</p:attrName>
                                        </p:attrNameLst>
                                      </p:cBhvr>
                                      <p:to>
                                        <p:strVal val="visible"/>
                                      </p:to>
                                    </p:set>
                                    <p:animEffect transition="in" filter="fade">
                                      <p:cBhvr>
                                        <p:cTn id="332" dur="500"/>
                                        <p:tgtEl>
                                          <p:spTgt spid="3128"/>
                                        </p:tgtEl>
                                      </p:cBhvr>
                                    </p:animEffect>
                                  </p:childTnLst>
                                </p:cTn>
                              </p:par>
                            </p:childTnLst>
                          </p:cTn>
                        </p:par>
                      </p:childTnLst>
                    </p:cTn>
                  </p:par>
                  <p:par>
                    <p:cTn id="333" fill="hold">
                      <p:stCondLst>
                        <p:cond delay="indefinite"/>
                      </p:stCondLst>
                      <p:childTnLst>
                        <p:par>
                          <p:cTn id="334" fill="hold">
                            <p:stCondLst>
                              <p:cond delay="0"/>
                            </p:stCondLst>
                            <p:childTnLst>
                              <p:par>
                                <p:cTn id="335" presetID="10" presetClass="entr" presetSubtype="0" fill="hold" grpId="0" nodeType="clickEffect">
                                  <p:stCondLst>
                                    <p:cond delay="0"/>
                                  </p:stCondLst>
                                  <p:childTnLst>
                                    <p:set>
                                      <p:cBhvr>
                                        <p:cTn id="336" dur="1" fill="hold">
                                          <p:stCondLst>
                                            <p:cond delay="0"/>
                                          </p:stCondLst>
                                        </p:cTn>
                                        <p:tgtEl>
                                          <p:spTgt spid="3096"/>
                                        </p:tgtEl>
                                        <p:attrNameLst>
                                          <p:attrName>style.visibility</p:attrName>
                                        </p:attrNameLst>
                                      </p:cBhvr>
                                      <p:to>
                                        <p:strVal val="visible"/>
                                      </p:to>
                                    </p:set>
                                    <p:animEffect transition="in" filter="fade">
                                      <p:cBhvr>
                                        <p:cTn id="337" dur="500"/>
                                        <p:tgtEl>
                                          <p:spTgt spid="3096"/>
                                        </p:tgtEl>
                                      </p:cBhvr>
                                    </p:animEffect>
                                  </p:childTnLst>
                                </p:cTn>
                              </p:par>
                              <p:par>
                                <p:cTn id="338" presetID="10" presetClass="entr" presetSubtype="0" fill="hold" nodeType="withEffect">
                                  <p:stCondLst>
                                    <p:cond delay="0"/>
                                  </p:stCondLst>
                                  <p:childTnLst>
                                    <p:set>
                                      <p:cBhvr>
                                        <p:cTn id="339" dur="1" fill="hold">
                                          <p:stCondLst>
                                            <p:cond delay="0"/>
                                          </p:stCondLst>
                                        </p:cTn>
                                        <p:tgtEl>
                                          <p:spTgt spid="3129"/>
                                        </p:tgtEl>
                                        <p:attrNameLst>
                                          <p:attrName>style.visibility</p:attrName>
                                        </p:attrNameLst>
                                      </p:cBhvr>
                                      <p:to>
                                        <p:strVal val="visible"/>
                                      </p:to>
                                    </p:set>
                                    <p:animEffect transition="in" filter="fade">
                                      <p:cBhvr>
                                        <p:cTn id="340" dur="500"/>
                                        <p:tgtEl>
                                          <p:spTgt spid="3129"/>
                                        </p:tgtEl>
                                      </p:cBhvr>
                                    </p:animEffect>
                                  </p:childTnLst>
                                </p:cTn>
                              </p:par>
                            </p:childTnLst>
                          </p:cTn>
                        </p:par>
                      </p:childTnLst>
                    </p:cTn>
                  </p:par>
                  <p:par>
                    <p:cTn id="341" fill="hold">
                      <p:stCondLst>
                        <p:cond delay="indefinite"/>
                      </p:stCondLst>
                      <p:childTnLst>
                        <p:par>
                          <p:cTn id="342" fill="hold">
                            <p:stCondLst>
                              <p:cond delay="0"/>
                            </p:stCondLst>
                            <p:childTnLst>
                              <p:par>
                                <p:cTn id="343" presetID="10" presetClass="entr" presetSubtype="0" fill="hold" grpId="0" nodeType="clickEffect">
                                  <p:stCondLst>
                                    <p:cond delay="0"/>
                                  </p:stCondLst>
                                  <p:childTnLst>
                                    <p:set>
                                      <p:cBhvr>
                                        <p:cTn id="344" dur="1" fill="hold">
                                          <p:stCondLst>
                                            <p:cond delay="0"/>
                                          </p:stCondLst>
                                        </p:cTn>
                                        <p:tgtEl>
                                          <p:spTgt spid="3097"/>
                                        </p:tgtEl>
                                        <p:attrNameLst>
                                          <p:attrName>style.visibility</p:attrName>
                                        </p:attrNameLst>
                                      </p:cBhvr>
                                      <p:to>
                                        <p:strVal val="visible"/>
                                      </p:to>
                                    </p:set>
                                    <p:animEffect transition="in" filter="fade">
                                      <p:cBhvr>
                                        <p:cTn id="345" dur="500"/>
                                        <p:tgtEl>
                                          <p:spTgt spid="3097"/>
                                        </p:tgtEl>
                                      </p:cBhvr>
                                    </p:animEffect>
                                  </p:childTnLst>
                                </p:cTn>
                              </p:par>
                              <p:par>
                                <p:cTn id="346" presetID="10" presetClass="entr" presetSubtype="0" fill="hold" nodeType="withEffect">
                                  <p:stCondLst>
                                    <p:cond delay="0"/>
                                  </p:stCondLst>
                                  <p:childTnLst>
                                    <p:set>
                                      <p:cBhvr>
                                        <p:cTn id="347" dur="1" fill="hold">
                                          <p:stCondLst>
                                            <p:cond delay="0"/>
                                          </p:stCondLst>
                                        </p:cTn>
                                        <p:tgtEl>
                                          <p:spTgt spid="3130"/>
                                        </p:tgtEl>
                                        <p:attrNameLst>
                                          <p:attrName>style.visibility</p:attrName>
                                        </p:attrNameLst>
                                      </p:cBhvr>
                                      <p:to>
                                        <p:strVal val="visible"/>
                                      </p:to>
                                    </p:set>
                                    <p:animEffect transition="in" filter="fade">
                                      <p:cBhvr>
                                        <p:cTn id="348" dur="500"/>
                                        <p:tgtEl>
                                          <p:spTgt spid="3130"/>
                                        </p:tgtEl>
                                      </p:cBhvr>
                                    </p:animEffect>
                                  </p:childTnLst>
                                </p:cTn>
                              </p:par>
                            </p:childTnLst>
                          </p:cTn>
                        </p:par>
                      </p:childTnLst>
                    </p:cTn>
                  </p:par>
                  <p:par>
                    <p:cTn id="349" fill="hold">
                      <p:stCondLst>
                        <p:cond delay="indefinite"/>
                      </p:stCondLst>
                      <p:childTnLst>
                        <p:par>
                          <p:cTn id="350" fill="hold">
                            <p:stCondLst>
                              <p:cond delay="0"/>
                            </p:stCondLst>
                            <p:childTnLst>
                              <p:par>
                                <p:cTn id="351" presetID="10" presetClass="entr" presetSubtype="0" fill="hold" grpId="0" nodeType="clickEffect">
                                  <p:stCondLst>
                                    <p:cond delay="0"/>
                                  </p:stCondLst>
                                  <p:childTnLst>
                                    <p:set>
                                      <p:cBhvr>
                                        <p:cTn id="352" dur="1" fill="hold">
                                          <p:stCondLst>
                                            <p:cond delay="0"/>
                                          </p:stCondLst>
                                        </p:cTn>
                                        <p:tgtEl>
                                          <p:spTgt spid="3131"/>
                                        </p:tgtEl>
                                        <p:attrNameLst>
                                          <p:attrName>style.visibility</p:attrName>
                                        </p:attrNameLst>
                                      </p:cBhvr>
                                      <p:to>
                                        <p:strVal val="visible"/>
                                      </p:to>
                                    </p:set>
                                    <p:animEffect transition="in" filter="fade">
                                      <p:cBhvr>
                                        <p:cTn id="353" dur="500"/>
                                        <p:tgtEl>
                                          <p:spTgt spid="3131"/>
                                        </p:tgtEl>
                                      </p:cBhvr>
                                    </p:animEffect>
                                  </p:childTnLst>
                                </p:cTn>
                              </p:par>
                              <p:par>
                                <p:cTn id="354" presetID="10" presetClass="entr" presetSubtype="0" fill="hold" grpId="0" nodeType="withEffect">
                                  <p:stCondLst>
                                    <p:cond delay="0"/>
                                  </p:stCondLst>
                                  <p:childTnLst>
                                    <p:set>
                                      <p:cBhvr>
                                        <p:cTn id="355" dur="1" fill="hold">
                                          <p:stCondLst>
                                            <p:cond delay="0"/>
                                          </p:stCondLst>
                                        </p:cTn>
                                        <p:tgtEl>
                                          <p:spTgt spid="3132"/>
                                        </p:tgtEl>
                                        <p:attrNameLst>
                                          <p:attrName>style.visibility</p:attrName>
                                        </p:attrNameLst>
                                      </p:cBhvr>
                                      <p:to>
                                        <p:strVal val="visible"/>
                                      </p:to>
                                    </p:set>
                                    <p:animEffect transition="in" filter="fade">
                                      <p:cBhvr>
                                        <p:cTn id="356" dur="500"/>
                                        <p:tgtEl>
                                          <p:spTgt spid="3132"/>
                                        </p:tgtEl>
                                      </p:cBhvr>
                                    </p:animEffect>
                                  </p:childTnLst>
                                </p:cTn>
                              </p:par>
                              <p:par>
                                <p:cTn id="357" presetID="10" presetClass="entr" presetSubtype="0" fill="hold" nodeType="withEffect">
                                  <p:stCondLst>
                                    <p:cond delay="0"/>
                                  </p:stCondLst>
                                  <p:childTnLst>
                                    <p:set>
                                      <p:cBhvr>
                                        <p:cTn id="358" dur="1" fill="hold">
                                          <p:stCondLst>
                                            <p:cond delay="0"/>
                                          </p:stCondLst>
                                        </p:cTn>
                                        <p:tgtEl>
                                          <p:spTgt spid="3151"/>
                                        </p:tgtEl>
                                        <p:attrNameLst>
                                          <p:attrName>style.visibility</p:attrName>
                                        </p:attrNameLst>
                                      </p:cBhvr>
                                      <p:to>
                                        <p:strVal val="visible"/>
                                      </p:to>
                                    </p:set>
                                    <p:animEffect transition="in" filter="fade">
                                      <p:cBhvr>
                                        <p:cTn id="359" dur="500"/>
                                        <p:tgtEl>
                                          <p:spTgt spid="3151"/>
                                        </p:tgtEl>
                                      </p:cBhvr>
                                    </p:animEffect>
                                  </p:childTnLst>
                                </p:cTn>
                              </p:par>
                              <p:par>
                                <p:cTn id="360" presetID="10" presetClass="entr" presetSubtype="0" fill="hold" nodeType="withEffect">
                                  <p:stCondLst>
                                    <p:cond delay="0"/>
                                  </p:stCondLst>
                                  <p:childTnLst>
                                    <p:set>
                                      <p:cBhvr>
                                        <p:cTn id="361" dur="1" fill="hold">
                                          <p:stCondLst>
                                            <p:cond delay="0"/>
                                          </p:stCondLst>
                                        </p:cTn>
                                        <p:tgtEl>
                                          <p:spTgt spid="3152"/>
                                        </p:tgtEl>
                                        <p:attrNameLst>
                                          <p:attrName>style.visibility</p:attrName>
                                        </p:attrNameLst>
                                      </p:cBhvr>
                                      <p:to>
                                        <p:strVal val="visible"/>
                                      </p:to>
                                    </p:set>
                                    <p:animEffect transition="in" filter="fade">
                                      <p:cBhvr>
                                        <p:cTn id="362" dur="500"/>
                                        <p:tgtEl>
                                          <p:spTgt spid="3152"/>
                                        </p:tgtEl>
                                      </p:cBhvr>
                                    </p:animEffect>
                                  </p:childTnLst>
                                </p:cTn>
                              </p:par>
                              <p:par>
                                <p:cTn id="363" presetID="10" presetClass="entr" presetSubtype="0" fill="hold" nodeType="withEffect">
                                  <p:stCondLst>
                                    <p:cond delay="0"/>
                                  </p:stCondLst>
                                  <p:childTnLst>
                                    <p:set>
                                      <p:cBhvr>
                                        <p:cTn id="364" dur="1" fill="hold">
                                          <p:stCondLst>
                                            <p:cond delay="0"/>
                                          </p:stCondLst>
                                        </p:cTn>
                                        <p:tgtEl>
                                          <p:spTgt spid="3153"/>
                                        </p:tgtEl>
                                        <p:attrNameLst>
                                          <p:attrName>style.visibility</p:attrName>
                                        </p:attrNameLst>
                                      </p:cBhvr>
                                      <p:to>
                                        <p:strVal val="visible"/>
                                      </p:to>
                                    </p:set>
                                    <p:animEffect transition="in" filter="fade">
                                      <p:cBhvr>
                                        <p:cTn id="365" dur="500"/>
                                        <p:tgtEl>
                                          <p:spTgt spid="3153"/>
                                        </p:tgtEl>
                                      </p:cBhvr>
                                    </p:animEffect>
                                  </p:childTnLst>
                                </p:cTn>
                              </p:par>
                              <p:par>
                                <p:cTn id="366" presetID="10" presetClass="entr" presetSubtype="0" fill="hold" nodeType="withEffect">
                                  <p:stCondLst>
                                    <p:cond delay="0"/>
                                  </p:stCondLst>
                                  <p:childTnLst>
                                    <p:set>
                                      <p:cBhvr>
                                        <p:cTn id="367" dur="1" fill="hold">
                                          <p:stCondLst>
                                            <p:cond delay="0"/>
                                          </p:stCondLst>
                                        </p:cTn>
                                        <p:tgtEl>
                                          <p:spTgt spid="3154"/>
                                        </p:tgtEl>
                                        <p:attrNameLst>
                                          <p:attrName>style.visibility</p:attrName>
                                        </p:attrNameLst>
                                      </p:cBhvr>
                                      <p:to>
                                        <p:strVal val="visible"/>
                                      </p:to>
                                    </p:set>
                                    <p:animEffect transition="in" filter="fade">
                                      <p:cBhvr>
                                        <p:cTn id="368" dur="500"/>
                                        <p:tgtEl>
                                          <p:spTgt spid="3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2" grpId="0" build="p" animBg="1"/>
      <p:bldP spid="38" grpId="0" build="p" animBg="1"/>
      <p:bldP spid="39" grpId="0" build="p" animBg="1"/>
      <p:bldP spid="40" grpId="0" build="p" animBg="1"/>
      <p:bldP spid="41" grpId="0" build="p" animBg="1"/>
      <p:bldP spid="42" grpId="0" build="p" animBg="1"/>
      <p:bldP spid="45" grpId="0" animBg="1"/>
      <p:bldP spid="47" grpId="0" animBg="1"/>
      <p:bldP spid="48" grpId="0" animBg="1"/>
      <p:bldP spid="49" grpId="0" animBg="1"/>
      <p:bldP spid="50" grpId="0" animBg="1"/>
      <p:bldP spid="58" grpId="0" animBg="1"/>
      <p:bldP spid="60" grpId="0" animBg="1"/>
      <p:bldP spid="61" grpId="0" animBg="1"/>
      <p:bldP spid="62" grpId="0" animBg="1"/>
      <p:bldP spid="63" grpId="0" animBg="1"/>
      <p:bldP spid="3072" grpId="0" animBg="1"/>
      <p:bldP spid="3073" grpId="0" animBg="1"/>
      <p:bldP spid="3075" grpId="0" animBg="1"/>
      <p:bldP spid="3076" grpId="0" animBg="1"/>
      <p:bldP spid="3077" grpId="0" animBg="1"/>
      <p:bldP spid="3078" grpId="0" animBg="1"/>
      <p:bldP spid="3079" grpId="0" animBg="1"/>
      <p:bldP spid="3080" grpId="0" animBg="1"/>
      <p:bldP spid="3081" grpId="0" animBg="1"/>
      <p:bldP spid="3082" grpId="0" animBg="1"/>
      <p:bldP spid="3083" grpId="0" animBg="1"/>
      <p:bldP spid="3084" grpId="0" animBg="1"/>
      <p:bldP spid="3085" grpId="0" animBg="1"/>
      <p:bldP spid="3086" grpId="0" animBg="1"/>
      <p:bldP spid="3087" grpId="0" animBg="1"/>
      <p:bldP spid="3088" grpId="0" animBg="1"/>
      <p:bldP spid="3089" grpId="0" animBg="1"/>
      <p:bldP spid="3090" grpId="0" animBg="1"/>
      <p:bldP spid="3091" grpId="0" animBg="1"/>
      <p:bldP spid="3092" grpId="0" animBg="1"/>
      <p:bldP spid="3093" grpId="0" animBg="1"/>
      <p:bldP spid="3094" grpId="0" animBg="1"/>
      <p:bldP spid="3095" grpId="0" animBg="1"/>
      <p:bldP spid="3096" grpId="0" animBg="1"/>
      <p:bldP spid="3097" grpId="0" animBg="1"/>
      <p:bldP spid="3131" grpId="0" animBg="1"/>
      <p:bldP spid="313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G2 Brand Resources | G2 Culture">
            <a:hlinkClick r:id="rId2"/>
            <a:extLst>
              <a:ext uri="{FF2B5EF4-FFF2-40B4-BE49-F238E27FC236}">
                <a16:creationId xmlns:a16="http://schemas.microsoft.com/office/drawing/2014/main" id="{A3229954-CCBD-CF56-D648-6CD5BFC3C2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7250" y="2000250"/>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659340"/>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7B328F-67DF-1A9C-D4CA-700E8DA2D437}"/>
              </a:ext>
            </a:extLst>
          </p:cNvPr>
          <p:cNvSpPr/>
          <p:nvPr/>
        </p:nvSpPr>
        <p:spPr>
          <a:xfrm>
            <a:off x="0" y="0"/>
            <a:ext cx="62484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Box 2">
            <a:extLst>
              <a:ext uri="{FF2B5EF4-FFF2-40B4-BE49-F238E27FC236}">
                <a16:creationId xmlns:a16="http://schemas.microsoft.com/office/drawing/2014/main" id="{95EC2AD9-B845-FFD6-7829-2846057F7548}"/>
              </a:ext>
            </a:extLst>
          </p:cNvPr>
          <p:cNvSpPr txBox="1"/>
          <p:nvPr/>
        </p:nvSpPr>
        <p:spPr>
          <a:xfrm>
            <a:off x="186928" y="3152001"/>
            <a:ext cx="5722144" cy="553998"/>
          </a:xfrm>
          <a:prstGeom prst="rect">
            <a:avLst/>
          </a:prstGeom>
          <a:noFill/>
        </p:spPr>
        <p:txBody>
          <a:bodyPr wrap="square" lIns="0" tIns="0" rIns="0" bIns="0" rtlCol="0">
            <a:spAutoFit/>
          </a:bodyPr>
          <a:lstStyle/>
          <a:p>
            <a:pPr algn="ctr"/>
            <a:r>
              <a:rPr lang="en-US" sz="3600" b="1" spc="-150" dirty="0">
                <a:latin typeface="D2L Sans Black" panose="00000A00000000000000" pitchFamily="50" charset="0"/>
              </a:rPr>
              <a:t>My Recommendation</a:t>
            </a:r>
            <a:endParaRPr lang="en-CA" sz="3600" b="1" spc="-150" dirty="0">
              <a:latin typeface="D2L Sans Black" panose="00000A00000000000000" pitchFamily="50" charset="0"/>
            </a:endParaRPr>
          </a:p>
        </p:txBody>
      </p:sp>
      <p:pic>
        <p:nvPicPr>
          <p:cNvPr id="4" name="Picture 3" descr="A blue text on a black background&#10;&#10;Description automatically generated">
            <a:extLst>
              <a:ext uri="{FF2B5EF4-FFF2-40B4-BE49-F238E27FC236}">
                <a16:creationId xmlns:a16="http://schemas.microsoft.com/office/drawing/2014/main" id="{0A1239B0-677E-1F92-6A25-7FFDB9DE2191}"/>
              </a:ext>
            </a:extLst>
          </p:cNvPr>
          <p:cNvPicPr>
            <a:picLocks noChangeAspect="1"/>
          </p:cNvPicPr>
          <p:nvPr/>
        </p:nvPicPr>
        <p:blipFill>
          <a:blip r:embed="rId3"/>
          <a:stretch>
            <a:fillRect/>
          </a:stretch>
        </p:blipFill>
        <p:spPr>
          <a:xfrm>
            <a:off x="7212809" y="2980446"/>
            <a:ext cx="4111467" cy="725553"/>
          </a:xfrm>
          <a:prstGeom prst="rect">
            <a:avLst/>
          </a:prstGeom>
        </p:spPr>
      </p:pic>
      <p:cxnSp>
        <p:nvCxnSpPr>
          <p:cNvPr id="6" name="Straight Connector 5">
            <a:extLst>
              <a:ext uri="{FF2B5EF4-FFF2-40B4-BE49-F238E27FC236}">
                <a16:creationId xmlns:a16="http://schemas.microsoft.com/office/drawing/2014/main" id="{3ABE60BC-7A28-509D-0A7E-6A9D58F6E9F2}"/>
              </a:ext>
            </a:extLst>
          </p:cNvPr>
          <p:cNvCxnSpPr>
            <a:cxnSpLocks/>
          </p:cNvCxnSpPr>
          <p:nvPr/>
        </p:nvCxnSpPr>
        <p:spPr>
          <a:xfrm>
            <a:off x="892175" y="3733612"/>
            <a:ext cx="43180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44998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hlinkClick r:id="rId2"/>
            <a:extLst>
              <a:ext uri="{FF2B5EF4-FFF2-40B4-BE49-F238E27FC236}">
                <a16:creationId xmlns:a16="http://schemas.microsoft.com/office/drawing/2014/main" id="{863CB50D-F747-114C-8A93-6AB5C572A9E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1503" y1="54412" x2="41503" y2="54412"/>
                        <a14:foregroundMark x1="39379" y1="19444" x2="39379" y2="19444"/>
                        <a14:foregroundMark x1="69608" y1="27941" x2="69608" y2="27941"/>
                        <a14:foregroundMark x1="25000" y1="26797" x2="25000" y2="26797"/>
                      </a14:backgroundRemoval>
                    </a14:imgEffect>
                    <a14:imgEffect>
                      <a14:brightnessContrast bright="-100000"/>
                    </a14:imgEffect>
                  </a14:imgLayer>
                </a14:imgProps>
              </a:ext>
            </a:extLst>
          </a:blip>
          <a:stretch>
            <a:fillRect/>
          </a:stretch>
        </p:blipFill>
        <p:spPr>
          <a:xfrm>
            <a:off x="2951798" y="2639759"/>
            <a:ext cx="2028824" cy="2028824"/>
          </a:xfrm>
          <a:prstGeom prst="rect">
            <a:avLst/>
          </a:prstGeom>
        </p:spPr>
      </p:pic>
      <p:pic>
        <p:nvPicPr>
          <p:cNvPr id="3" name="Picture 2" descr="A black background with a couple of letters&#10;&#10;Description automatically generated">
            <a:extLst>
              <a:ext uri="{FF2B5EF4-FFF2-40B4-BE49-F238E27FC236}">
                <a16:creationId xmlns:a16="http://schemas.microsoft.com/office/drawing/2014/main" id="{830ACFC8-BB63-FB4F-5121-0E1A779EC030}"/>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contrast="7000"/>
                    </a14:imgEffect>
                  </a14:imgLayer>
                </a14:imgProps>
              </a:ext>
            </a:extLst>
          </a:blip>
          <a:stretch>
            <a:fillRect/>
          </a:stretch>
        </p:blipFill>
        <p:spPr>
          <a:xfrm>
            <a:off x="2551564" y="2194865"/>
            <a:ext cx="2638792" cy="358223"/>
          </a:xfrm>
          <a:prstGeom prst="rect">
            <a:avLst/>
          </a:prstGeom>
        </p:spPr>
      </p:pic>
      <p:pic>
        <p:nvPicPr>
          <p:cNvPr id="4" name="Picture 3">
            <a:hlinkClick r:id="rId7"/>
            <a:extLst>
              <a:ext uri="{FF2B5EF4-FFF2-40B4-BE49-F238E27FC236}">
                <a16:creationId xmlns:a16="http://schemas.microsoft.com/office/drawing/2014/main" id="{B03B1B0F-300E-FA22-2DB6-F2E4B8300E2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1503" y1="54412" x2="41503" y2="54412"/>
                        <a14:foregroundMark x1="39379" y1="19444" x2="39379" y2="19444"/>
                        <a14:foregroundMark x1="69608" y1="27941" x2="69608" y2="27941"/>
                        <a14:foregroundMark x1="25000" y1="26797" x2="25000" y2="26797"/>
                      </a14:backgroundRemoval>
                    </a14:imgEffect>
                    <a14:imgEffect>
                      <a14:brightnessContrast bright="-100000"/>
                    </a14:imgEffect>
                  </a14:imgLayer>
                </a14:imgProps>
              </a:ext>
            </a:extLst>
          </a:blip>
          <a:stretch>
            <a:fillRect/>
          </a:stretch>
        </p:blipFill>
        <p:spPr>
          <a:xfrm>
            <a:off x="7211378" y="2639759"/>
            <a:ext cx="2028824" cy="2028824"/>
          </a:xfrm>
          <a:prstGeom prst="rect">
            <a:avLst/>
          </a:prstGeom>
        </p:spPr>
      </p:pic>
      <p:pic>
        <p:nvPicPr>
          <p:cNvPr id="5" name="Picture 4" descr="A purple letter on a black background&#10;&#10;Description automatically generated">
            <a:extLst>
              <a:ext uri="{FF2B5EF4-FFF2-40B4-BE49-F238E27FC236}">
                <a16:creationId xmlns:a16="http://schemas.microsoft.com/office/drawing/2014/main" id="{7DE706B6-A77F-9BC8-7245-73AC5A1004A5}"/>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6633210" y="2148573"/>
            <a:ext cx="3185160" cy="404515"/>
          </a:xfrm>
          <a:prstGeom prst="rect">
            <a:avLst/>
          </a:prstGeom>
          <a:noFill/>
        </p:spPr>
      </p:pic>
      <p:sp>
        <p:nvSpPr>
          <p:cNvPr id="6" name="Freeform: Shape 5">
            <a:extLst>
              <a:ext uri="{FF2B5EF4-FFF2-40B4-BE49-F238E27FC236}">
                <a16:creationId xmlns:a16="http://schemas.microsoft.com/office/drawing/2014/main" id="{927BA675-86D3-1581-3143-F975E5FB20F3}"/>
              </a:ext>
            </a:extLst>
          </p:cNvPr>
          <p:cNvSpPr/>
          <p:nvPr/>
        </p:nvSpPr>
        <p:spPr>
          <a:xfrm flipV="1">
            <a:off x="10448924" y="2810"/>
            <a:ext cx="1751031" cy="2145763"/>
          </a:xfrm>
          <a:custGeom>
            <a:avLst/>
            <a:gdLst>
              <a:gd name="connsiteX0" fmla="*/ 1048380 w 1048380"/>
              <a:gd name="connsiteY0" fmla="*/ 0 h 1091044"/>
              <a:gd name="connsiteX1" fmla="*/ 1048380 w 1048380"/>
              <a:gd name="connsiteY1" fmla="*/ 1091044 h 1091044"/>
              <a:gd name="connsiteX2" fmla="*/ 0 w 1048380"/>
              <a:gd name="connsiteY2" fmla="*/ 1091044 h 1091044"/>
              <a:gd name="connsiteX3" fmla="*/ 394019 w 1048380"/>
              <a:gd name="connsiteY3" fmla="*/ 584823 h 1091044"/>
              <a:gd name="connsiteX4" fmla="*/ 1006739 w 1048380"/>
              <a:gd name="connsiteY4" fmla="*/ 2104 h 1091044"/>
              <a:gd name="connsiteX5" fmla="*/ 1048380 w 1048380"/>
              <a:gd name="connsiteY5" fmla="*/ 0 h 109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8380" h="1091044">
                <a:moveTo>
                  <a:pt x="1048380" y="0"/>
                </a:moveTo>
                <a:lnTo>
                  <a:pt x="1048380" y="1091044"/>
                </a:lnTo>
                <a:lnTo>
                  <a:pt x="0" y="1091044"/>
                </a:lnTo>
                <a:cubicBezTo>
                  <a:pt x="147075" y="967676"/>
                  <a:pt x="286673" y="803435"/>
                  <a:pt x="394019" y="584823"/>
                </a:cubicBezTo>
                <a:cubicBezTo>
                  <a:pt x="571242" y="223907"/>
                  <a:pt x="788246" y="35246"/>
                  <a:pt x="1006739" y="2104"/>
                </a:cubicBezTo>
                <a:lnTo>
                  <a:pt x="1048380" y="0"/>
                </a:lnTo>
                <a:close/>
              </a:path>
            </a:pathLst>
          </a:custGeom>
          <a:gradFill flip="none" rotWithShape="1">
            <a:gsLst>
              <a:gs pos="0">
                <a:srgbClr val="55DF46">
                  <a:shade val="30000"/>
                  <a:satMod val="115000"/>
                </a:srgbClr>
              </a:gs>
              <a:gs pos="50000">
                <a:srgbClr val="55DF46">
                  <a:shade val="67500"/>
                  <a:satMod val="115000"/>
                </a:srgbClr>
              </a:gs>
              <a:gs pos="100000">
                <a:srgbClr val="55DF46">
                  <a:shade val="100000"/>
                  <a:satMod val="115000"/>
                </a:srgb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D" dirty="0"/>
          </a:p>
        </p:txBody>
      </p:sp>
      <p:sp>
        <p:nvSpPr>
          <p:cNvPr id="7" name="Freeform 67">
            <a:extLst>
              <a:ext uri="{FF2B5EF4-FFF2-40B4-BE49-F238E27FC236}">
                <a16:creationId xmlns:a16="http://schemas.microsoft.com/office/drawing/2014/main" id="{54042005-03DD-3975-567B-73834BC7DE6B}"/>
              </a:ext>
            </a:extLst>
          </p:cNvPr>
          <p:cNvSpPr/>
          <p:nvPr/>
        </p:nvSpPr>
        <p:spPr>
          <a:xfrm rot="5400000">
            <a:off x="-671685" y="3758945"/>
            <a:ext cx="3162645" cy="1819275"/>
          </a:xfrm>
          <a:custGeom>
            <a:avLst/>
            <a:gdLst>
              <a:gd name="connsiteX0" fmla="*/ 316189 w 5155463"/>
              <a:gd name="connsiteY0" fmla="*/ 2854440 h 2855666"/>
              <a:gd name="connsiteX1" fmla="*/ 209043 w 5155463"/>
              <a:gd name="connsiteY1" fmla="*/ 1438038 h 2855666"/>
              <a:gd name="connsiteX2" fmla="*/ 1619924 w 5155463"/>
              <a:gd name="connsiteY2" fmla="*/ 1094519 h 2855666"/>
              <a:gd name="connsiteX3" fmla="*/ 2697918 w 5155463"/>
              <a:gd name="connsiteY3" fmla="*/ 443674 h 2855666"/>
              <a:gd name="connsiteX4" fmla="*/ 4880899 w 5155463"/>
              <a:gd name="connsiteY4" fmla="*/ 1481591 h 2855666"/>
              <a:gd name="connsiteX5" fmla="*/ 5052044 w 5155463"/>
              <a:gd name="connsiteY5" fmla="*/ 2855667 h 2855666"/>
              <a:gd name="connsiteX6" fmla="*/ 316189 w 5155463"/>
              <a:gd name="connsiteY6" fmla="*/ 2854440 h 285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55463" h="2855666">
                <a:moveTo>
                  <a:pt x="316189" y="2854440"/>
                </a:moveTo>
                <a:cubicBezTo>
                  <a:pt x="316189" y="2854440"/>
                  <a:pt x="-317276" y="2174355"/>
                  <a:pt x="209043" y="1438038"/>
                </a:cubicBezTo>
                <a:cubicBezTo>
                  <a:pt x="676065" y="784739"/>
                  <a:pt x="1220379" y="829519"/>
                  <a:pt x="1619924" y="1094519"/>
                </a:cubicBezTo>
                <a:cubicBezTo>
                  <a:pt x="1790048" y="1207390"/>
                  <a:pt x="2280584" y="1108424"/>
                  <a:pt x="2697918" y="443674"/>
                </a:cubicBezTo>
                <a:cubicBezTo>
                  <a:pt x="3267178" y="-462766"/>
                  <a:pt x="5240571" y="87069"/>
                  <a:pt x="4880899" y="1481591"/>
                </a:cubicBezTo>
                <a:cubicBezTo>
                  <a:pt x="4706686" y="2156565"/>
                  <a:pt x="5410899" y="2181102"/>
                  <a:pt x="5052044" y="2855667"/>
                </a:cubicBezTo>
                <a:lnTo>
                  <a:pt x="316189" y="2854440"/>
                </a:lnTo>
                <a:close/>
              </a:path>
            </a:pathLst>
          </a:custGeom>
          <a:gradFill>
            <a:gsLst>
              <a:gs pos="82000">
                <a:srgbClr val="3CC02E"/>
              </a:gs>
              <a:gs pos="0">
                <a:schemeClr val="accent1"/>
              </a:gs>
            </a:gsLst>
            <a:lin ang="5400000" scaled="1"/>
          </a:gradFill>
          <a:ln w="2044" cap="flat">
            <a:noFill/>
            <a:prstDash val="solid"/>
            <a:miter/>
          </a:ln>
        </p:spPr>
        <p:txBody>
          <a:bodyPr rtlCol="0" anchor="ctr"/>
          <a:lstStyle/>
          <a:p>
            <a:endParaRPr lang="en-US" dirty="0"/>
          </a:p>
        </p:txBody>
      </p:sp>
    </p:spTree>
    <p:extLst>
      <p:ext uri="{BB962C8B-B14F-4D97-AF65-F5344CB8AC3E}">
        <p14:creationId xmlns:p14="http://schemas.microsoft.com/office/powerpoint/2010/main" val="3669847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white text with a green stripe&#10;&#10;Description automatically generated">
            <a:extLst>
              <a:ext uri="{FF2B5EF4-FFF2-40B4-BE49-F238E27FC236}">
                <a16:creationId xmlns:a16="http://schemas.microsoft.com/office/drawing/2014/main" id="{19F72A8A-2691-C42F-800D-6E176476FC5A}"/>
              </a:ext>
            </a:extLst>
          </p:cNvPr>
          <p:cNvPicPr>
            <a:picLocks noChangeAspect="1"/>
          </p:cNvPicPr>
          <p:nvPr/>
        </p:nvPicPr>
        <p:blipFill>
          <a:blip r:embed="rId2"/>
          <a:stretch>
            <a:fillRect/>
          </a:stretch>
        </p:blipFill>
        <p:spPr>
          <a:xfrm>
            <a:off x="5643033" y="5790855"/>
            <a:ext cx="905933" cy="458402"/>
          </a:xfrm>
          <a:prstGeom prst="rect">
            <a:avLst/>
          </a:prstGeom>
        </p:spPr>
      </p:pic>
      <p:sp>
        <p:nvSpPr>
          <p:cNvPr id="3" name="TextBox 2">
            <a:extLst>
              <a:ext uri="{FF2B5EF4-FFF2-40B4-BE49-F238E27FC236}">
                <a16:creationId xmlns:a16="http://schemas.microsoft.com/office/drawing/2014/main" id="{C26DD771-76B6-826E-10BF-888FDFBDC297}"/>
              </a:ext>
            </a:extLst>
          </p:cNvPr>
          <p:cNvSpPr txBox="1"/>
          <p:nvPr/>
        </p:nvSpPr>
        <p:spPr>
          <a:xfrm>
            <a:off x="2557461" y="2044005"/>
            <a:ext cx="7077075" cy="2769989"/>
          </a:xfrm>
          <a:prstGeom prst="rect">
            <a:avLst/>
          </a:prstGeom>
          <a:noFill/>
        </p:spPr>
        <p:txBody>
          <a:bodyPr wrap="square" lIns="0" tIns="0" rIns="0" bIns="0" rtlCol="0">
            <a:spAutoFit/>
          </a:bodyPr>
          <a:lstStyle/>
          <a:p>
            <a:pPr algn="ctr"/>
            <a:r>
              <a:rPr lang="en-US" sz="6000" b="1" spc="-150" dirty="0">
                <a:latin typeface="D2L Sans Black" panose="00000A00000000000000" pitchFamily="50" charset="0"/>
              </a:rPr>
              <a:t>Questions? Comments?</a:t>
            </a:r>
          </a:p>
          <a:p>
            <a:pPr algn="ctr"/>
            <a:r>
              <a:rPr lang="en-US" sz="6000" b="1" spc="-150" dirty="0">
                <a:latin typeface="D2L Sans Black" panose="00000A00000000000000" pitchFamily="50" charset="0"/>
              </a:rPr>
              <a:t>Your thoughts?</a:t>
            </a:r>
            <a:endParaRPr lang="en-CA" sz="6000" b="1" spc="-150" dirty="0">
              <a:latin typeface="D2L Sans Black" panose="00000A00000000000000" pitchFamily="50" charset="0"/>
            </a:endParaRPr>
          </a:p>
        </p:txBody>
      </p:sp>
    </p:spTree>
    <p:extLst>
      <p:ext uri="{BB962C8B-B14F-4D97-AF65-F5344CB8AC3E}">
        <p14:creationId xmlns:p14="http://schemas.microsoft.com/office/powerpoint/2010/main" val="2777296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white text with a green stripe&#10;&#10;Description automatically generated">
            <a:extLst>
              <a:ext uri="{FF2B5EF4-FFF2-40B4-BE49-F238E27FC236}">
                <a16:creationId xmlns:a16="http://schemas.microsoft.com/office/drawing/2014/main" id="{19F72A8A-2691-C42F-800D-6E176476FC5A}"/>
              </a:ext>
            </a:extLst>
          </p:cNvPr>
          <p:cNvPicPr>
            <a:picLocks noChangeAspect="1"/>
          </p:cNvPicPr>
          <p:nvPr/>
        </p:nvPicPr>
        <p:blipFill>
          <a:blip r:embed="rId2"/>
          <a:stretch>
            <a:fillRect/>
          </a:stretch>
        </p:blipFill>
        <p:spPr>
          <a:xfrm>
            <a:off x="5643033" y="5790855"/>
            <a:ext cx="905933" cy="458402"/>
          </a:xfrm>
          <a:prstGeom prst="rect">
            <a:avLst/>
          </a:prstGeom>
        </p:spPr>
      </p:pic>
      <p:sp>
        <p:nvSpPr>
          <p:cNvPr id="3" name="TextBox 2">
            <a:extLst>
              <a:ext uri="{FF2B5EF4-FFF2-40B4-BE49-F238E27FC236}">
                <a16:creationId xmlns:a16="http://schemas.microsoft.com/office/drawing/2014/main" id="{C26DD771-76B6-826E-10BF-888FDFBDC297}"/>
              </a:ext>
            </a:extLst>
          </p:cNvPr>
          <p:cNvSpPr txBox="1"/>
          <p:nvPr/>
        </p:nvSpPr>
        <p:spPr>
          <a:xfrm>
            <a:off x="2557461" y="2967335"/>
            <a:ext cx="7077075" cy="923330"/>
          </a:xfrm>
          <a:prstGeom prst="rect">
            <a:avLst/>
          </a:prstGeom>
          <a:noFill/>
        </p:spPr>
        <p:txBody>
          <a:bodyPr wrap="square" lIns="0" tIns="0" rIns="0" bIns="0" rtlCol="0">
            <a:spAutoFit/>
          </a:bodyPr>
          <a:lstStyle/>
          <a:p>
            <a:pPr algn="ctr"/>
            <a:r>
              <a:rPr lang="en-US" sz="6000" b="1" spc="-150" dirty="0">
                <a:latin typeface="D2L Sans Black" panose="00000A00000000000000" pitchFamily="50" charset="0"/>
              </a:rPr>
              <a:t>THANK YOU!</a:t>
            </a:r>
            <a:endParaRPr lang="en-CA" sz="6000" b="1" spc="-150" dirty="0">
              <a:latin typeface="D2L Sans Black" panose="00000A00000000000000" pitchFamily="50" charset="0"/>
            </a:endParaRPr>
          </a:p>
        </p:txBody>
      </p:sp>
      <p:cxnSp>
        <p:nvCxnSpPr>
          <p:cNvPr id="4" name="Straight Connector 3">
            <a:extLst>
              <a:ext uri="{FF2B5EF4-FFF2-40B4-BE49-F238E27FC236}">
                <a16:creationId xmlns:a16="http://schemas.microsoft.com/office/drawing/2014/main" id="{CAF15662-BFF6-170F-F0A6-3F2431FB2ADF}"/>
              </a:ext>
            </a:extLst>
          </p:cNvPr>
          <p:cNvCxnSpPr>
            <a:cxnSpLocks/>
          </p:cNvCxnSpPr>
          <p:nvPr/>
        </p:nvCxnSpPr>
        <p:spPr>
          <a:xfrm>
            <a:off x="3854450" y="3799513"/>
            <a:ext cx="45466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84026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theme/theme1.xml><?xml version="1.0" encoding="utf-8"?>
<a:theme xmlns:a="http://schemas.openxmlformats.org/drawingml/2006/main" name="2_Office Theme">
  <a:themeElements>
    <a:clrScheme name="D2L">
      <a:dk1>
        <a:srgbClr val="000000"/>
      </a:dk1>
      <a:lt1>
        <a:srgbClr val="FFFFFF"/>
      </a:lt1>
      <a:dk2>
        <a:srgbClr val="000000"/>
      </a:dk2>
      <a:lt2>
        <a:srgbClr val="FFFFFF"/>
      </a:lt2>
      <a:accent1>
        <a:srgbClr val="34E82A"/>
      </a:accent1>
      <a:accent2>
        <a:srgbClr val="207E16"/>
      </a:accent2>
      <a:accent3>
        <a:srgbClr val="FFFFFF"/>
      </a:accent3>
      <a:accent4>
        <a:srgbClr val="000000"/>
      </a:accent4>
      <a:accent5>
        <a:srgbClr val="83FF76"/>
      </a:accent5>
      <a:accent6>
        <a:srgbClr val="28AB1E"/>
      </a:accent6>
      <a:hlink>
        <a:srgbClr val="06A6FF"/>
      </a:hlink>
      <a:folHlink>
        <a:srgbClr val="16490C"/>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6000" b="1" spc="-150" dirty="0" smtClean="0">
            <a:latin typeface="Stanley Regular" panose="02050506080406020003" pitchFamily="18" charset="77"/>
          </a:defRPr>
        </a:defPPr>
      </a:lstStyle>
    </a:txDef>
  </a:objectDefaults>
  <a:extraClrSchemeLst/>
  <a:extLst>
    <a:ext uri="{05A4C25C-085E-4340-85A3-A5531E510DB2}">
      <thm15:themeFamily xmlns:thm15="http://schemas.microsoft.com/office/thememl/2012/main" name="D2L" id="{3D00AF29-4D2B-4B42-9355-604B797C8E51}" vid="{F50DA3A6-0932-AD45-8057-C9DF96C3E66A}"/>
    </a:ext>
  </a:extLst>
</a:theme>
</file>

<file path=ppt/theme/theme2.xml><?xml version="1.0" encoding="utf-8"?>
<a:theme xmlns:a="http://schemas.openxmlformats.org/drawingml/2006/main" name="1_Office Theme">
  <a:themeElements>
    <a:clrScheme name="Custom 1">
      <a:dk1>
        <a:srgbClr val="000000"/>
      </a:dk1>
      <a:lt1>
        <a:srgbClr val="FFFFFF"/>
      </a:lt1>
      <a:dk2>
        <a:srgbClr val="000000"/>
      </a:dk2>
      <a:lt2>
        <a:srgbClr val="FFFFFF"/>
      </a:lt2>
      <a:accent1>
        <a:srgbClr val="34E82A"/>
      </a:accent1>
      <a:accent2>
        <a:srgbClr val="207E16"/>
      </a:accent2>
      <a:accent3>
        <a:srgbClr val="FFFFFF"/>
      </a:accent3>
      <a:accent4>
        <a:srgbClr val="000000"/>
      </a:accent4>
      <a:accent5>
        <a:srgbClr val="83FF76"/>
      </a:accent5>
      <a:accent6>
        <a:srgbClr val="28AB1E"/>
      </a:accent6>
      <a:hlink>
        <a:srgbClr val="06A6FF"/>
      </a:hlink>
      <a:folHlink>
        <a:srgbClr val="16490C"/>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6000" b="1" spc="-150" dirty="0" smtClean="0">
            <a:latin typeface="Stanley Regular" panose="02050506080406020003" pitchFamily="18" charset="77"/>
          </a:defRPr>
        </a:defPPr>
      </a:lstStyle>
    </a:txDef>
  </a:objectDefaults>
  <a:extraClrSchemeLst/>
  <a:extLst>
    <a:ext uri="{05A4C25C-085E-4340-85A3-A5531E510DB2}">
      <thm15:themeFamily xmlns:thm15="http://schemas.microsoft.com/office/thememl/2012/main" name="D2L" id="{3D00AF29-4D2B-4B42-9355-604B797C8E51}" vid="{F50DA3A6-0932-AD45-8057-C9DF96C3E66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ocument_x0020_Type xmlns="986f8992-a52c-45ab-b54b-6084c5829f89" xsi:nil="true"/>
    <D2L_x0020_Entity xmlns="986f8992-a52c-45ab-b54b-6084c5829f89" xsi:nil="true"/>
    <Status xmlns="986f8992-a52c-45ab-b54b-6084c5829f89">Final</Status>
    <Register_x0020_Type xmlns="986f8992-a52c-45ab-b54b-6084c5829f89" xsi:nil="true"/>
    <MB_x0020_Volume xmlns="986f8992-a52c-45ab-b54b-6084c5829f89" xsi:nil="true"/>
    <TaxCatchAll xmlns="f72974f1-43ca-47fc-9f6c-b309ca0a868d" xsi:nil="true"/>
    <Status_x0020_of_x0020_Corporation xmlns="986f8992-a52c-45ab-b54b-6084c5829f89" xsi:nil="true"/>
    <lcf76f155ced4ddcb4097134ff3c332f xmlns="986f8992-a52c-45ab-b54b-6084c5829f89">
      <Terms xmlns="http://schemas.microsoft.com/office/infopath/2007/PartnerControls"/>
    </lcf76f155ced4ddcb4097134ff3c332f>
    <Year xmlns="986f8992-a52c-45ab-b54b-6084c5829f89" xsi:nil="true"/>
    <SharedWithUsers xmlns="f72974f1-43ca-47fc-9f6c-b309ca0a868d">
      <UserInfo>
        <DisplayName>Mudit Garg</DisplayName>
        <AccountId>1184</AccountId>
        <AccountType/>
      </UserInfo>
      <UserInfo>
        <DisplayName>Mark Giardino</DisplayName>
        <AccountId>946</AccountId>
        <AccountType/>
      </UserInfo>
      <UserInfo>
        <DisplayName>Justin Mohammed</DisplayName>
        <AccountId>1254</AccountId>
        <AccountType/>
      </UserInfo>
      <UserInfo>
        <DisplayName>Adam Burrell</DisplayName>
        <AccountId>1703</AccountId>
        <AccountType/>
      </UserInfo>
      <UserInfo>
        <DisplayName>Stephen Laster</DisplayName>
        <AccountId>1611</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F679206B83B374DAEC097DAB1B6023E" ma:contentTypeVersion="25" ma:contentTypeDescription="Create a new document." ma:contentTypeScope="" ma:versionID="ece42c73b40b343312a0e00f4b436d83">
  <xsd:schema xmlns:xsd="http://www.w3.org/2001/XMLSchema" xmlns:xs="http://www.w3.org/2001/XMLSchema" xmlns:p="http://schemas.microsoft.com/office/2006/metadata/properties" xmlns:ns2="f72974f1-43ca-47fc-9f6c-b309ca0a868d" xmlns:ns3="986f8992-a52c-45ab-b54b-6084c5829f89" targetNamespace="http://schemas.microsoft.com/office/2006/metadata/properties" ma:root="true" ma:fieldsID="1e228b4d9d4e3cfa35b36752dcfc295c" ns2:_="" ns3:_="">
    <xsd:import namespace="f72974f1-43ca-47fc-9f6c-b309ca0a868d"/>
    <xsd:import namespace="986f8992-a52c-45ab-b54b-6084c5829f89"/>
    <xsd:element name="properties">
      <xsd:complexType>
        <xsd:sequence>
          <xsd:element name="documentManagement">
            <xsd:complexType>
              <xsd:all>
                <xsd:element ref="ns2:SharedWithUsers" minOccurs="0"/>
                <xsd:element ref="ns2:SharedWithDetails" minOccurs="0"/>
                <xsd:element ref="ns3:D2L_x0020_Entity" minOccurs="0"/>
                <xsd:element ref="ns3:Document_x0020_Type" minOccurs="0"/>
                <xsd:element ref="ns3:Register_x0020_Type" minOccurs="0"/>
                <xsd:element ref="ns3:MB_x0020_Volume" minOccurs="0"/>
                <xsd:element ref="ns3:MediaServiceMetadata" minOccurs="0"/>
                <xsd:element ref="ns3:MediaServiceFastMetadata" minOccurs="0"/>
                <xsd:element ref="ns3:Year" minOccurs="0"/>
                <xsd:element ref="ns3:Statu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lcf76f155ced4ddcb4097134ff3c332f" minOccurs="0"/>
                <xsd:element ref="ns2:TaxCatchAll" minOccurs="0"/>
                <xsd:element ref="ns3:MediaServiceLocation" minOccurs="0"/>
                <xsd:element ref="ns3:Status_x0020_of_x0020_Corpor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2974f1-43ca-47fc-9f6c-b309ca0a868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44398e04-884f-4a5c-99ef-3ea2e73c7659" ma:internalName="TaxCatchAll" ma:showField="CatchAllData" ma:web="f72974f1-43ca-47fc-9f6c-b309ca0a868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86f8992-a52c-45ab-b54b-6084c5829f89" elementFormDefault="qualified">
    <xsd:import namespace="http://schemas.microsoft.com/office/2006/documentManagement/types"/>
    <xsd:import namespace="http://schemas.microsoft.com/office/infopath/2007/PartnerControls"/>
    <xsd:element name="D2L_x0020_Entity" ma:index="10" nillable="true" ma:displayName="D2L Entity" ma:internalName="D2L_x0020_Entity">
      <xsd:complexType>
        <xsd:complexContent>
          <xsd:extension base="dms:MultiChoiceFillIn">
            <xsd:sequence>
              <xsd:element name="Value" maxOccurs="unbounded" minOccurs="0" nillable="true">
                <xsd:simpleType>
                  <xsd:union memberTypes="dms:Text">
                    <xsd:simpleType>
                      <xsd:restriction base="dms:Choice">
                        <xsd:enumeration value="2089785 Ontario Inc."/>
                        <xsd:enumeration value="2262112 Ontario Limited"/>
                        <xsd:enumeration value="2339351 Ontario Inc"/>
                        <xsd:enumeration value="2339351, LLC"/>
                        <xsd:enumeration value="2416535 Ontario Inc"/>
                        <xsd:enumeration value="D2L Asia Pte. Ltd"/>
                        <xsd:enumeration value="D2L Australia Pty Ltd"/>
                        <xsd:enumeration value="D2L Brasil"/>
                        <xsd:enumeration value="D2L Commerce Inc"/>
                        <xsd:enumeration value="D2L Corporation"/>
                        <xsd:enumeration value="D2L Europe Ltd"/>
                        <xsd:enumeration value="D2L Holdings Inc"/>
                        <xsd:enumeration value="D2L Inc"/>
                        <xsd:enumeration value="D2L Incorporated"/>
                        <xsd:enumeration value="D2L Ltd"/>
                        <xsd:enumeration value="D2L Technologies Inc."/>
                        <xsd:enumeration value="Desire2Learn, LLC"/>
                        <xsd:enumeration value="Desire2Learn Incorporated"/>
                        <xsd:enumeration value="Desire2Learn Employee Stock Trust"/>
                        <xsd:enumeration value="Knowillage Group of Companies"/>
                        <xsd:enumeration value="Metranome Inc"/>
                      </xsd:restriction>
                    </xsd:simpleType>
                  </xsd:union>
                </xsd:simpleType>
              </xsd:element>
            </xsd:sequence>
          </xsd:extension>
        </xsd:complexContent>
      </xsd:complexType>
    </xsd:element>
    <xsd:element name="Document_x0020_Type" ma:index="11" nillable="true" ma:displayName="Document Type" ma:format="Dropdown" ma:internalName="Document_x0020_Type">
      <xsd:simpleType>
        <xsd:restriction base="dms:Choice">
          <xsd:enumeration value="Minutes/Resolution"/>
          <xsd:enumeration value="Register"/>
          <xsd:enumeration value="Ledger"/>
          <xsd:enumeration value="Articles"/>
          <xsd:enumeration value="Agreements"/>
          <xsd:enumeration value="By-Laws"/>
          <xsd:enumeration value="Forms"/>
          <xsd:enumeration value="Certificate"/>
          <xsd:enumeration value="Policy"/>
          <xsd:enumeration value="Committee"/>
          <xsd:enumeration value="Shares"/>
        </xsd:restriction>
      </xsd:simpleType>
    </xsd:element>
    <xsd:element name="Register_x0020_Type" ma:index="12" nillable="true" ma:displayName="Register Type" ma:format="Dropdown" ma:internalName="Register_x0020_Type">
      <xsd:simpleType>
        <xsd:union memberTypes="dms:Text">
          <xsd:simpleType>
            <xsd:restriction base="dms:Choice">
              <xsd:enumeration value="Director"/>
              <xsd:enumeration value="Officer"/>
              <xsd:enumeration value="Shareholder"/>
              <xsd:enumeration value="Share Transfer"/>
            </xsd:restriction>
          </xsd:simpleType>
        </xsd:union>
      </xsd:simpleType>
    </xsd:element>
    <xsd:element name="MB_x0020_Volume" ma:index="13" nillable="true" ma:displayName="MB Volume" ma:format="Dropdown" ma:internalName="MB_x0020_Volume">
      <xsd:simpleType>
        <xsd:restriction base="dms:Choice">
          <xsd:enumeration value="N/A"/>
          <xsd:enumeration value="1"/>
          <xsd:enumeration value="2"/>
          <xsd:enumeration value="3"/>
          <xsd:enumeration value="4"/>
          <xsd:enumeration value="5"/>
          <xsd:enumeration value="AC1"/>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Year" ma:index="16" nillable="true" ma:displayName="Year" ma:format="Dropdown" ma:internalName="Year">
      <xsd:simpleType>
        <xsd:restriction base="dms:Choice">
          <xsd:enumeration value="2029"/>
          <xsd:enumeration value="2028"/>
          <xsd:enumeration value="2027"/>
          <xsd:enumeration value="2026"/>
          <xsd:enumeration value="2025"/>
          <xsd:enumeration value="2024"/>
          <xsd:enumeration value="2023"/>
          <xsd:enumeration value="2022"/>
          <xsd:enumeration value="2021"/>
          <xsd:enumeration value="2020"/>
          <xsd:enumeration value="2019"/>
          <xsd:enumeration value="2018"/>
          <xsd:enumeration value="2017"/>
          <xsd:enumeration value="2016"/>
          <xsd:enumeration value="2015"/>
          <xsd:enumeration value="2014"/>
          <xsd:enumeration value="2013"/>
          <xsd:enumeration value="2012"/>
          <xsd:enumeration value="2011"/>
          <xsd:enumeration value="2010"/>
          <xsd:enumeration value="2009"/>
          <xsd:enumeration value="2008"/>
          <xsd:enumeration value="2007"/>
          <xsd:enumeration value="2006"/>
          <xsd:enumeration value="2005"/>
          <xsd:enumeration value="2004"/>
          <xsd:enumeration value="2003"/>
          <xsd:enumeration value="2002"/>
          <xsd:enumeration value="2001"/>
          <xsd:enumeration value="2000"/>
          <xsd:enumeration value="1999"/>
        </xsd:restriction>
      </xsd:simpleType>
    </xsd:element>
    <xsd:element name="Status" ma:index="17" nillable="true" ma:displayName="Status" ma:default="Final" ma:format="Dropdown" ma:internalName="Status">
      <xsd:simpleType>
        <xsd:restriction base="dms:Choice">
          <xsd:enumeration value="Final"/>
          <xsd:enumeration value="Draft"/>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AutoTags" ma:index="20" nillable="true" ma:displayName="Tags" ma:internalName="MediaServiceAutoTags"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DateTaken" ma:index="24" nillable="true" ma:displayName="MediaServiceDateTaken" ma:hidden="true" ma:internalName="MediaServiceDateTaken" ma:readOnly="true">
      <xsd:simpleType>
        <xsd:restriction base="dms:Text"/>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2e6cf2c-9348-4005-8827-5bd0efd04758" ma:termSetId="09814cd3-568e-fe90-9814-8d621ff8fb84" ma:anchorId="fba54fb3-c3e1-fe81-a776-ca4b69148c4d" ma:open="true" ma:isKeyword="false">
      <xsd:complexType>
        <xsd:sequence>
          <xsd:element ref="pc:Terms" minOccurs="0" maxOccurs="1"/>
        </xsd:sequence>
      </xsd:complexType>
    </xsd:element>
    <xsd:element name="MediaServiceLocation" ma:index="28" nillable="true" ma:displayName="Location" ma:internalName="MediaServiceLocation" ma:readOnly="true">
      <xsd:simpleType>
        <xsd:restriction base="dms:Text"/>
      </xsd:simpleType>
    </xsd:element>
    <xsd:element name="Status_x0020_of_x0020_Corporation" ma:index="29" nillable="true" ma:displayName="Status of Corporation" ma:format="Dropdown" ma:internalName="Status_x0020_of_x0020_Corporation">
      <xsd:simpleType>
        <xsd:restriction base="dms:Note">
          <xsd:maxLength value="255"/>
        </xsd:restriction>
      </xsd:simpleType>
    </xsd:element>
    <xsd:element name="MediaServiceSearchProperties" ma:index="3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BA59496-CF60-437B-A1BC-FFD679A0A82D}">
  <ds:schemaRefs>
    <ds:schemaRef ds:uri="http://schemas.microsoft.com/sharepoint/v3/contenttype/forms"/>
  </ds:schemaRefs>
</ds:datastoreItem>
</file>

<file path=customXml/itemProps2.xml><?xml version="1.0" encoding="utf-8"?>
<ds:datastoreItem xmlns:ds="http://schemas.openxmlformats.org/officeDocument/2006/customXml" ds:itemID="{465C2301-DFAB-4DD7-BA1A-CB080F351826}">
  <ds:schemaRefs>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http://www.w3.org/XML/1998/namespace"/>
    <ds:schemaRef ds:uri="f72974f1-43ca-47fc-9f6c-b309ca0a868d"/>
    <ds:schemaRef ds:uri="http://purl.org/dc/elements/1.1/"/>
    <ds:schemaRef ds:uri="http://purl.org/dc/terms/"/>
    <ds:schemaRef ds:uri="http://schemas.microsoft.com/office/2006/metadata/properties"/>
    <ds:schemaRef ds:uri="986f8992-a52c-45ab-b54b-6084c5829f89"/>
  </ds:schemaRefs>
</ds:datastoreItem>
</file>

<file path=customXml/itemProps3.xml><?xml version="1.0" encoding="utf-8"?>
<ds:datastoreItem xmlns:ds="http://schemas.openxmlformats.org/officeDocument/2006/customXml" ds:itemID="{643AC2CA-9BE2-448D-ADD3-CAD63B7433DD}">
  <ds:schemaRefs>
    <ds:schemaRef ds:uri="986f8992-a52c-45ab-b54b-6084c5829f89"/>
    <ds:schemaRef ds:uri="f72974f1-43ca-47fc-9f6c-b309ca0a86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11670</TotalTime>
  <Words>2281</Words>
  <Application>Microsoft Office PowerPoint</Application>
  <PresentationFormat>Widescreen</PresentationFormat>
  <Paragraphs>380</Paragraphs>
  <Slides>29</Slides>
  <Notes>21</Notes>
  <HiddenSlides>0</HiddenSlides>
  <MMClips>0</MMClips>
  <ScaleCrop>false</ScaleCrop>
  <HeadingPairs>
    <vt:vector size="6" baseType="variant">
      <vt:variant>
        <vt:lpstr>Fonts Used</vt:lpstr>
      </vt:variant>
      <vt:variant>
        <vt:i4>18</vt:i4>
      </vt:variant>
      <vt:variant>
        <vt:lpstr>Theme</vt:lpstr>
      </vt:variant>
      <vt:variant>
        <vt:i4>2</vt:i4>
      </vt:variant>
      <vt:variant>
        <vt:lpstr>Slide Titles</vt:lpstr>
      </vt:variant>
      <vt:variant>
        <vt:i4>29</vt:i4>
      </vt:variant>
    </vt:vector>
  </HeadingPairs>
  <TitlesOfParts>
    <vt:vector size="49" baseType="lpstr">
      <vt:lpstr>Aptos</vt:lpstr>
      <vt:lpstr>Arial</vt:lpstr>
      <vt:lpstr>avertaregular</vt:lpstr>
      <vt:lpstr>Calibri</vt:lpstr>
      <vt:lpstr>D2L Sans</vt:lpstr>
      <vt:lpstr>D2L Sans Black</vt:lpstr>
      <vt:lpstr>D2L Sans Light</vt:lpstr>
      <vt:lpstr>D2L Sans Medium</vt:lpstr>
      <vt:lpstr>DM Sans</vt:lpstr>
      <vt:lpstr>Hind</vt:lpstr>
      <vt:lpstr>Just sans</vt:lpstr>
      <vt:lpstr>Just sans exbold</vt:lpstr>
      <vt:lpstr>Lexend</vt:lpstr>
      <vt:lpstr>Lexend Light</vt:lpstr>
      <vt:lpstr>Satoshi</vt:lpstr>
      <vt:lpstr>Stanley Regular</vt:lpstr>
      <vt:lpstr>Times</vt:lpstr>
      <vt:lpstr>Wingdings</vt:lpstr>
      <vt:lpstr>2_Office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Mirissa Kampf</dc:creator>
  <cp:lastModifiedBy>Akshath Dayan Suresh</cp:lastModifiedBy>
  <cp:revision>3</cp:revision>
  <dcterms:created xsi:type="dcterms:W3CDTF">2022-12-13T00:05:58Z</dcterms:created>
  <dcterms:modified xsi:type="dcterms:W3CDTF">2023-11-06T18:06:25Z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bf23dec-417a-4f4e-854c-c4792a92f800_Enabled">
    <vt:lpwstr>true</vt:lpwstr>
  </property>
  <property fmtid="{D5CDD505-2E9C-101B-9397-08002B2CF9AE}" pid="3" name="MSIP_Label_2bf23dec-417a-4f4e-854c-c4792a92f800_SetDate">
    <vt:lpwstr>2022-12-14T01:12:35Z</vt:lpwstr>
  </property>
  <property fmtid="{D5CDD505-2E9C-101B-9397-08002B2CF9AE}" pid="4" name="MSIP_Label_2bf23dec-417a-4f4e-854c-c4792a92f800_Method">
    <vt:lpwstr>Standard</vt:lpwstr>
  </property>
  <property fmtid="{D5CDD505-2E9C-101B-9397-08002B2CF9AE}" pid="5" name="MSIP_Label_2bf23dec-417a-4f4e-854c-c4792a92f800_Name">
    <vt:lpwstr>Confidential</vt:lpwstr>
  </property>
  <property fmtid="{D5CDD505-2E9C-101B-9397-08002B2CF9AE}" pid="6" name="MSIP_Label_2bf23dec-417a-4f4e-854c-c4792a92f800_SiteId">
    <vt:lpwstr>74bbca6d-410b-45b3-9b51-2a6aa6477079</vt:lpwstr>
  </property>
  <property fmtid="{D5CDD505-2E9C-101B-9397-08002B2CF9AE}" pid="7" name="MSIP_Label_2bf23dec-417a-4f4e-854c-c4792a92f800_ActionId">
    <vt:lpwstr>7f3fb445-ba28-492d-89eb-bc85bd1e596e</vt:lpwstr>
  </property>
  <property fmtid="{D5CDD505-2E9C-101B-9397-08002B2CF9AE}" pid="8" name="MSIP_Label_2bf23dec-417a-4f4e-854c-c4792a92f800_ContentBits">
    <vt:lpwstr>0</vt:lpwstr>
  </property>
  <property fmtid="{D5CDD505-2E9C-101B-9397-08002B2CF9AE}" pid="9" name="ContentTypeId">
    <vt:lpwstr>0x010100FF679206B83B374DAEC097DAB1B6023E</vt:lpwstr>
  </property>
  <property fmtid="{D5CDD505-2E9C-101B-9397-08002B2CF9AE}" pid="10" name="MediaServiceImageTags">
    <vt:lpwstr/>
  </property>
</Properties>
</file>